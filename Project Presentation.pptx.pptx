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Arial Bold" charset="1" panose="020B0704020202020204"/>
      <p:regular r:id="rId41"/>
    </p:embeddedFont>
    <p:embeddedFont>
      <p:font typeface="Arial" charset="1" panose="020B0604020202020204"/>
      <p:regular r:id="rId42"/>
    </p:embeddedFont>
    <p:embeddedFont>
      <p:font typeface="Calibri (MS) Bold" charset="1" panose="020F0702030404030204"/>
      <p:regular r:id="rId43"/>
    </p:embeddedFont>
    <p:embeddedFont>
      <p:font typeface="Calibri (MS)" charset="1" panose="020F0502020204030204"/>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497D"/>
        </a:solidFill>
      </p:bgPr>
    </p:bg>
    <p:spTree>
      <p:nvGrpSpPr>
        <p:cNvPr id="1" name=""/>
        <p:cNvGrpSpPr/>
        <p:nvPr/>
      </p:nvGrpSpPr>
      <p:grpSpPr>
        <a:xfrm>
          <a:off x="0" y="0"/>
          <a:ext cx="0" cy="0"/>
          <a:chOff x="0" y="0"/>
          <a:chExt cx="0" cy="0"/>
        </a:xfrm>
      </p:grpSpPr>
      <p:grpSp>
        <p:nvGrpSpPr>
          <p:cNvPr name="Group 2" id="2"/>
          <p:cNvGrpSpPr/>
          <p:nvPr/>
        </p:nvGrpSpPr>
        <p:grpSpPr>
          <a:xfrm rot="0">
            <a:off x="14907829" y="278818"/>
            <a:ext cx="2838507" cy="2597081"/>
            <a:chOff x="0" y="0"/>
            <a:chExt cx="5267620" cy="4819588"/>
          </a:xfrm>
        </p:grpSpPr>
        <p:sp>
          <p:nvSpPr>
            <p:cNvPr name="Freeform 3" id="3"/>
            <p:cNvSpPr/>
            <p:nvPr/>
          </p:nvSpPr>
          <p:spPr>
            <a:xfrm flipH="false" flipV="false" rot="0">
              <a:off x="0" y="0"/>
              <a:ext cx="5267620" cy="4819588"/>
            </a:xfrm>
            <a:custGeom>
              <a:avLst/>
              <a:gdLst/>
              <a:ahLst/>
              <a:cxnLst/>
              <a:rect r="r" b="b" t="t" l="l"/>
              <a:pathLst>
                <a:path h="4819588" w="5267620">
                  <a:moveTo>
                    <a:pt x="0" y="0"/>
                  </a:moveTo>
                  <a:lnTo>
                    <a:pt x="5267620" y="0"/>
                  </a:lnTo>
                  <a:lnTo>
                    <a:pt x="5267620" y="4819588"/>
                  </a:lnTo>
                  <a:lnTo>
                    <a:pt x="0" y="4819588"/>
                  </a:lnTo>
                  <a:lnTo>
                    <a:pt x="0" y="0"/>
                  </a:lnTo>
                  <a:close/>
                </a:path>
              </a:pathLst>
            </a:custGeom>
            <a:blipFill>
              <a:blip r:embed="rId2"/>
              <a:stretch>
                <a:fillRect l="0" t="-240" r="0" b="-240"/>
              </a:stretch>
            </a:blipFill>
          </p:spPr>
        </p:sp>
      </p:grpSp>
      <p:sp>
        <p:nvSpPr>
          <p:cNvPr name="TextBox 4" id="4"/>
          <p:cNvSpPr txBox="true"/>
          <p:nvPr/>
        </p:nvSpPr>
        <p:spPr>
          <a:xfrm rot="0">
            <a:off x="1183677" y="3781669"/>
            <a:ext cx="15545634" cy="847700"/>
          </a:xfrm>
          <a:prstGeom prst="rect">
            <a:avLst/>
          </a:prstGeom>
        </p:spPr>
        <p:txBody>
          <a:bodyPr anchor="t" rtlCol="false" tIns="0" lIns="0" bIns="0" rIns="0">
            <a:spAutoFit/>
          </a:bodyPr>
          <a:lstStyle/>
          <a:p>
            <a:pPr algn="l">
              <a:lnSpc>
                <a:spcPts val="6478"/>
              </a:lnSpc>
            </a:pPr>
            <a:r>
              <a:rPr lang="en-US" sz="5398" b="true">
                <a:solidFill>
                  <a:srgbClr val="FFFFFF"/>
                </a:solidFill>
                <a:latin typeface="Arial Bold"/>
                <a:ea typeface="Arial Bold"/>
                <a:cs typeface="Arial Bold"/>
                <a:sym typeface="Arial Bold"/>
              </a:rPr>
              <a:t> Real-Time City Data Pipeline &amp; Alerting System</a:t>
            </a:r>
          </a:p>
        </p:txBody>
      </p:sp>
      <p:sp>
        <p:nvSpPr>
          <p:cNvPr name="TextBox 5" id="5"/>
          <p:cNvSpPr txBox="true"/>
          <p:nvPr/>
        </p:nvSpPr>
        <p:spPr>
          <a:xfrm rot="0">
            <a:off x="1558689" y="4783583"/>
            <a:ext cx="14768394" cy="485775"/>
          </a:xfrm>
          <a:prstGeom prst="rect">
            <a:avLst/>
          </a:prstGeom>
        </p:spPr>
        <p:txBody>
          <a:bodyPr anchor="t" rtlCol="false" tIns="0" lIns="0" bIns="0" rIns="0">
            <a:spAutoFit/>
          </a:bodyPr>
          <a:lstStyle/>
          <a:p>
            <a:pPr algn="l">
              <a:lnSpc>
                <a:spcPts val="3720"/>
              </a:lnSpc>
            </a:pPr>
            <a:r>
              <a:rPr lang="en-US" sz="3099">
                <a:solidFill>
                  <a:srgbClr val="FFFFFF"/>
                </a:solidFill>
                <a:latin typeface="Arial"/>
                <a:ea typeface="Arial"/>
                <a:cs typeface="Arial"/>
                <a:sym typeface="Arial"/>
              </a:rPr>
              <a:t>Full Monitoring and Analytics System for Urban Traffic and Environmental Conditions</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62" y="-4762"/>
            <a:ext cx="18297525" cy="3115342"/>
            <a:chOff x="0" y="0"/>
            <a:chExt cx="24396700" cy="4153789"/>
          </a:xfrm>
        </p:grpSpPr>
        <p:sp>
          <p:nvSpPr>
            <p:cNvPr name="Freeform 3" id="3"/>
            <p:cNvSpPr/>
            <p:nvPr/>
          </p:nvSpPr>
          <p:spPr>
            <a:xfrm flipH="false" flipV="false" rot="0">
              <a:off x="8509" y="8509"/>
              <a:ext cx="24384001" cy="4141089"/>
            </a:xfrm>
            <a:custGeom>
              <a:avLst/>
              <a:gdLst/>
              <a:ahLst/>
              <a:cxnLst/>
              <a:rect r="r" b="b" t="t" l="l"/>
              <a:pathLst>
                <a:path h="4141089" w="24384001">
                  <a:moveTo>
                    <a:pt x="0" y="0"/>
                  </a:moveTo>
                  <a:lnTo>
                    <a:pt x="24384001" y="0"/>
                  </a:lnTo>
                  <a:lnTo>
                    <a:pt x="24384001" y="4141089"/>
                  </a:lnTo>
                  <a:lnTo>
                    <a:pt x="0" y="4141089"/>
                  </a:lnTo>
                  <a:close/>
                </a:path>
              </a:pathLst>
            </a:custGeom>
            <a:solidFill>
              <a:srgbClr val="1F497D"/>
            </a:solidFill>
            <a:ln w="12700">
              <a:solidFill>
                <a:srgbClr val="000000"/>
              </a:solidFill>
            </a:ln>
          </p:spPr>
        </p:sp>
        <p:sp>
          <p:nvSpPr>
            <p:cNvPr name="Freeform 4" id="4"/>
            <p:cNvSpPr/>
            <p:nvPr/>
          </p:nvSpPr>
          <p:spPr>
            <a:xfrm flipH="false" flipV="false" rot="0">
              <a:off x="0" y="0"/>
              <a:ext cx="24401018" cy="4158107"/>
            </a:xfrm>
            <a:custGeom>
              <a:avLst/>
              <a:gdLst/>
              <a:ahLst/>
              <a:cxnLst/>
              <a:rect r="r" b="b" t="t" l="l"/>
              <a:pathLst>
                <a:path h="4158107" w="24401018">
                  <a:moveTo>
                    <a:pt x="8509" y="0"/>
                  </a:moveTo>
                  <a:lnTo>
                    <a:pt x="24392510" y="0"/>
                  </a:lnTo>
                  <a:cubicBezTo>
                    <a:pt x="24397208" y="0"/>
                    <a:pt x="24401018" y="3810"/>
                    <a:pt x="24401018" y="8509"/>
                  </a:cubicBezTo>
                  <a:lnTo>
                    <a:pt x="24401018" y="4149598"/>
                  </a:lnTo>
                  <a:cubicBezTo>
                    <a:pt x="24401018" y="4154297"/>
                    <a:pt x="24397208" y="4158107"/>
                    <a:pt x="24392510" y="4158107"/>
                  </a:cubicBezTo>
                  <a:lnTo>
                    <a:pt x="8509" y="4158107"/>
                  </a:lnTo>
                  <a:cubicBezTo>
                    <a:pt x="3810" y="4158107"/>
                    <a:pt x="0" y="4154297"/>
                    <a:pt x="0" y="4149598"/>
                  </a:cubicBezTo>
                  <a:lnTo>
                    <a:pt x="0" y="8509"/>
                  </a:lnTo>
                  <a:cubicBezTo>
                    <a:pt x="0" y="3810"/>
                    <a:pt x="3810" y="0"/>
                    <a:pt x="8509" y="0"/>
                  </a:cubicBezTo>
                  <a:moveTo>
                    <a:pt x="8509" y="16891"/>
                  </a:moveTo>
                  <a:lnTo>
                    <a:pt x="8509" y="8509"/>
                  </a:lnTo>
                  <a:lnTo>
                    <a:pt x="17018" y="8509"/>
                  </a:lnTo>
                  <a:lnTo>
                    <a:pt x="17018" y="4149598"/>
                  </a:lnTo>
                  <a:lnTo>
                    <a:pt x="8509" y="4149598"/>
                  </a:lnTo>
                  <a:lnTo>
                    <a:pt x="8509" y="4141089"/>
                  </a:lnTo>
                  <a:lnTo>
                    <a:pt x="24392510" y="4141089"/>
                  </a:lnTo>
                  <a:lnTo>
                    <a:pt x="24392510" y="4149598"/>
                  </a:lnTo>
                  <a:lnTo>
                    <a:pt x="24384000" y="4149598"/>
                  </a:lnTo>
                  <a:lnTo>
                    <a:pt x="24384000" y="8509"/>
                  </a:lnTo>
                  <a:lnTo>
                    <a:pt x="24392510" y="8509"/>
                  </a:lnTo>
                  <a:lnTo>
                    <a:pt x="24392510" y="17018"/>
                  </a:lnTo>
                  <a:lnTo>
                    <a:pt x="8509" y="17018"/>
                  </a:lnTo>
                  <a:close/>
                </a:path>
              </a:pathLst>
            </a:custGeom>
            <a:solidFill>
              <a:srgbClr val="000000"/>
            </a:solidFill>
            <a:ln w="12700">
              <a:solidFill>
                <a:srgbClr val="000000"/>
              </a:solidFill>
            </a:ln>
          </p:spPr>
        </p:sp>
      </p:grpSp>
      <p:sp>
        <p:nvSpPr>
          <p:cNvPr name="TextBox 5" id="5"/>
          <p:cNvSpPr txBox="true"/>
          <p:nvPr/>
        </p:nvSpPr>
        <p:spPr>
          <a:xfrm rot="0">
            <a:off x="2555082" y="1183892"/>
            <a:ext cx="7433550" cy="978991"/>
          </a:xfrm>
          <a:prstGeom prst="rect">
            <a:avLst/>
          </a:prstGeom>
        </p:spPr>
        <p:txBody>
          <a:bodyPr anchor="t" rtlCol="false" tIns="0" lIns="0" bIns="0" rIns="0">
            <a:spAutoFit/>
          </a:bodyPr>
          <a:lstStyle/>
          <a:p>
            <a:pPr algn="l">
              <a:lnSpc>
                <a:spcPts val="5999"/>
              </a:lnSpc>
            </a:pPr>
            <a:r>
              <a:rPr lang="en-US" sz="4999" b="true">
                <a:solidFill>
                  <a:srgbClr val="FFFFFF"/>
                </a:solidFill>
                <a:latin typeface="Calibri (MS) Bold"/>
                <a:ea typeface="Calibri (MS) Bold"/>
                <a:cs typeface="Calibri (MS) Bold"/>
                <a:sym typeface="Calibri (MS) Bold"/>
              </a:rPr>
              <a:t>Agenda</a:t>
            </a:r>
          </a:p>
        </p:txBody>
      </p:sp>
      <p:grpSp>
        <p:nvGrpSpPr>
          <p:cNvPr name="Group 6" id="6"/>
          <p:cNvGrpSpPr/>
          <p:nvPr/>
        </p:nvGrpSpPr>
        <p:grpSpPr>
          <a:xfrm rot="0">
            <a:off x="3113147" y="3708228"/>
            <a:ext cx="8279100" cy="429785"/>
            <a:chOff x="0" y="0"/>
            <a:chExt cx="11038800" cy="573047"/>
          </a:xfrm>
        </p:grpSpPr>
        <p:sp>
          <p:nvSpPr>
            <p:cNvPr name="Freeform 7" id="7"/>
            <p:cNvSpPr/>
            <p:nvPr/>
          </p:nvSpPr>
          <p:spPr>
            <a:xfrm flipH="false" flipV="false" rot="0">
              <a:off x="0" y="0"/>
              <a:ext cx="11038800" cy="573047"/>
            </a:xfrm>
            <a:custGeom>
              <a:avLst/>
              <a:gdLst/>
              <a:ahLst/>
              <a:cxnLst/>
              <a:rect r="r" b="b" t="t" l="l"/>
              <a:pathLst>
                <a:path h="573047" w="11038800">
                  <a:moveTo>
                    <a:pt x="0" y="0"/>
                  </a:moveTo>
                  <a:lnTo>
                    <a:pt x="11038800" y="0"/>
                  </a:lnTo>
                  <a:lnTo>
                    <a:pt x="11038800" y="573047"/>
                  </a:lnTo>
                  <a:lnTo>
                    <a:pt x="0" y="573047"/>
                  </a:lnTo>
                  <a:close/>
                </a:path>
              </a:pathLst>
            </a:custGeom>
            <a:solidFill>
              <a:srgbClr val="000000">
                <a:alpha val="0"/>
              </a:srgbClr>
            </a:solidFill>
          </p:spPr>
        </p:sp>
        <p:sp>
          <p:nvSpPr>
            <p:cNvPr name="TextBox 8" id="8"/>
            <p:cNvSpPr txBox="true"/>
            <p:nvPr/>
          </p:nvSpPr>
          <p:spPr>
            <a:xfrm>
              <a:off x="0" y="-19050"/>
              <a:ext cx="11038800" cy="592097"/>
            </a:xfrm>
            <a:prstGeom prst="rect">
              <a:avLst/>
            </a:prstGeom>
          </p:spPr>
          <p:txBody>
            <a:bodyPr anchor="ctr" rtlCol="false" tIns="0" lIns="0" bIns="0" rIns="0"/>
            <a:lstStyle/>
            <a:p>
              <a:pPr algn="l">
                <a:lnSpc>
                  <a:spcPts val="3240"/>
                </a:lnSpc>
              </a:pPr>
              <a:r>
                <a:rPr lang="en-US" sz="2700" b="true">
                  <a:solidFill>
                    <a:srgbClr val="000000"/>
                  </a:solidFill>
                  <a:latin typeface="Arial Bold"/>
                  <a:ea typeface="Arial Bold"/>
                  <a:cs typeface="Arial Bold"/>
                  <a:sym typeface="Arial Bold"/>
                </a:rPr>
                <a:t>Team</a:t>
              </a:r>
            </a:p>
          </p:txBody>
        </p:sp>
      </p:grpSp>
      <p:grpSp>
        <p:nvGrpSpPr>
          <p:cNvPr name="Group 9" id="9"/>
          <p:cNvGrpSpPr/>
          <p:nvPr/>
        </p:nvGrpSpPr>
        <p:grpSpPr>
          <a:xfrm rot="0">
            <a:off x="2834064" y="3716068"/>
            <a:ext cx="63532" cy="387572"/>
            <a:chOff x="0" y="0"/>
            <a:chExt cx="84709" cy="516763"/>
          </a:xfrm>
        </p:grpSpPr>
        <p:sp>
          <p:nvSpPr>
            <p:cNvPr name="Freeform 10" id="1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193EB0"/>
            </a:solidFill>
            <a:ln w="12700">
              <a:solidFill>
                <a:srgbClr val="000000"/>
              </a:solidFill>
            </a:ln>
          </p:spPr>
        </p:sp>
        <p:sp>
          <p:nvSpPr>
            <p:cNvPr name="Freeform 11" id="1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2" id="12"/>
          <p:cNvGrpSpPr/>
          <p:nvPr/>
        </p:nvGrpSpPr>
        <p:grpSpPr>
          <a:xfrm rot="0">
            <a:off x="3113147" y="4291846"/>
            <a:ext cx="8279100" cy="429786"/>
            <a:chOff x="0" y="0"/>
            <a:chExt cx="11038800" cy="573049"/>
          </a:xfrm>
        </p:grpSpPr>
        <p:sp>
          <p:nvSpPr>
            <p:cNvPr name="Freeform 13" id="13"/>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14" id="14"/>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Introduction</a:t>
              </a:r>
            </a:p>
          </p:txBody>
        </p:sp>
      </p:grpSp>
      <p:grpSp>
        <p:nvGrpSpPr>
          <p:cNvPr name="Group 15" id="15"/>
          <p:cNvGrpSpPr/>
          <p:nvPr/>
        </p:nvGrpSpPr>
        <p:grpSpPr>
          <a:xfrm rot="0">
            <a:off x="2834064" y="4299685"/>
            <a:ext cx="63532" cy="387571"/>
            <a:chOff x="0" y="0"/>
            <a:chExt cx="84709" cy="516762"/>
          </a:xfrm>
        </p:grpSpPr>
        <p:sp>
          <p:nvSpPr>
            <p:cNvPr name="Freeform 16" id="1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17" id="1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8" id="18"/>
          <p:cNvGrpSpPr/>
          <p:nvPr/>
        </p:nvGrpSpPr>
        <p:grpSpPr>
          <a:xfrm rot="0">
            <a:off x="3093720" y="4826099"/>
            <a:ext cx="8279100" cy="429786"/>
            <a:chOff x="0" y="0"/>
            <a:chExt cx="11038800" cy="573049"/>
          </a:xfrm>
        </p:grpSpPr>
        <p:sp>
          <p:nvSpPr>
            <p:cNvPr name="Freeform 19" id="19"/>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20" id="20"/>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Problem Statement</a:t>
              </a:r>
            </a:p>
          </p:txBody>
        </p:sp>
      </p:grpSp>
      <p:grpSp>
        <p:nvGrpSpPr>
          <p:cNvPr name="Group 21" id="21"/>
          <p:cNvGrpSpPr/>
          <p:nvPr/>
        </p:nvGrpSpPr>
        <p:grpSpPr>
          <a:xfrm rot="0">
            <a:off x="2814638" y="4833938"/>
            <a:ext cx="63532" cy="387571"/>
            <a:chOff x="0" y="0"/>
            <a:chExt cx="84709" cy="516762"/>
          </a:xfrm>
        </p:grpSpPr>
        <p:sp>
          <p:nvSpPr>
            <p:cNvPr name="Freeform 22" id="2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23" id="2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24" id="24"/>
          <p:cNvGrpSpPr/>
          <p:nvPr/>
        </p:nvGrpSpPr>
        <p:grpSpPr>
          <a:xfrm rot="0">
            <a:off x="3093720" y="5359481"/>
            <a:ext cx="8279100" cy="429786"/>
            <a:chOff x="0" y="0"/>
            <a:chExt cx="11038800" cy="573049"/>
          </a:xfrm>
        </p:grpSpPr>
        <p:sp>
          <p:nvSpPr>
            <p:cNvPr name="Freeform 25" id="25"/>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26" id="26"/>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Methodology</a:t>
              </a:r>
            </a:p>
          </p:txBody>
        </p:sp>
      </p:grpSp>
      <p:grpSp>
        <p:nvGrpSpPr>
          <p:cNvPr name="Group 27" id="27"/>
          <p:cNvGrpSpPr/>
          <p:nvPr/>
        </p:nvGrpSpPr>
        <p:grpSpPr>
          <a:xfrm rot="0">
            <a:off x="2814638" y="5367338"/>
            <a:ext cx="63532" cy="387571"/>
            <a:chOff x="0" y="0"/>
            <a:chExt cx="84709" cy="516762"/>
          </a:xfrm>
        </p:grpSpPr>
        <p:sp>
          <p:nvSpPr>
            <p:cNvPr name="Freeform 28" id="28"/>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29" id="29"/>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0" id="30"/>
          <p:cNvGrpSpPr/>
          <p:nvPr/>
        </p:nvGrpSpPr>
        <p:grpSpPr>
          <a:xfrm rot="0">
            <a:off x="3093720" y="6632248"/>
            <a:ext cx="8279100" cy="572040"/>
            <a:chOff x="0" y="0"/>
            <a:chExt cx="11038800" cy="762719"/>
          </a:xfrm>
        </p:grpSpPr>
        <p:sp>
          <p:nvSpPr>
            <p:cNvPr name="Freeform 31" id="31"/>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32" id="32"/>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Results and Insights</a:t>
              </a:r>
            </a:p>
          </p:txBody>
        </p:sp>
      </p:grpSp>
      <p:grpSp>
        <p:nvGrpSpPr>
          <p:cNvPr name="Group 33" id="33"/>
          <p:cNvGrpSpPr/>
          <p:nvPr/>
        </p:nvGrpSpPr>
        <p:grpSpPr>
          <a:xfrm rot="0">
            <a:off x="2834064" y="6686754"/>
            <a:ext cx="63532" cy="387572"/>
            <a:chOff x="0" y="0"/>
            <a:chExt cx="84709" cy="516763"/>
          </a:xfrm>
        </p:grpSpPr>
        <p:sp>
          <p:nvSpPr>
            <p:cNvPr name="Freeform 34" id="34"/>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35" id="35"/>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6" id="36"/>
          <p:cNvGrpSpPr/>
          <p:nvPr/>
        </p:nvGrpSpPr>
        <p:grpSpPr>
          <a:xfrm rot="0">
            <a:off x="3113147" y="7271042"/>
            <a:ext cx="8279100" cy="429787"/>
            <a:chOff x="0" y="0"/>
            <a:chExt cx="11038800" cy="573049"/>
          </a:xfrm>
        </p:grpSpPr>
        <p:sp>
          <p:nvSpPr>
            <p:cNvPr name="Freeform 37" id="37"/>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38" id="38"/>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Conclusion</a:t>
              </a:r>
            </a:p>
          </p:txBody>
        </p:sp>
      </p:grpSp>
      <p:grpSp>
        <p:nvGrpSpPr>
          <p:cNvPr name="Group 39" id="39"/>
          <p:cNvGrpSpPr/>
          <p:nvPr/>
        </p:nvGrpSpPr>
        <p:grpSpPr>
          <a:xfrm rot="0">
            <a:off x="2834064" y="7278882"/>
            <a:ext cx="63532" cy="387572"/>
            <a:chOff x="0" y="0"/>
            <a:chExt cx="84709" cy="516763"/>
          </a:xfrm>
        </p:grpSpPr>
        <p:sp>
          <p:nvSpPr>
            <p:cNvPr name="Freeform 40" id="4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1" id="4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2" id="42"/>
          <p:cNvGrpSpPr/>
          <p:nvPr/>
        </p:nvGrpSpPr>
        <p:grpSpPr>
          <a:xfrm rot="0">
            <a:off x="3113147" y="7866568"/>
            <a:ext cx="8279100" cy="429786"/>
            <a:chOff x="0" y="0"/>
            <a:chExt cx="11038800" cy="573049"/>
          </a:xfrm>
        </p:grpSpPr>
        <p:sp>
          <p:nvSpPr>
            <p:cNvPr name="Freeform 43" id="43"/>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44" id="44"/>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Q&amp;A</a:t>
              </a:r>
            </a:p>
          </p:txBody>
        </p:sp>
      </p:grpSp>
      <p:grpSp>
        <p:nvGrpSpPr>
          <p:cNvPr name="Group 45" id="45"/>
          <p:cNvGrpSpPr/>
          <p:nvPr/>
        </p:nvGrpSpPr>
        <p:grpSpPr>
          <a:xfrm rot="0">
            <a:off x="2834064" y="7874407"/>
            <a:ext cx="63532" cy="387571"/>
            <a:chOff x="0" y="0"/>
            <a:chExt cx="84709" cy="516762"/>
          </a:xfrm>
        </p:grpSpPr>
        <p:sp>
          <p:nvSpPr>
            <p:cNvPr name="Freeform 46" id="4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7" id="4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8" id="48"/>
          <p:cNvGrpSpPr/>
          <p:nvPr/>
        </p:nvGrpSpPr>
        <p:grpSpPr>
          <a:xfrm rot="0">
            <a:off x="3093720" y="6045300"/>
            <a:ext cx="8279100" cy="429787"/>
            <a:chOff x="0" y="0"/>
            <a:chExt cx="11038800" cy="573049"/>
          </a:xfrm>
        </p:grpSpPr>
        <p:sp>
          <p:nvSpPr>
            <p:cNvPr name="Freeform 49" id="49"/>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50" id="50"/>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Key Tasks</a:t>
              </a:r>
            </a:p>
          </p:txBody>
        </p:sp>
      </p:grpSp>
      <p:grpSp>
        <p:nvGrpSpPr>
          <p:cNvPr name="Group 51" id="51"/>
          <p:cNvGrpSpPr/>
          <p:nvPr/>
        </p:nvGrpSpPr>
        <p:grpSpPr>
          <a:xfrm rot="0">
            <a:off x="2814638" y="6053138"/>
            <a:ext cx="63532" cy="387572"/>
            <a:chOff x="0" y="0"/>
            <a:chExt cx="84709" cy="516763"/>
          </a:xfrm>
        </p:grpSpPr>
        <p:sp>
          <p:nvSpPr>
            <p:cNvPr name="Freeform 52" id="5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53" id="5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39073" y="3358861"/>
            <a:ext cx="4605042" cy="3086100"/>
          </a:xfrm>
          <a:custGeom>
            <a:avLst/>
            <a:gdLst/>
            <a:ahLst/>
            <a:cxnLst/>
            <a:rect r="r" b="b" t="t" l="l"/>
            <a:pathLst>
              <a:path h="3086100" w="4605042">
                <a:moveTo>
                  <a:pt x="0" y="0"/>
                </a:moveTo>
                <a:lnTo>
                  <a:pt x="4605042" y="0"/>
                </a:lnTo>
                <a:lnTo>
                  <a:pt x="4605042" y="3086100"/>
                </a:lnTo>
                <a:lnTo>
                  <a:pt x="0" y="3086100"/>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Freeform 3" id="3"/>
          <p:cNvSpPr/>
          <p:nvPr/>
        </p:nvSpPr>
        <p:spPr>
          <a:xfrm flipH="false" flipV="false" rot="0">
            <a:off x="7472854" y="3311220"/>
            <a:ext cx="4505839" cy="3086100"/>
          </a:xfrm>
          <a:custGeom>
            <a:avLst/>
            <a:gdLst/>
            <a:ahLst/>
            <a:cxnLst/>
            <a:rect r="r" b="b" t="t" l="l"/>
            <a:pathLst>
              <a:path h="3086100" w="4505839">
                <a:moveTo>
                  <a:pt x="0" y="0"/>
                </a:moveTo>
                <a:lnTo>
                  <a:pt x="4505838" y="0"/>
                </a:lnTo>
                <a:lnTo>
                  <a:pt x="4505838" y="3086100"/>
                </a:lnTo>
                <a:lnTo>
                  <a:pt x="0" y="3086100"/>
                </a:lnTo>
                <a:lnTo>
                  <a:pt x="0" y="0"/>
                </a:lnTo>
                <a:close/>
              </a:path>
            </a:pathLst>
          </a:custGeom>
          <a:blipFill>
            <a:blip r:embed="rId4">
              <a:extLst>
                <a:ext uri="{96DAC541-7B7A-43D3-8B79-37D633B846F1}">
                  <asvg:svgBlip xmlns:asvg="http://schemas.microsoft.com/office/drawing/2016/SVG/main" r:embed="rId5"/>
                </a:ext>
              </a:extLst>
            </a:blip>
            <a:stretch>
              <a:fillRect l="-99" t="0" r="-99" b="0"/>
            </a:stretch>
          </a:blipFill>
        </p:spPr>
      </p:sp>
      <p:sp>
        <p:nvSpPr>
          <p:cNvPr name="Freeform 4" id="4"/>
          <p:cNvSpPr/>
          <p:nvPr/>
        </p:nvSpPr>
        <p:spPr>
          <a:xfrm flipH="false" flipV="false" rot="0">
            <a:off x="0" y="0"/>
            <a:ext cx="18288000" cy="2571750"/>
          </a:xfrm>
          <a:custGeom>
            <a:avLst/>
            <a:gdLst/>
            <a:ahLst/>
            <a:cxnLst/>
            <a:rect r="r" b="b" t="t" l="l"/>
            <a:pathLst>
              <a:path h="2571750" w="18288000">
                <a:moveTo>
                  <a:pt x="0" y="0"/>
                </a:moveTo>
                <a:lnTo>
                  <a:pt x="18288000" y="0"/>
                </a:lnTo>
                <a:lnTo>
                  <a:pt x="18288000" y="2571750"/>
                </a:lnTo>
                <a:lnTo>
                  <a:pt x="0" y="2571750"/>
                </a:lnTo>
                <a:lnTo>
                  <a:pt x="0" y="0"/>
                </a:lnTo>
                <a:close/>
              </a:path>
            </a:pathLst>
          </a:custGeom>
          <a:blipFill>
            <a:blip r:embed="rId6">
              <a:extLst>
                <a:ext uri="{96DAC541-7B7A-43D3-8B79-37D633B846F1}">
                  <asvg:svgBlip xmlns:asvg="http://schemas.microsoft.com/office/drawing/2016/SVG/main" r:embed="rId7"/>
                </a:ext>
              </a:extLst>
            </a:blip>
            <a:stretch>
              <a:fillRect l="0" t="-185" r="0" b="-185"/>
            </a:stretch>
          </a:blipFill>
        </p:spPr>
      </p:sp>
      <p:sp>
        <p:nvSpPr>
          <p:cNvPr name="Freeform 5" id="5"/>
          <p:cNvSpPr/>
          <p:nvPr/>
        </p:nvSpPr>
        <p:spPr>
          <a:xfrm flipH="false" flipV="false" rot="0">
            <a:off x="12675942" y="3311220"/>
            <a:ext cx="4132640" cy="3086100"/>
          </a:xfrm>
          <a:custGeom>
            <a:avLst/>
            <a:gdLst/>
            <a:ahLst/>
            <a:cxnLst/>
            <a:rect r="r" b="b" t="t" l="l"/>
            <a:pathLst>
              <a:path h="3086100" w="4132640">
                <a:moveTo>
                  <a:pt x="0" y="0"/>
                </a:moveTo>
                <a:lnTo>
                  <a:pt x="4132640" y="0"/>
                </a:lnTo>
                <a:lnTo>
                  <a:pt x="4132640" y="3086100"/>
                </a:lnTo>
                <a:lnTo>
                  <a:pt x="0" y="3086100"/>
                </a:lnTo>
                <a:lnTo>
                  <a:pt x="0" y="0"/>
                </a:lnTo>
                <a:close/>
              </a:path>
            </a:pathLst>
          </a:custGeom>
          <a:blipFill>
            <a:blip r:embed="rId8">
              <a:extLst>
                <a:ext uri="{96DAC541-7B7A-43D3-8B79-37D633B846F1}">
                  <asvg:svgBlip xmlns:asvg="http://schemas.microsoft.com/office/drawing/2016/SVG/main" r:embed="rId9"/>
                </a:ext>
              </a:extLst>
            </a:blip>
            <a:stretch>
              <a:fillRect l="-129" t="0" r="-129" b="0"/>
            </a:stretch>
          </a:blipFill>
        </p:spPr>
      </p:sp>
      <p:sp>
        <p:nvSpPr>
          <p:cNvPr name="TextBox 6" id="6"/>
          <p:cNvSpPr txBox="true"/>
          <p:nvPr/>
        </p:nvSpPr>
        <p:spPr>
          <a:xfrm rot="0">
            <a:off x="2668882" y="4469790"/>
            <a:ext cx="2693500" cy="768992"/>
          </a:xfrm>
          <a:prstGeom prst="rect">
            <a:avLst/>
          </a:prstGeom>
        </p:spPr>
        <p:txBody>
          <a:bodyPr anchor="t" rtlCol="false" tIns="0" lIns="0" bIns="0" rIns="0">
            <a:spAutoFit/>
          </a:bodyPr>
          <a:lstStyle/>
          <a:p>
            <a:pPr algn="l">
              <a:lnSpc>
                <a:spcPts val="5388"/>
              </a:lnSpc>
            </a:pPr>
            <a:r>
              <a:rPr lang="en-US" sz="3849">
                <a:solidFill>
                  <a:srgbClr val="000000"/>
                </a:solidFill>
                <a:latin typeface="Arial"/>
                <a:ea typeface="Arial"/>
                <a:cs typeface="Arial"/>
                <a:sym typeface="Arial"/>
              </a:rPr>
              <a:t>Saeed Alaa</a:t>
            </a:r>
          </a:p>
        </p:txBody>
      </p:sp>
      <p:sp>
        <p:nvSpPr>
          <p:cNvPr name="TextBox 7" id="7"/>
          <p:cNvSpPr txBox="true"/>
          <p:nvPr/>
        </p:nvSpPr>
        <p:spPr>
          <a:xfrm rot="0">
            <a:off x="8000022" y="4469790"/>
            <a:ext cx="3451503" cy="673710"/>
          </a:xfrm>
          <a:prstGeom prst="rect">
            <a:avLst/>
          </a:prstGeom>
        </p:spPr>
        <p:txBody>
          <a:bodyPr anchor="t" rtlCol="false" tIns="0" lIns="0" bIns="0" rIns="0">
            <a:spAutoFit/>
          </a:bodyPr>
          <a:lstStyle/>
          <a:p>
            <a:pPr algn="l">
              <a:lnSpc>
                <a:spcPts val="5388"/>
              </a:lnSpc>
            </a:pPr>
            <a:r>
              <a:rPr lang="en-US" sz="3849">
                <a:solidFill>
                  <a:srgbClr val="000000"/>
                </a:solidFill>
                <a:latin typeface="Arial"/>
                <a:ea typeface="Arial"/>
                <a:cs typeface="Arial"/>
                <a:sym typeface="Arial"/>
              </a:rPr>
              <a:t>Mazen Wael</a:t>
            </a:r>
          </a:p>
        </p:txBody>
      </p:sp>
      <p:sp>
        <p:nvSpPr>
          <p:cNvPr name="TextBox 8" id="8"/>
          <p:cNvSpPr txBox="true"/>
          <p:nvPr/>
        </p:nvSpPr>
        <p:spPr>
          <a:xfrm rot="0">
            <a:off x="13225744" y="4469790"/>
            <a:ext cx="3505438" cy="673710"/>
          </a:xfrm>
          <a:prstGeom prst="rect">
            <a:avLst/>
          </a:prstGeom>
        </p:spPr>
        <p:txBody>
          <a:bodyPr anchor="t" rtlCol="false" tIns="0" lIns="0" bIns="0" rIns="0">
            <a:spAutoFit/>
          </a:bodyPr>
          <a:lstStyle/>
          <a:p>
            <a:pPr algn="l">
              <a:lnSpc>
                <a:spcPts val="5388"/>
              </a:lnSpc>
            </a:pPr>
            <a:r>
              <a:rPr lang="en-US" sz="3849">
                <a:solidFill>
                  <a:srgbClr val="000000"/>
                </a:solidFill>
                <a:latin typeface="Arial"/>
                <a:ea typeface="Arial"/>
                <a:cs typeface="Arial"/>
                <a:sym typeface="Arial"/>
              </a:rPr>
              <a:t>Nabil Talaat</a:t>
            </a:r>
          </a:p>
        </p:txBody>
      </p:sp>
      <p:grpSp>
        <p:nvGrpSpPr>
          <p:cNvPr name="Group 9" id="9"/>
          <p:cNvGrpSpPr/>
          <p:nvPr/>
        </p:nvGrpSpPr>
        <p:grpSpPr>
          <a:xfrm rot="0">
            <a:off x="-4762" y="-4762"/>
            <a:ext cx="18297525" cy="3115342"/>
            <a:chOff x="0" y="0"/>
            <a:chExt cx="24396700" cy="4153789"/>
          </a:xfrm>
        </p:grpSpPr>
        <p:sp>
          <p:nvSpPr>
            <p:cNvPr name="Freeform 10" id="10"/>
            <p:cNvSpPr/>
            <p:nvPr/>
          </p:nvSpPr>
          <p:spPr>
            <a:xfrm flipH="false" flipV="false" rot="0">
              <a:off x="8509" y="8509"/>
              <a:ext cx="24384001" cy="4141089"/>
            </a:xfrm>
            <a:custGeom>
              <a:avLst/>
              <a:gdLst/>
              <a:ahLst/>
              <a:cxnLst/>
              <a:rect r="r" b="b" t="t" l="l"/>
              <a:pathLst>
                <a:path h="4141089" w="24384001">
                  <a:moveTo>
                    <a:pt x="0" y="0"/>
                  </a:moveTo>
                  <a:lnTo>
                    <a:pt x="24384001" y="0"/>
                  </a:lnTo>
                  <a:lnTo>
                    <a:pt x="24384001" y="4141089"/>
                  </a:lnTo>
                  <a:lnTo>
                    <a:pt x="0" y="4141089"/>
                  </a:lnTo>
                  <a:close/>
                </a:path>
              </a:pathLst>
            </a:custGeom>
            <a:solidFill>
              <a:srgbClr val="1F497D"/>
            </a:solidFill>
            <a:ln w="12700">
              <a:solidFill>
                <a:srgbClr val="000000"/>
              </a:solidFill>
            </a:ln>
          </p:spPr>
        </p:sp>
        <p:sp>
          <p:nvSpPr>
            <p:cNvPr name="Freeform 11" id="11"/>
            <p:cNvSpPr/>
            <p:nvPr/>
          </p:nvSpPr>
          <p:spPr>
            <a:xfrm flipH="false" flipV="false" rot="0">
              <a:off x="0" y="0"/>
              <a:ext cx="24401018" cy="4158107"/>
            </a:xfrm>
            <a:custGeom>
              <a:avLst/>
              <a:gdLst/>
              <a:ahLst/>
              <a:cxnLst/>
              <a:rect r="r" b="b" t="t" l="l"/>
              <a:pathLst>
                <a:path h="4158107" w="24401018">
                  <a:moveTo>
                    <a:pt x="8509" y="0"/>
                  </a:moveTo>
                  <a:lnTo>
                    <a:pt x="24392510" y="0"/>
                  </a:lnTo>
                  <a:cubicBezTo>
                    <a:pt x="24397208" y="0"/>
                    <a:pt x="24401018" y="3810"/>
                    <a:pt x="24401018" y="8509"/>
                  </a:cubicBezTo>
                  <a:lnTo>
                    <a:pt x="24401018" y="4149598"/>
                  </a:lnTo>
                  <a:cubicBezTo>
                    <a:pt x="24401018" y="4154297"/>
                    <a:pt x="24397208" y="4158107"/>
                    <a:pt x="24392510" y="4158107"/>
                  </a:cubicBezTo>
                  <a:lnTo>
                    <a:pt x="8509" y="4158107"/>
                  </a:lnTo>
                  <a:cubicBezTo>
                    <a:pt x="3810" y="4158107"/>
                    <a:pt x="0" y="4154297"/>
                    <a:pt x="0" y="4149598"/>
                  </a:cubicBezTo>
                  <a:lnTo>
                    <a:pt x="0" y="8509"/>
                  </a:lnTo>
                  <a:cubicBezTo>
                    <a:pt x="0" y="3810"/>
                    <a:pt x="3810" y="0"/>
                    <a:pt x="8509" y="0"/>
                  </a:cubicBezTo>
                  <a:moveTo>
                    <a:pt x="8509" y="16891"/>
                  </a:moveTo>
                  <a:lnTo>
                    <a:pt x="8509" y="8509"/>
                  </a:lnTo>
                  <a:lnTo>
                    <a:pt x="17018" y="8509"/>
                  </a:lnTo>
                  <a:lnTo>
                    <a:pt x="17018" y="4149598"/>
                  </a:lnTo>
                  <a:lnTo>
                    <a:pt x="8509" y="4149598"/>
                  </a:lnTo>
                  <a:lnTo>
                    <a:pt x="8509" y="4141089"/>
                  </a:lnTo>
                  <a:lnTo>
                    <a:pt x="24392510" y="4141089"/>
                  </a:lnTo>
                  <a:lnTo>
                    <a:pt x="24392510" y="4149598"/>
                  </a:lnTo>
                  <a:lnTo>
                    <a:pt x="24384000" y="4149598"/>
                  </a:lnTo>
                  <a:lnTo>
                    <a:pt x="24384000" y="8509"/>
                  </a:lnTo>
                  <a:lnTo>
                    <a:pt x="24392510" y="8509"/>
                  </a:lnTo>
                  <a:lnTo>
                    <a:pt x="24392510" y="17018"/>
                  </a:lnTo>
                  <a:lnTo>
                    <a:pt x="8509" y="17018"/>
                  </a:lnTo>
                  <a:close/>
                </a:path>
              </a:pathLst>
            </a:custGeom>
            <a:solidFill>
              <a:srgbClr val="000000"/>
            </a:solidFill>
            <a:ln w="12700">
              <a:solidFill>
                <a:srgbClr val="000000"/>
              </a:solidFill>
            </a:ln>
          </p:spPr>
        </p:sp>
      </p:grpSp>
      <p:sp>
        <p:nvSpPr>
          <p:cNvPr name="TextBox 12" id="12"/>
          <p:cNvSpPr txBox="true"/>
          <p:nvPr/>
        </p:nvSpPr>
        <p:spPr>
          <a:xfrm rot="0">
            <a:off x="1927890" y="767274"/>
            <a:ext cx="4039456" cy="1380769"/>
          </a:xfrm>
          <a:prstGeom prst="rect">
            <a:avLst/>
          </a:prstGeom>
        </p:spPr>
        <p:txBody>
          <a:bodyPr anchor="t" rtlCol="false" tIns="0" lIns="0" bIns="0" rIns="0">
            <a:spAutoFit/>
          </a:bodyPr>
          <a:lstStyle/>
          <a:p>
            <a:pPr algn="l">
              <a:lnSpc>
                <a:spcPts val="10935"/>
              </a:lnSpc>
            </a:pPr>
            <a:r>
              <a:rPr lang="en-US" sz="7810">
                <a:solidFill>
                  <a:srgbClr val="FFFFFF"/>
                </a:solidFill>
                <a:latin typeface="Arial"/>
                <a:ea typeface="Arial"/>
                <a:cs typeface="Arial"/>
                <a:sym typeface="Arial"/>
              </a:rPr>
              <a:t>Team</a:t>
            </a:r>
          </a:p>
        </p:txBody>
      </p:sp>
      <p:sp>
        <p:nvSpPr>
          <p:cNvPr name="Freeform 13" id="13"/>
          <p:cNvSpPr/>
          <p:nvPr/>
        </p:nvSpPr>
        <p:spPr>
          <a:xfrm flipH="false" flipV="false" rot="0">
            <a:off x="1939073" y="6851040"/>
            <a:ext cx="4605042" cy="3086100"/>
          </a:xfrm>
          <a:custGeom>
            <a:avLst/>
            <a:gdLst/>
            <a:ahLst/>
            <a:cxnLst/>
            <a:rect r="r" b="b" t="t" l="l"/>
            <a:pathLst>
              <a:path h="3086100" w="4605042">
                <a:moveTo>
                  <a:pt x="0" y="0"/>
                </a:moveTo>
                <a:lnTo>
                  <a:pt x="4605042" y="0"/>
                </a:lnTo>
                <a:lnTo>
                  <a:pt x="4605042" y="3086100"/>
                </a:lnTo>
                <a:lnTo>
                  <a:pt x="0" y="3086100"/>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Freeform 14" id="14"/>
          <p:cNvSpPr/>
          <p:nvPr/>
        </p:nvSpPr>
        <p:spPr>
          <a:xfrm flipH="false" flipV="false" rot="0">
            <a:off x="12675942" y="7249515"/>
            <a:ext cx="4132640" cy="2769517"/>
          </a:xfrm>
          <a:custGeom>
            <a:avLst/>
            <a:gdLst/>
            <a:ahLst/>
            <a:cxnLst/>
            <a:rect r="r" b="b" t="t" l="l"/>
            <a:pathLst>
              <a:path h="2769517" w="4132640">
                <a:moveTo>
                  <a:pt x="0" y="0"/>
                </a:moveTo>
                <a:lnTo>
                  <a:pt x="4132640" y="0"/>
                </a:lnTo>
                <a:lnTo>
                  <a:pt x="4132640" y="2769517"/>
                </a:lnTo>
                <a:lnTo>
                  <a:pt x="0" y="2769517"/>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Freeform 15" id="15"/>
          <p:cNvSpPr/>
          <p:nvPr/>
        </p:nvSpPr>
        <p:spPr>
          <a:xfrm flipH="false" flipV="false" rot="0">
            <a:off x="7373650" y="6851040"/>
            <a:ext cx="4605042" cy="3086100"/>
          </a:xfrm>
          <a:custGeom>
            <a:avLst/>
            <a:gdLst/>
            <a:ahLst/>
            <a:cxnLst/>
            <a:rect r="r" b="b" t="t" l="l"/>
            <a:pathLst>
              <a:path h="3086100" w="4605042">
                <a:moveTo>
                  <a:pt x="0" y="0"/>
                </a:moveTo>
                <a:lnTo>
                  <a:pt x="4605042" y="0"/>
                </a:lnTo>
                <a:lnTo>
                  <a:pt x="4605042" y="3086100"/>
                </a:lnTo>
                <a:lnTo>
                  <a:pt x="0" y="3086100"/>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TextBox 16" id="16"/>
          <p:cNvSpPr txBox="true"/>
          <p:nvPr/>
        </p:nvSpPr>
        <p:spPr>
          <a:xfrm rot="0">
            <a:off x="2617222" y="7559386"/>
            <a:ext cx="3451503" cy="1349985"/>
          </a:xfrm>
          <a:prstGeom prst="rect">
            <a:avLst/>
          </a:prstGeom>
        </p:spPr>
        <p:txBody>
          <a:bodyPr anchor="t" rtlCol="false" tIns="0" lIns="0" bIns="0" rIns="0">
            <a:spAutoFit/>
          </a:bodyPr>
          <a:lstStyle/>
          <a:p>
            <a:pPr algn="l">
              <a:lnSpc>
                <a:spcPts val="5388"/>
              </a:lnSpc>
            </a:pPr>
            <a:r>
              <a:rPr lang="en-US" sz="3849">
                <a:solidFill>
                  <a:srgbClr val="000000"/>
                </a:solidFill>
                <a:latin typeface="Arial"/>
                <a:ea typeface="Arial"/>
                <a:cs typeface="Arial"/>
                <a:sym typeface="Arial"/>
              </a:rPr>
              <a:t>Abdelrahman Hesham</a:t>
            </a:r>
          </a:p>
        </p:txBody>
      </p:sp>
      <p:sp>
        <p:nvSpPr>
          <p:cNvPr name="TextBox 17" id="17"/>
          <p:cNvSpPr txBox="true"/>
          <p:nvPr/>
        </p:nvSpPr>
        <p:spPr>
          <a:xfrm rot="0">
            <a:off x="13279679" y="8298840"/>
            <a:ext cx="3451503" cy="673710"/>
          </a:xfrm>
          <a:prstGeom prst="rect">
            <a:avLst/>
          </a:prstGeom>
        </p:spPr>
        <p:txBody>
          <a:bodyPr anchor="t" rtlCol="false" tIns="0" lIns="0" bIns="0" rIns="0">
            <a:spAutoFit/>
          </a:bodyPr>
          <a:lstStyle/>
          <a:p>
            <a:pPr algn="l">
              <a:lnSpc>
                <a:spcPts val="5388"/>
              </a:lnSpc>
            </a:pPr>
            <a:r>
              <a:rPr lang="en-US" sz="3849">
                <a:solidFill>
                  <a:srgbClr val="000000"/>
                </a:solidFill>
                <a:latin typeface="Arial"/>
                <a:ea typeface="Arial"/>
                <a:cs typeface="Arial"/>
                <a:sym typeface="Arial"/>
              </a:rPr>
              <a:t>Ziad Asfor</a:t>
            </a:r>
          </a:p>
        </p:txBody>
      </p:sp>
      <p:sp>
        <p:nvSpPr>
          <p:cNvPr name="TextBox 18" id="18"/>
          <p:cNvSpPr txBox="true"/>
          <p:nvPr/>
        </p:nvSpPr>
        <p:spPr>
          <a:xfrm rot="0">
            <a:off x="7950420" y="8298840"/>
            <a:ext cx="3451503" cy="673710"/>
          </a:xfrm>
          <a:prstGeom prst="rect">
            <a:avLst/>
          </a:prstGeom>
        </p:spPr>
        <p:txBody>
          <a:bodyPr anchor="t" rtlCol="false" tIns="0" lIns="0" bIns="0" rIns="0">
            <a:spAutoFit/>
          </a:bodyPr>
          <a:lstStyle/>
          <a:p>
            <a:pPr algn="l">
              <a:lnSpc>
                <a:spcPts val="5388"/>
              </a:lnSpc>
            </a:pPr>
            <a:r>
              <a:rPr lang="en-US" sz="3849">
                <a:solidFill>
                  <a:srgbClr val="000000"/>
                </a:solidFill>
                <a:latin typeface="Arial"/>
                <a:ea typeface="Arial"/>
                <a:cs typeface="Arial"/>
                <a:sym typeface="Arial"/>
              </a:rPr>
              <a:t>Ziad Saad</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62" y="-4762"/>
            <a:ext cx="18297525" cy="3115342"/>
            <a:chOff x="0" y="0"/>
            <a:chExt cx="24396700" cy="4153789"/>
          </a:xfrm>
        </p:grpSpPr>
        <p:sp>
          <p:nvSpPr>
            <p:cNvPr name="Freeform 3" id="3"/>
            <p:cNvSpPr/>
            <p:nvPr/>
          </p:nvSpPr>
          <p:spPr>
            <a:xfrm flipH="false" flipV="false" rot="0">
              <a:off x="8509" y="8509"/>
              <a:ext cx="24384001" cy="4141089"/>
            </a:xfrm>
            <a:custGeom>
              <a:avLst/>
              <a:gdLst/>
              <a:ahLst/>
              <a:cxnLst/>
              <a:rect r="r" b="b" t="t" l="l"/>
              <a:pathLst>
                <a:path h="4141089" w="24384001">
                  <a:moveTo>
                    <a:pt x="0" y="0"/>
                  </a:moveTo>
                  <a:lnTo>
                    <a:pt x="24384001" y="0"/>
                  </a:lnTo>
                  <a:lnTo>
                    <a:pt x="24384001" y="4141089"/>
                  </a:lnTo>
                  <a:lnTo>
                    <a:pt x="0" y="4141089"/>
                  </a:lnTo>
                  <a:close/>
                </a:path>
              </a:pathLst>
            </a:custGeom>
            <a:solidFill>
              <a:srgbClr val="1F497D"/>
            </a:solidFill>
            <a:ln w="12700">
              <a:solidFill>
                <a:srgbClr val="000000"/>
              </a:solidFill>
            </a:ln>
          </p:spPr>
        </p:sp>
        <p:sp>
          <p:nvSpPr>
            <p:cNvPr name="Freeform 4" id="4"/>
            <p:cNvSpPr/>
            <p:nvPr/>
          </p:nvSpPr>
          <p:spPr>
            <a:xfrm flipH="false" flipV="false" rot="0">
              <a:off x="0" y="0"/>
              <a:ext cx="24401018" cy="4158107"/>
            </a:xfrm>
            <a:custGeom>
              <a:avLst/>
              <a:gdLst/>
              <a:ahLst/>
              <a:cxnLst/>
              <a:rect r="r" b="b" t="t" l="l"/>
              <a:pathLst>
                <a:path h="4158107" w="24401018">
                  <a:moveTo>
                    <a:pt x="8509" y="0"/>
                  </a:moveTo>
                  <a:lnTo>
                    <a:pt x="24392510" y="0"/>
                  </a:lnTo>
                  <a:cubicBezTo>
                    <a:pt x="24397208" y="0"/>
                    <a:pt x="24401018" y="3810"/>
                    <a:pt x="24401018" y="8509"/>
                  </a:cubicBezTo>
                  <a:lnTo>
                    <a:pt x="24401018" y="4149598"/>
                  </a:lnTo>
                  <a:cubicBezTo>
                    <a:pt x="24401018" y="4154297"/>
                    <a:pt x="24397208" y="4158107"/>
                    <a:pt x="24392510" y="4158107"/>
                  </a:cubicBezTo>
                  <a:lnTo>
                    <a:pt x="8509" y="4158107"/>
                  </a:lnTo>
                  <a:cubicBezTo>
                    <a:pt x="3810" y="4158107"/>
                    <a:pt x="0" y="4154297"/>
                    <a:pt x="0" y="4149598"/>
                  </a:cubicBezTo>
                  <a:lnTo>
                    <a:pt x="0" y="8509"/>
                  </a:lnTo>
                  <a:cubicBezTo>
                    <a:pt x="0" y="3810"/>
                    <a:pt x="3810" y="0"/>
                    <a:pt x="8509" y="0"/>
                  </a:cubicBezTo>
                  <a:moveTo>
                    <a:pt x="8509" y="16891"/>
                  </a:moveTo>
                  <a:lnTo>
                    <a:pt x="8509" y="8509"/>
                  </a:lnTo>
                  <a:lnTo>
                    <a:pt x="17018" y="8509"/>
                  </a:lnTo>
                  <a:lnTo>
                    <a:pt x="17018" y="4149598"/>
                  </a:lnTo>
                  <a:lnTo>
                    <a:pt x="8509" y="4149598"/>
                  </a:lnTo>
                  <a:lnTo>
                    <a:pt x="8509" y="4141089"/>
                  </a:lnTo>
                  <a:lnTo>
                    <a:pt x="24392510" y="4141089"/>
                  </a:lnTo>
                  <a:lnTo>
                    <a:pt x="24392510" y="4149598"/>
                  </a:lnTo>
                  <a:lnTo>
                    <a:pt x="24384000" y="4149598"/>
                  </a:lnTo>
                  <a:lnTo>
                    <a:pt x="24384000" y="8509"/>
                  </a:lnTo>
                  <a:lnTo>
                    <a:pt x="24392510" y="8509"/>
                  </a:lnTo>
                  <a:lnTo>
                    <a:pt x="24392510" y="17018"/>
                  </a:lnTo>
                  <a:lnTo>
                    <a:pt x="8509" y="17018"/>
                  </a:lnTo>
                  <a:close/>
                </a:path>
              </a:pathLst>
            </a:custGeom>
            <a:solidFill>
              <a:srgbClr val="000000"/>
            </a:solidFill>
            <a:ln w="12700">
              <a:solidFill>
                <a:srgbClr val="000000"/>
              </a:solidFill>
            </a:ln>
          </p:spPr>
        </p:sp>
      </p:grpSp>
      <p:sp>
        <p:nvSpPr>
          <p:cNvPr name="TextBox 5" id="5"/>
          <p:cNvSpPr txBox="true"/>
          <p:nvPr/>
        </p:nvSpPr>
        <p:spPr>
          <a:xfrm rot="0">
            <a:off x="2555082" y="1183892"/>
            <a:ext cx="7433550" cy="978991"/>
          </a:xfrm>
          <a:prstGeom prst="rect">
            <a:avLst/>
          </a:prstGeom>
        </p:spPr>
        <p:txBody>
          <a:bodyPr anchor="t" rtlCol="false" tIns="0" lIns="0" bIns="0" rIns="0">
            <a:spAutoFit/>
          </a:bodyPr>
          <a:lstStyle/>
          <a:p>
            <a:pPr algn="l">
              <a:lnSpc>
                <a:spcPts val="5999"/>
              </a:lnSpc>
            </a:pPr>
            <a:r>
              <a:rPr lang="en-US" sz="4999" b="true">
                <a:solidFill>
                  <a:srgbClr val="FFFFFF"/>
                </a:solidFill>
                <a:latin typeface="Calibri (MS) Bold"/>
                <a:ea typeface="Calibri (MS) Bold"/>
                <a:cs typeface="Calibri (MS) Bold"/>
                <a:sym typeface="Calibri (MS) Bold"/>
              </a:rPr>
              <a:t>Agenda</a:t>
            </a:r>
          </a:p>
        </p:txBody>
      </p:sp>
      <p:grpSp>
        <p:nvGrpSpPr>
          <p:cNvPr name="Group 6" id="6"/>
          <p:cNvGrpSpPr/>
          <p:nvPr/>
        </p:nvGrpSpPr>
        <p:grpSpPr>
          <a:xfrm rot="0">
            <a:off x="3113147" y="3708228"/>
            <a:ext cx="8279100" cy="429785"/>
            <a:chOff x="0" y="0"/>
            <a:chExt cx="11038800" cy="573047"/>
          </a:xfrm>
        </p:grpSpPr>
        <p:sp>
          <p:nvSpPr>
            <p:cNvPr name="Freeform 7" id="7"/>
            <p:cNvSpPr/>
            <p:nvPr/>
          </p:nvSpPr>
          <p:spPr>
            <a:xfrm flipH="false" flipV="false" rot="0">
              <a:off x="0" y="0"/>
              <a:ext cx="11038800" cy="573047"/>
            </a:xfrm>
            <a:custGeom>
              <a:avLst/>
              <a:gdLst/>
              <a:ahLst/>
              <a:cxnLst/>
              <a:rect r="r" b="b" t="t" l="l"/>
              <a:pathLst>
                <a:path h="573047" w="11038800">
                  <a:moveTo>
                    <a:pt x="0" y="0"/>
                  </a:moveTo>
                  <a:lnTo>
                    <a:pt x="11038800" y="0"/>
                  </a:lnTo>
                  <a:lnTo>
                    <a:pt x="11038800" y="573047"/>
                  </a:lnTo>
                  <a:lnTo>
                    <a:pt x="0" y="573047"/>
                  </a:lnTo>
                  <a:close/>
                </a:path>
              </a:pathLst>
            </a:custGeom>
            <a:solidFill>
              <a:srgbClr val="000000">
                <a:alpha val="0"/>
              </a:srgbClr>
            </a:solidFill>
          </p:spPr>
        </p:sp>
        <p:sp>
          <p:nvSpPr>
            <p:cNvPr name="TextBox 8" id="8"/>
            <p:cNvSpPr txBox="true"/>
            <p:nvPr/>
          </p:nvSpPr>
          <p:spPr>
            <a:xfrm>
              <a:off x="0" y="-19050"/>
              <a:ext cx="11038800" cy="592097"/>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Team</a:t>
              </a:r>
            </a:p>
          </p:txBody>
        </p:sp>
      </p:grpSp>
      <p:grpSp>
        <p:nvGrpSpPr>
          <p:cNvPr name="Group 9" id="9"/>
          <p:cNvGrpSpPr/>
          <p:nvPr/>
        </p:nvGrpSpPr>
        <p:grpSpPr>
          <a:xfrm rot="0">
            <a:off x="2834064" y="3716068"/>
            <a:ext cx="63532" cy="387572"/>
            <a:chOff x="0" y="0"/>
            <a:chExt cx="84709" cy="516763"/>
          </a:xfrm>
        </p:grpSpPr>
        <p:sp>
          <p:nvSpPr>
            <p:cNvPr name="Freeform 10" id="1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11" id="1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2" id="12"/>
          <p:cNvGrpSpPr/>
          <p:nvPr/>
        </p:nvGrpSpPr>
        <p:grpSpPr>
          <a:xfrm rot="0">
            <a:off x="3113147" y="4178489"/>
            <a:ext cx="8279100" cy="572040"/>
            <a:chOff x="0" y="0"/>
            <a:chExt cx="11038800" cy="762719"/>
          </a:xfrm>
        </p:grpSpPr>
        <p:sp>
          <p:nvSpPr>
            <p:cNvPr name="Freeform 13" id="13"/>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14" id="14"/>
            <p:cNvSpPr txBox="true"/>
            <p:nvPr/>
          </p:nvSpPr>
          <p:spPr>
            <a:xfrm>
              <a:off x="0" y="-19050"/>
              <a:ext cx="11038800" cy="781769"/>
            </a:xfrm>
            <a:prstGeom prst="rect">
              <a:avLst/>
            </a:prstGeom>
          </p:spPr>
          <p:txBody>
            <a:bodyPr anchor="ctr" rtlCol="false" tIns="0" lIns="0" bIns="0" rIns="0"/>
            <a:lstStyle/>
            <a:p>
              <a:pPr algn="l">
                <a:lnSpc>
                  <a:spcPts val="3240"/>
                </a:lnSpc>
              </a:pPr>
              <a:r>
                <a:rPr lang="en-US" sz="2700" b="true">
                  <a:solidFill>
                    <a:srgbClr val="000000"/>
                  </a:solidFill>
                  <a:latin typeface="Arial Bold"/>
                  <a:ea typeface="Arial Bold"/>
                  <a:cs typeface="Arial Bold"/>
                  <a:sym typeface="Arial Bold"/>
                </a:rPr>
                <a:t>Introduction</a:t>
              </a:r>
            </a:p>
          </p:txBody>
        </p:sp>
      </p:grpSp>
      <p:grpSp>
        <p:nvGrpSpPr>
          <p:cNvPr name="Group 15" id="15"/>
          <p:cNvGrpSpPr/>
          <p:nvPr/>
        </p:nvGrpSpPr>
        <p:grpSpPr>
          <a:xfrm rot="0">
            <a:off x="2834064" y="4299685"/>
            <a:ext cx="63532" cy="387571"/>
            <a:chOff x="0" y="0"/>
            <a:chExt cx="84709" cy="516762"/>
          </a:xfrm>
        </p:grpSpPr>
        <p:sp>
          <p:nvSpPr>
            <p:cNvPr name="Freeform 16" id="1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1F497D"/>
            </a:solidFill>
            <a:ln w="12700">
              <a:solidFill>
                <a:srgbClr val="000000"/>
              </a:solidFill>
            </a:ln>
          </p:spPr>
        </p:sp>
        <p:sp>
          <p:nvSpPr>
            <p:cNvPr name="Freeform 17" id="1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8" id="18"/>
          <p:cNvGrpSpPr/>
          <p:nvPr/>
        </p:nvGrpSpPr>
        <p:grpSpPr>
          <a:xfrm rot="0">
            <a:off x="3113147" y="4831491"/>
            <a:ext cx="8279100" cy="572040"/>
            <a:chOff x="0" y="0"/>
            <a:chExt cx="11038800" cy="762719"/>
          </a:xfrm>
        </p:grpSpPr>
        <p:sp>
          <p:nvSpPr>
            <p:cNvPr name="Freeform 19" id="19"/>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20" id="20"/>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The Business Challenge</a:t>
              </a:r>
            </a:p>
          </p:txBody>
        </p:sp>
      </p:grpSp>
      <p:grpSp>
        <p:nvGrpSpPr>
          <p:cNvPr name="Group 21" id="21"/>
          <p:cNvGrpSpPr/>
          <p:nvPr/>
        </p:nvGrpSpPr>
        <p:grpSpPr>
          <a:xfrm rot="0">
            <a:off x="2834064" y="4839331"/>
            <a:ext cx="63532" cy="387571"/>
            <a:chOff x="0" y="0"/>
            <a:chExt cx="84709" cy="516762"/>
          </a:xfrm>
        </p:grpSpPr>
        <p:sp>
          <p:nvSpPr>
            <p:cNvPr name="Freeform 22" id="2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23" id="2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24" id="24"/>
          <p:cNvGrpSpPr/>
          <p:nvPr/>
        </p:nvGrpSpPr>
        <p:grpSpPr>
          <a:xfrm rot="0">
            <a:off x="3113147" y="6048244"/>
            <a:ext cx="8279100" cy="429786"/>
            <a:chOff x="0" y="0"/>
            <a:chExt cx="11038800" cy="573049"/>
          </a:xfrm>
        </p:grpSpPr>
        <p:sp>
          <p:nvSpPr>
            <p:cNvPr name="Freeform 25" id="25"/>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26" id="26"/>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Methodology</a:t>
              </a:r>
            </a:p>
          </p:txBody>
        </p:sp>
      </p:grpSp>
      <p:grpSp>
        <p:nvGrpSpPr>
          <p:cNvPr name="Group 27" id="27"/>
          <p:cNvGrpSpPr/>
          <p:nvPr/>
        </p:nvGrpSpPr>
        <p:grpSpPr>
          <a:xfrm rot="0">
            <a:off x="2834064" y="6056101"/>
            <a:ext cx="63532" cy="387571"/>
            <a:chOff x="0" y="0"/>
            <a:chExt cx="84709" cy="516762"/>
          </a:xfrm>
        </p:grpSpPr>
        <p:sp>
          <p:nvSpPr>
            <p:cNvPr name="Freeform 28" id="28"/>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29" id="29"/>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0" id="30"/>
          <p:cNvGrpSpPr/>
          <p:nvPr/>
        </p:nvGrpSpPr>
        <p:grpSpPr>
          <a:xfrm rot="0">
            <a:off x="3113147" y="6523274"/>
            <a:ext cx="8279100" cy="655104"/>
            <a:chOff x="0" y="0"/>
            <a:chExt cx="11038800" cy="873472"/>
          </a:xfrm>
        </p:grpSpPr>
        <p:sp>
          <p:nvSpPr>
            <p:cNvPr name="Freeform 31" id="31"/>
            <p:cNvSpPr/>
            <p:nvPr/>
          </p:nvSpPr>
          <p:spPr>
            <a:xfrm flipH="false" flipV="false" rot="0">
              <a:off x="0" y="0"/>
              <a:ext cx="11038800" cy="873472"/>
            </a:xfrm>
            <a:custGeom>
              <a:avLst/>
              <a:gdLst/>
              <a:ahLst/>
              <a:cxnLst/>
              <a:rect r="r" b="b" t="t" l="l"/>
              <a:pathLst>
                <a:path h="873472" w="11038800">
                  <a:moveTo>
                    <a:pt x="0" y="0"/>
                  </a:moveTo>
                  <a:lnTo>
                    <a:pt x="11038800" y="0"/>
                  </a:lnTo>
                  <a:lnTo>
                    <a:pt x="11038800" y="873472"/>
                  </a:lnTo>
                  <a:lnTo>
                    <a:pt x="0" y="873472"/>
                  </a:lnTo>
                  <a:close/>
                </a:path>
              </a:pathLst>
            </a:custGeom>
            <a:solidFill>
              <a:srgbClr val="000000">
                <a:alpha val="0"/>
              </a:srgbClr>
            </a:solidFill>
          </p:spPr>
        </p:sp>
        <p:sp>
          <p:nvSpPr>
            <p:cNvPr name="TextBox 32" id="32"/>
            <p:cNvSpPr txBox="true"/>
            <p:nvPr/>
          </p:nvSpPr>
          <p:spPr>
            <a:xfrm>
              <a:off x="0" y="-66675"/>
              <a:ext cx="11038800" cy="940147"/>
            </a:xfrm>
            <a:prstGeom prst="rect">
              <a:avLst/>
            </a:prstGeom>
          </p:spPr>
          <p:txBody>
            <a:bodyPr anchor="ctr" rtlCol="false" tIns="0" lIns="0" bIns="0" rIns="0"/>
            <a:lstStyle/>
            <a:p>
              <a:pPr algn="l">
                <a:lnSpc>
                  <a:spcPts val="3600"/>
                </a:lnSpc>
              </a:pPr>
              <a:r>
                <a:rPr lang="en-US" sz="3000">
                  <a:solidFill>
                    <a:srgbClr val="000000"/>
                  </a:solidFill>
                  <a:latin typeface="Calibri (MS)"/>
                  <a:ea typeface="Calibri (MS)"/>
                  <a:cs typeface="Calibri (MS)"/>
                  <a:sym typeface="Calibri (MS)"/>
                </a:rPr>
                <a:t>Results and Insights</a:t>
              </a:r>
            </a:p>
          </p:txBody>
        </p:sp>
      </p:grpSp>
      <p:grpSp>
        <p:nvGrpSpPr>
          <p:cNvPr name="Group 33" id="33"/>
          <p:cNvGrpSpPr/>
          <p:nvPr/>
        </p:nvGrpSpPr>
        <p:grpSpPr>
          <a:xfrm rot="0">
            <a:off x="2834064" y="6686754"/>
            <a:ext cx="63532" cy="387572"/>
            <a:chOff x="0" y="0"/>
            <a:chExt cx="84709" cy="516763"/>
          </a:xfrm>
        </p:grpSpPr>
        <p:sp>
          <p:nvSpPr>
            <p:cNvPr name="Freeform 34" id="34"/>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35" id="35"/>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6" id="36"/>
          <p:cNvGrpSpPr/>
          <p:nvPr/>
        </p:nvGrpSpPr>
        <p:grpSpPr>
          <a:xfrm rot="0">
            <a:off x="3113147" y="7164090"/>
            <a:ext cx="8279100" cy="572040"/>
            <a:chOff x="0" y="0"/>
            <a:chExt cx="11038800" cy="762719"/>
          </a:xfrm>
        </p:grpSpPr>
        <p:sp>
          <p:nvSpPr>
            <p:cNvPr name="Freeform 37" id="37"/>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38" id="38"/>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Conclusion</a:t>
              </a:r>
            </a:p>
          </p:txBody>
        </p:sp>
      </p:grpSp>
      <p:grpSp>
        <p:nvGrpSpPr>
          <p:cNvPr name="Group 39" id="39"/>
          <p:cNvGrpSpPr/>
          <p:nvPr/>
        </p:nvGrpSpPr>
        <p:grpSpPr>
          <a:xfrm rot="0">
            <a:off x="2834064" y="7278882"/>
            <a:ext cx="63532" cy="387572"/>
            <a:chOff x="0" y="0"/>
            <a:chExt cx="84709" cy="516763"/>
          </a:xfrm>
        </p:grpSpPr>
        <p:sp>
          <p:nvSpPr>
            <p:cNvPr name="Freeform 40" id="4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1" id="4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2" id="42"/>
          <p:cNvGrpSpPr/>
          <p:nvPr/>
        </p:nvGrpSpPr>
        <p:grpSpPr>
          <a:xfrm rot="0">
            <a:off x="3113147" y="7866568"/>
            <a:ext cx="8279100" cy="429786"/>
            <a:chOff x="0" y="0"/>
            <a:chExt cx="11038800" cy="573049"/>
          </a:xfrm>
        </p:grpSpPr>
        <p:sp>
          <p:nvSpPr>
            <p:cNvPr name="Freeform 43" id="43"/>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44" id="44"/>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Q&amp;A</a:t>
              </a:r>
            </a:p>
          </p:txBody>
        </p:sp>
      </p:grpSp>
      <p:grpSp>
        <p:nvGrpSpPr>
          <p:cNvPr name="Group 45" id="45"/>
          <p:cNvGrpSpPr/>
          <p:nvPr/>
        </p:nvGrpSpPr>
        <p:grpSpPr>
          <a:xfrm rot="0">
            <a:off x="2834064" y="7874407"/>
            <a:ext cx="63532" cy="387571"/>
            <a:chOff x="0" y="0"/>
            <a:chExt cx="84709" cy="516762"/>
          </a:xfrm>
        </p:grpSpPr>
        <p:sp>
          <p:nvSpPr>
            <p:cNvPr name="Freeform 46" id="4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7" id="4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8" id="48"/>
          <p:cNvGrpSpPr/>
          <p:nvPr/>
        </p:nvGrpSpPr>
        <p:grpSpPr>
          <a:xfrm rot="0">
            <a:off x="3113147" y="5391524"/>
            <a:ext cx="8279100" cy="572040"/>
            <a:chOff x="0" y="0"/>
            <a:chExt cx="11038800" cy="762719"/>
          </a:xfrm>
        </p:grpSpPr>
        <p:sp>
          <p:nvSpPr>
            <p:cNvPr name="Freeform 49" id="49"/>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50" id="50"/>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The Solution </a:t>
              </a:r>
            </a:p>
          </p:txBody>
        </p:sp>
      </p:grpSp>
      <p:grpSp>
        <p:nvGrpSpPr>
          <p:cNvPr name="Group 51" id="51"/>
          <p:cNvGrpSpPr/>
          <p:nvPr/>
        </p:nvGrpSpPr>
        <p:grpSpPr>
          <a:xfrm rot="0">
            <a:off x="2834064" y="5399362"/>
            <a:ext cx="63532" cy="387572"/>
            <a:chOff x="0" y="0"/>
            <a:chExt cx="84709" cy="516763"/>
          </a:xfrm>
        </p:grpSpPr>
        <p:sp>
          <p:nvSpPr>
            <p:cNvPr name="Freeform 52" id="5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53" id="5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1F497D"/>
        </a:solidFill>
      </p:bgPr>
    </p:bg>
    <p:spTree>
      <p:nvGrpSpPr>
        <p:cNvPr id="1" name=""/>
        <p:cNvGrpSpPr/>
        <p:nvPr/>
      </p:nvGrpSpPr>
      <p:grpSpPr>
        <a:xfrm>
          <a:off x="0" y="0"/>
          <a:ext cx="0" cy="0"/>
          <a:chOff x="0" y="0"/>
          <a:chExt cx="0" cy="0"/>
        </a:xfrm>
      </p:grpSpPr>
      <p:sp>
        <p:nvSpPr>
          <p:cNvPr name="TextBox 2" id="2"/>
          <p:cNvSpPr txBox="true"/>
          <p:nvPr/>
        </p:nvSpPr>
        <p:spPr>
          <a:xfrm rot="0">
            <a:off x="2773722" y="1018277"/>
            <a:ext cx="4359712" cy="1143000"/>
          </a:xfrm>
          <a:prstGeom prst="rect">
            <a:avLst/>
          </a:prstGeom>
        </p:spPr>
        <p:txBody>
          <a:bodyPr anchor="t" rtlCol="false" tIns="0" lIns="0" bIns="0" rIns="0">
            <a:spAutoFit/>
          </a:bodyPr>
          <a:lstStyle/>
          <a:p>
            <a:pPr algn="l">
              <a:lnSpc>
                <a:spcPts val="7920"/>
              </a:lnSpc>
            </a:pPr>
            <a:r>
              <a:rPr lang="en-US" sz="6600" b="true">
                <a:solidFill>
                  <a:srgbClr val="FFFFFF"/>
                </a:solidFill>
                <a:latin typeface="Calibri (MS) Bold"/>
                <a:ea typeface="Calibri (MS) Bold"/>
                <a:cs typeface="Calibri (MS) Bold"/>
                <a:sym typeface="Calibri (MS) Bold"/>
              </a:rPr>
              <a:t>Introduction</a:t>
            </a:r>
          </a:p>
        </p:txBody>
      </p:sp>
      <p:grpSp>
        <p:nvGrpSpPr>
          <p:cNvPr name="Group 3" id="3"/>
          <p:cNvGrpSpPr/>
          <p:nvPr/>
        </p:nvGrpSpPr>
        <p:grpSpPr>
          <a:xfrm rot="0">
            <a:off x="2712593" y="2821904"/>
            <a:ext cx="51604" cy="5232631"/>
            <a:chOff x="0" y="0"/>
            <a:chExt cx="57151" cy="5795061"/>
          </a:xfrm>
        </p:grpSpPr>
        <p:sp>
          <p:nvSpPr>
            <p:cNvPr name="Freeform 4" id="4"/>
            <p:cNvSpPr/>
            <p:nvPr/>
          </p:nvSpPr>
          <p:spPr>
            <a:xfrm flipH="false" flipV="false" rot="0">
              <a:off x="0" y="0"/>
              <a:ext cx="57150" cy="5795010"/>
            </a:xfrm>
            <a:custGeom>
              <a:avLst/>
              <a:gdLst/>
              <a:ahLst/>
              <a:cxnLst/>
              <a:rect r="r" b="b" t="t" l="l"/>
              <a:pathLst>
                <a:path h="5795010" w="57150">
                  <a:moveTo>
                    <a:pt x="38100" y="19050"/>
                  </a:moveTo>
                  <a:lnTo>
                    <a:pt x="57150" y="5775960"/>
                  </a:lnTo>
                  <a:cubicBezTo>
                    <a:pt x="57150" y="5786501"/>
                    <a:pt x="48641" y="5795010"/>
                    <a:pt x="38100" y="5795010"/>
                  </a:cubicBezTo>
                  <a:cubicBezTo>
                    <a:pt x="27559" y="5795010"/>
                    <a:pt x="19050" y="5786501"/>
                    <a:pt x="19050" y="5775960"/>
                  </a:cubicBezTo>
                  <a:lnTo>
                    <a:pt x="0" y="19050"/>
                  </a:lnTo>
                  <a:cubicBezTo>
                    <a:pt x="0" y="8636"/>
                    <a:pt x="8509" y="0"/>
                    <a:pt x="19050" y="0"/>
                  </a:cubicBezTo>
                  <a:cubicBezTo>
                    <a:pt x="29591" y="0"/>
                    <a:pt x="38100" y="8509"/>
                    <a:pt x="38100" y="19050"/>
                  </a:cubicBezTo>
                  <a:close/>
                </a:path>
              </a:pathLst>
            </a:custGeom>
            <a:solidFill>
              <a:srgbClr val="FFFFFF"/>
            </a:solidFill>
            <a:ln w="12700">
              <a:solidFill>
                <a:srgbClr val="000000"/>
              </a:solidFill>
            </a:ln>
          </p:spPr>
        </p:sp>
      </p:grpSp>
      <p:sp>
        <p:nvSpPr>
          <p:cNvPr name="TextBox 5" id="5"/>
          <p:cNvSpPr txBox="true"/>
          <p:nvPr/>
        </p:nvSpPr>
        <p:spPr>
          <a:xfrm rot="0">
            <a:off x="3121757" y="2745704"/>
            <a:ext cx="13151684" cy="5755116"/>
          </a:xfrm>
          <a:prstGeom prst="rect">
            <a:avLst/>
          </a:prstGeom>
        </p:spPr>
        <p:txBody>
          <a:bodyPr anchor="t" rtlCol="false" tIns="0" lIns="0" bIns="0" rIns="0">
            <a:spAutoFit/>
          </a:bodyPr>
          <a:lstStyle/>
          <a:p>
            <a:pPr algn="l" marL="0" indent="0" lvl="0">
              <a:lnSpc>
                <a:spcPts val="4500"/>
              </a:lnSpc>
              <a:spcBef>
                <a:spcPct val="0"/>
              </a:spcBef>
            </a:pPr>
            <a:r>
              <a:rPr lang="en-US" sz="3750" strike="noStrike" u="none">
                <a:solidFill>
                  <a:srgbClr val="FFFFFF"/>
                </a:solidFill>
                <a:latin typeface="Calibri (MS)"/>
                <a:ea typeface="Calibri (MS)"/>
                <a:cs typeface="Calibri (MS)"/>
                <a:sym typeface="Calibri (MS)"/>
              </a:rPr>
              <a:t>Urban areas generate continuous streams of data from traffic flow, environmental sensors, and public activity. This project delivers an integrated data engineering platform that monitors congestion levels, detects pollution hotspots, and provides both real-time and historical insights.</a:t>
            </a:r>
          </a:p>
          <a:p>
            <a:pPr algn="l" marL="0" indent="0" lvl="0">
              <a:lnSpc>
                <a:spcPts val="4500"/>
              </a:lnSpc>
              <a:spcBef>
                <a:spcPct val="0"/>
              </a:spcBef>
            </a:pPr>
            <a:r>
              <a:rPr lang="en-US" sz="3750" strike="noStrike" u="none">
                <a:solidFill>
                  <a:srgbClr val="FFFFFF"/>
                </a:solidFill>
                <a:latin typeface="Calibri (MS)"/>
                <a:ea typeface="Calibri (MS)"/>
                <a:cs typeface="Calibri (MS)"/>
                <a:sym typeface="Calibri (MS)"/>
              </a:rPr>
              <a:t>The system sends instant alerts to citizens about crowded areas and notifies government authorities when dangerous pollution levels are detected, enabling safer mobility and more efficient city management.</a:t>
            </a:r>
          </a:p>
          <a:p>
            <a:pPr algn="l" marL="0" indent="0" lvl="0">
              <a:lnSpc>
                <a:spcPts val="45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62" y="-4762"/>
            <a:ext cx="18297525" cy="3115342"/>
            <a:chOff x="0" y="0"/>
            <a:chExt cx="24396700" cy="4153789"/>
          </a:xfrm>
        </p:grpSpPr>
        <p:sp>
          <p:nvSpPr>
            <p:cNvPr name="Freeform 3" id="3"/>
            <p:cNvSpPr/>
            <p:nvPr/>
          </p:nvSpPr>
          <p:spPr>
            <a:xfrm flipH="false" flipV="false" rot="0">
              <a:off x="8509" y="8509"/>
              <a:ext cx="24384001" cy="4141089"/>
            </a:xfrm>
            <a:custGeom>
              <a:avLst/>
              <a:gdLst/>
              <a:ahLst/>
              <a:cxnLst/>
              <a:rect r="r" b="b" t="t" l="l"/>
              <a:pathLst>
                <a:path h="4141089" w="24384001">
                  <a:moveTo>
                    <a:pt x="0" y="0"/>
                  </a:moveTo>
                  <a:lnTo>
                    <a:pt x="24384001" y="0"/>
                  </a:lnTo>
                  <a:lnTo>
                    <a:pt x="24384001" y="4141089"/>
                  </a:lnTo>
                  <a:lnTo>
                    <a:pt x="0" y="4141089"/>
                  </a:lnTo>
                  <a:close/>
                </a:path>
              </a:pathLst>
            </a:custGeom>
            <a:solidFill>
              <a:srgbClr val="1F497D"/>
            </a:solidFill>
            <a:ln w="12700">
              <a:solidFill>
                <a:srgbClr val="000000"/>
              </a:solidFill>
            </a:ln>
          </p:spPr>
        </p:sp>
        <p:sp>
          <p:nvSpPr>
            <p:cNvPr name="Freeform 4" id="4"/>
            <p:cNvSpPr/>
            <p:nvPr/>
          </p:nvSpPr>
          <p:spPr>
            <a:xfrm flipH="false" flipV="false" rot="0">
              <a:off x="0" y="0"/>
              <a:ext cx="24401018" cy="4158107"/>
            </a:xfrm>
            <a:custGeom>
              <a:avLst/>
              <a:gdLst/>
              <a:ahLst/>
              <a:cxnLst/>
              <a:rect r="r" b="b" t="t" l="l"/>
              <a:pathLst>
                <a:path h="4158107" w="24401018">
                  <a:moveTo>
                    <a:pt x="8509" y="0"/>
                  </a:moveTo>
                  <a:lnTo>
                    <a:pt x="24392510" y="0"/>
                  </a:lnTo>
                  <a:cubicBezTo>
                    <a:pt x="24397208" y="0"/>
                    <a:pt x="24401018" y="3810"/>
                    <a:pt x="24401018" y="8509"/>
                  </a:cubicBezTo>
                  <a:lnTo>
                    <a:pt x="24401018" y="4149598"/>
                  </a:lnTo>
                  <a:cubicBezTo>
                    <a:pt x="24401018" y="4154297"/>
                    <a:pt x="24397208" y="4158107"/>
                    <a:pt x="24392510" y="4158107"/>
                  </a:cubicBezTo>
                  <a:lnTo>
                    <a:pt x="8509" y="4158107"/>
                  </a:lnTo>
                  <a:cubicBezTo>
                    <a:pt x="3810" y="4158107"/>
                    <a:pt x="0" y="4154297"/>
                    <a:pt x="0" y="4149598"/>
                  </a:cubicBezTo>
                  <a:lnTo>
                    <a:pt x="0" y="8509"/>
                  </a:lnTo>
                  <a:cubicBezTo>
                    <a:pt x="0" y="3810"/>
                    <a:pt x="3810" y="0"/>
                    <a:pt x="8509" y="0"/>
                  </a:cubicBezTo>
                  <a:moveTo>
                    <a:pt x="8509" y="16891"/>
                  </a:moveTo>
                  <a:lnTo>
                    <a:pt x="8509" y="8509"/>
                  </a:lnTo>
                  <a:lnTo>
                    <a:pt x="17018" y="8509"/>
                  </a:lnTo>
                  <a:lnTo>
                    <a:pt x="17018" y="4149598"/>
                  </a:lnTo>
                  <a:lnTo>
                    <a:pt x="8509" y="4149598"/>
                  </a:lnTo>
                  <a:lnTo>
                    <a:pt x="8509" y="4141089"/>
                  </a:lnTo>
                  <a:lnTo>
                    <a:pt x="24392510" y="4141089"/>
                  </a:lnTo>
                  <a:lnTo>
                    <a:pt x="24392510" y="4149598"/>
                  </a:lnTo>
                  <a:lnTo>
                    <a:pt x="24384000" y="4149598"/>
                  </a:lnTo>
                  <a:lnTo>
                    <a:pt x="24384000" y="8509"/>
                  </a:lnTo>
                  <a:lnTo>
                    <a:pt x="24392510" y="8509"/>
                  </a:lnTo>
                  <a:lnTo>
                    <a:pt x="24392510" y="17018"/>
                  </a:lnTo>
                  <a:lnTo>
                    <a:pt x="8509" y="17018"/>
                  </a:lnTo>
                  <a:close/>
                </a:path>
              </a:pathLst>
            </a:custGeom>
            <a:solidFill>
              <a:srgbClr val="000000"/>
            </a:solidFill>
            <a:ln w="12700">
              <a:solidFill>
                <a:srgbClr val="000000"/>
              </a:solidFill>
            </a:ln>
          </p:spPr>
        </p:sp>
      </p:grpSp>
      <p:sp>
        <p:nvSpPr>
          <p:cNvPr name="TextBox 5" id="5"/>
          <p:cNvSpPr txBox="true"/>
          <p:nvPr/>
        </p:nvSpPr>
        <p:spPr>
          <a:xfrm rot="0">
            <a:off x="2555082" y="1183892"/>
            <a:ext cx="7433550" cy="978991"/>
          </a:xfrm>
          <a:prstGeom prst="rect">
            <a:avLst/>
          </a:prstGeom>
        </p:spPr>
        <p:txBody>
          <a:bodyPr anchor="t" rtlCol="false" tIns="0" lIns="0" bIns="0" rIns="0">
            <a:spAutoFit/>
          </a:bodyPr>
          <a:lstStyle/>
          <a:p>
            <a:pPr algn="l">
              <a:lnSpc>
                <a:spcPts val="5999"/>
              </a:lnSpc>
            </a:pPr>
            <a:r>
              <a:rPr lang="en-US" sz="4999" b="true">
                <a:solidFill>
                  <a:srgbClr val="FFFFFF"/>
                </a:solidFill>
                <a:latin typeface="Calibri (MS) Bold"/>
                <a:ea typeface="Calibri (MS) Bold"/>
                <a:cs typeface="Calibri (MS) Bold"/>
                <a:sym typeface="Calibri (MS) Bold"/>
              </a:rPr>
              <a:t>Agenda</a:t>
            </a:r>
          </a:p>
        </p:txBody>
      </p:sp>
      <p:grpSp>
        <p:nvGrpSpPr>
          <p:cNvPr name="Group 6" id="6"/>
          <p:cNvGrpSpPr/>
          <p:nvPr/>
        </p:nvGrpSpPr>
        <p:grpSpPr>
          <a:xfrm rot="0">
            <a:off x="3113147" y="3708228"/>
            <a:ext cx="8279100" cy="429785"/>
            <a:chOff x="0" y="0"/>
            <a:chExt cx="11038800" cy="573047"/>
          </a:xfrm>
        </p:grpSpPr>
        <p:sp>
          <p:nvSpPr>
            <p:cNvPr name="Freeform 7" id="7"/>
            <p:cNvSpPr/>
            <p:nvPr/>
          </p:nvSpPr>
          <p:spPr>
            <a:xfrm flipH="false" flipV="false" rot="0">
              <a:off x="0" y="0"/>
              <a:ext cx="11038800" cy="573047"/>
            </a:xfrm>
            <a:custGeom>
              <a:avLst/>
              <a:gdLst/>
              <a:ahLst/>
              <a:cxnLst/>
              <a:rect r="r" b="b" t="t" l="l"/>
              <a:pathLst>
                <a:path h="573047" w="11038800">
                  <a:moveTo>
                    <a:pt x="0" y="0"/>
                  </a:moveTo>
                  <a:lnTo>
                    <a:pt x="11038800" y="0"/>
                  </a:lnTo>
                  <a:lnTo>
                    <a:pt x="11038800" y="573047"/>
                  </a:lnTo>
                  <a:lnTo>
                    <a:pt x="0" y="573047"/>
                  </a:lnTo>
                  <a:close/>
                </a:path>
              </a:pathLst>
            </a:custGeom>
            <a:solidFill>
              <a:srgbClr val="000000">
                <a:alpha val="0"/>
              </a:srgbClr>
            </a:solidFill>
          </p:spPr>
        </p:sp>
        <p:sp>
          <p:nvSpPr>
            <p:cNvPr name="TextBox 8" id="8"/>
            <p:cNvSpPr txBox="true"/>
            <p:nvPr/>
          </p:nvSpPr>
          <p:spPr>
            <a:xfrm>
              <a:off x="0" y="-19050"/>
              <a:ext cx="11038800" cy="592097"/>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Team</a:t>
              </a:r>
            </a:p>
          </p:txBody>
        </p:sp>
      </p:grpSp>
      <p:grpSp>
        <p:nvGrpSpPr>
          <p:cNvPr name="Group 9" id="9"/>
          <p:cNvGrpSpPr/>
          <p:nvPr/>
        </p:nvGrpSpPr>
        <p:grpSpPr>
          <a:xfrm rot="0">
            <a:off x="2834064" y="3716068"/>
            <a:ext cx="63532" cy="387572"/>
            <a:chOff x="0" y="0"/>
            <a:chExt cx="84709" cy="516763"/>
          </a:xfrm>
        </p:grpSpPr>
        <p:sp>
          <p:nvSpPr>
            <p:cNvPr name="Freeform 10" id="1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11" id="1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2" id="12"/>
          <p:cNvGrpSpPr/>
          <p:nvPr/>
        </p:nvGrpSpPr>
        <p:grpSpPr>
          <a:xfrm rot="0">
            <a:off x="3113147" y="4291846"/>
            <a:ext cx="8279100" cy="429786"/>
            <a:chOff x="0" y="0"/>
            <a:chExt cx="11038800" cy="573049"/>
          </a:xfrm>
        </p:grpSpPr>
        <p:sp>
          <p:nvSpPr>
            <p:cNvPr name="Freeform 13" id="13"/>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14" id="14"/>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Introduction</a:t>
              </a:r>
            </a:p>
          </p:txBody>
        </p:sp>
      </p:grpSp>
      <p:grpSp>
        <p:nvGrpSpPr>
          <p:cNvPr name="Group 15" id="15"/>
          <p:cNvGrpSpPr/>
          <p:nvPr/>
        </p:nvGrpSpPr>
        <p:grpSpPr>
          <a:xfrm rot="0">
            <a:off x="2834064" y="4299685"/>
            <a:ext cx="63532" cy="387571"/>
            <a:chOff x="0" y="0"/>
            <a:chExt cx="84709" cy="516762"/>
          </a:xfrm>
        </p:grpSpPr>
        <p:sp>
          <p:nvSpPr>
            <p:cNvPr name="Freeform 16" id="1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17" id="1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8" id="18"/>
          <p:cNvGrpSpPr/>
          <p:nvPr/>
        </p:nvGrpSpPr>
        <p:grpSpPr>
          <a:xfrm rot="0">
            <a:off x="3113147" y="4831492"/>
            <a:ext cx="8279100" cy="575214"/>
            <a:chOff x="0" y="0"/>
            <a:chExt cx="11038800" cy="766953"/>
          </a:xfrm>
        </p:grpSpPr>
        <p:sp>
          <p:nvSpPr>
            <p:cNvPr name="Freeform 19" id="19"/>
            <p:cNvSpPr/>
            <p:nvPr/>
          </p:nvSpPr>
          <p:spPr>
            <a:xfrm flipH="false" flipV="false" rot="0">
              <a:off x="0" y="0"/>
              <a:ext cx="11038800" cy="766953"/>
            </a:xfrm>
            <a:custGeom>
              <a:avLst/>
              <a:gdLst/>
              <a:ahLst/>
              <a:cxnLst/>
              <a:rect r="r" b="b" t="t" l="l"/>
              <a:pathLst>
                <a:path h="766953" w="11038800">
                  <a:moveTo>
                    <a:pt x="0" y="0"/>
                  </a:moveTo>
                  <a:lnTo>
                    <a:pt x="11038800" y="0"/>
                  </a:lnTo>
                  <a:lnTo>
                    <a:pt x="11038800" y="766953"/>
                  </a:lnTo>
                  <a:lnTo>
                    <a:pt x="0" y="766953"/>
                  </a:lnTo>
                  <a:close/>
                </a:path>
              </a:pathLst>
            </a:custGeom>
            <a:solidFill>
              <a:srgbClr val="000000">
                <a:alpha val="0"/>
              </a:srgbClr>
            </a:solidFill>
          </p:spPr>
        </p:sp>
        <p:sp>
          <p:nvSpPr>
            <p:cNvPr name="TextBox 20" id="20"/>
            <p:cNvSpPr txBox="true"/>
            <p:nvPr/>
          </p:nvSpPr>
          <p:spPr>
            <a:xfrm>
              <a:off x="0" y="-19050"/>
              <a:ext cx="11038800" cy="786003"/>
            </a:xfrm>
            <a:prstGeom prst="rect">
              <a:avLst/>
            </a:prstGeom>
          </p:spPr>
          <p:txBody>
            <a:bodyPr anchor="ctr" rtlCol="false" tIns="0" lIns="0" bIns="0" rIns="0"/>
            <a:lstStyle/>
            <a:p>
              <a:pPr algn="l">
                <a:lnSpc>
                  <a:spcPts val="3240"/>
                </a:lnSpc>
              </a:pPr>
              <a:r>
                <a:rPr lang="en-US" sz="2700" b="true">
                  <a:solidFill>
                    <a:srgbClr val="000000"/>
                  </a:solidFill>
                  <a:latin typeface="Arial Bold"/>
                  <a:ea typeface="Arial Bold"/>
                  <a:cs typeface="Arial Bold"/>
                  <a:sym typeface="Arial Bold"/>
                </a:rPr>
                <a:t>The Business Challenge</a:t>
              </a:r>
            </a:p>
          </p:txBody>
        </p:sp>
      </p:grpSp>
      <p:grpSp>
        <p:nvGrpSpPr>
          <p:cNvPr name="Group 21" id="21"/>
          <p:cNvGrpSpPr/>
          <p:nvPr/>
        </p:nvGrpSpPr>
        <p:grpSpPr>
          <a:xfrm rot="0">
            <a:off x="2834064" y="4839331"/>
            <a:ext cx="63532" cy="387571"/>
            <a:chOff x="0" y="0"/>
            <a:chExt cx="84709" cy="516762"/>
          </a:xfrm>
        </p:grpSpPr>
        <p:sp>
          <p:nvSpPr>
            <p:cNvPr name="Freeform 22" id="2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193EB0"/>
            </a:solidFill>
            <a:ln w="12700">
              <a:solidFill>
                <a:srgbClr val="000000"/>
              </a:solidFill>
            </a:ln>
          </p:spPr>
        </p:sp>
        <p:sp>
          <p:nvSpPr>
            <p:cNvPr name="Freeform 23" id="2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24" id="24"/>
          <p:cNvGrpSpPr/>
          <p:nvPr/>
        </p:nvGrpSpPr>
        <p:grpSpPr>
          <a:xfrm rot="0">
            <a:off x="3113147" y="6048244"/>
            <a:ext cx="8279100" cy="429786"/>
            <a:chOff x="0" y="0"/>
            <a:chExt cx="11038800" cy="573049"/>
          </a:xfrm>
        </p:grpSpPr>
        <p:sp>
          <p:nvSpPr>
            <p:cNvPr name="Freeform 25" id="25"/>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26" id="26"/>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Methodology</a:t>
              </a:r>
            </a:p>
          </p:txBody>
        </p:sp>
      </p:grpSp>
      <p:grpSp>
        <p:nvGrpSpPr>
          <p:cNvPr name="Group 27" id="27"/>
          <p:cNvGrpSpPr/>
          <p:nvPr/>
        </p:nvGrpSpPr>
        <p:grpSpPr>
          <a:xfrm rot="0">
            <a:off x="2834064" y="6056101"/>
            <a:ext cx="63532" cy="387571"/>
            <a:chOff x="0" y="0"/>
            <a:chExt cx="84709" cy="516762"/>
          </a:xfrm>
        </p:grpSpPr>
        <p:sp>
          <p:nvSpPr>
            <p:cNvPr name="Freeform 28" id="28"/>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29" id="29"/>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0" id="30"/>
          <p:cNvGrpSpPr/>
          <p:nvPr/>
        </p:nvGrpSpPr>
        <p:grpSpPr>
          <a:xfrm rot="0">
            <a:off x="3113147" y="6523274"/>
            <a:ext cx="8279100" cy="655104"/>
            <a:chOff x="0" y="0"/>
            <a:chExt cx="11038800" cy="873472"/>
          </a:xfrm>
        </p:grpSpPr>
        <p:sp>
          <p:nvSpPr>
            <p:cNvPr name="Freeform 31" id="31"/>
            <p:cNvSpPr/>
            <p:nvPr/>
          </p:nvSpPr>
          <p:spPr>
            <a:xfrm flipH="false" flipV="false" rot="0">
              <a:off x="0" y="0"/>
              <a:ext cx="11038800" cy="873472"/>
            </a:xfrm>
            <a:custGeom>
              <a:avLst/>
              <a:gdLst/>
              <a:ahLst/>
              <a:cxnLst/>
              <a:rect r="r" b="b" t="t" l="l"/>
              <a:pathLst>
                <a:path h="873472" w="11038800">
                  <a:moveTo>
                    <a:pt x="0" y="0"/>
                  </a:moveTo>
                  <a:lnTo>
                    <a:pt x="11038800" y="0"/>
                  </a:lnTo>
                  <a:lnTo>
                    <a:pt x="11038800" y="873472"/>
                  </a:lnTo>
                  <a:lnTo>
                    <a:pt x="0" y="873472"/>
                  </a:lnTo>
                  <a:close/>
                </a:path>
              </a:pathLst>
            </a:custGeom>
            <a:solidFill>
              <a:srgbClr val="000000">
                <a:alpha val="0"/>
              </a:srgbClr>
            </a:solidFill>
          </p:spPr>
        </p:sp>
        <p:sp>
          <p:nvSpPr>
            <p:cNvPr name="TextBox 32" id="32"/>
            <p:cNvSpPr txBox="true"/>
            <p:nvPr/>
          </p:nvSpPr>
          <p:spPr>
            <a:xfrm>
              <a:off x="0" y="-66675"/>
              <a:ext cx="11038800" cy="940147"/>
            </a:xfrm>
            <a:prstGeom prst="rect">
              <a:avLst/>
            </a:prstGeom>
          </p:spPr>
          <p:txBody>
            <a:bodyPr anchor="ctr" rtlCol="false" tIns="0" lIns="0" bIns="0" rIns="0"/>
            <a:lstStyle/>
            <a:p>
              <a:pPr algn="l">
                <a:lnSpc>
                  <a:spcPts val="3600"/>
                </a:lnSpc>
              </a:pPr>
              <a:r>
                <a:rPr lang="en-US" sz="3000">
                  <a:solidFill>
                    <a:srgbClr val="000000"/>
                  </a:solidFill>
                  <a:latin typeface="Calibri (MS)"/>
                  <a:ea typeface="Calibri (MS)"/>
                  <a:cs typeface="Calibri (MS)"/>
                  <a:sym typeface="Calibri (MS)"/>
                </a:rPr>
                <a:t>Results and Insights</a:t>
              </a:r>
            </a:p>
          </p:txBody>
        </p:sp>
      </p:grpSp>
      <p:grpSp>
        <p:nvGrpSpPr>
          <p:cNvPr name="Group 33" id="33"/>
          <p:cNvGrpSpPr/>
          <p:nvPr/>
        </p:nvGrpSpPr>
        <p:grpSpPr>
          <a:xfrm rot="0">
            <a:off x="2834064" y="6686754"/>
            <a:ext cx="63532" cy="387572"/>
            <a:chOff x="0" y="0"/>
            <a:chExt cx="84709" cy="516763"/>
          </a:xfrm>
        </p:grpSpPr>
        <p:sp>
          <p:nvSpPr>
            <p:cNvPr name="Freeform 34" id="34"/>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35" id="35"/>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6" id="36"/>
          <p:cNvGrpSpPr/>
          <p:nvPr/>
        </p:nvGrpSpPr>
        <p:grpSpPr>
          <a:xfrm rot="0">
            <a:off x="3113147" y="7164090"/>
            <a:ext cx="8279100" cy="572040"/>
            <a:chOff x="0" y="0"/>
            <a:chExt cx="11038800" cy="762719"/>
          </a:xfrm>
        </p:grpSpPr>
        <p:sp>
          <p:nvSpPr>
            <p:cNvPr name="Freeform 37" id="37"/>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38" id="38"/>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Conclusion</a:t>
              </a:r>
            </a:p>
          </p:txBody>
        </p:sp>
      </p:grpSp>
      <p:grpSp>
        <p:nvGrpSpPr>
          <p:cNvPr name="Group 39" id="39"/>
          <p:cNvGrpSpPr/>
          <p:nvPr/>
        </p:nvGrpSpPr>
        <p:grpSpPr>
          <a:xfrm rot="0">
            <a:off x="2834064" y="7278882"/>
            <a:ext cx="63532" cy="387572"/>
            <a:chOff x="0" y="0"/>
            <a:chExt cx="84709" cy="516763"/>
          </a:xfrm>
        </p:grpSpPr>
        <p:sp>
          <p:nvSpPr>
            <p:cNvPr name="Freeform 40" id="4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1" id="4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2" id="42"/>
          <p:cNvGrpSpPr/>
          <p:nvPr/>
        </p:nvGrpSpPr>
        <p:grpSpPr>
          <a:xfrm rot="0">
            <a:off x="3113147" y="7866568"/>
            <a:ext cx="8279100" cy="429786"/>
            <a:chOff x="0" y="0"/>
            <a:chExt cx="11038800" cy="573049"/>
          </a:xfrm>
        </p:grpSpPr>
        <p:sp>
          <p:nvSpPr>
            <p:cNvPr name="Freeform 43" id="43"/>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44" id="44"/>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Q&amp;A</a:t>
              </a:r>
            </a:p>
          </p:txBody>
        </p:sp>
      </p:grpSp>
      <p:grpSp>
        <p:nvGrpSpPr>
          <p:cNvPr name="Group 45" id="45"/>
          <p:cNvGrpSpPr/>
          <p:nvPr/>
        </p:nvGrpSpPr>
        <p:grpSpPr>
          <a:xfrm rot="0">
            <a:off x="2834064" y="7874407"/>
            <a:ext cx="63532" cy="387571"/>
            <a:chOff x="0" y="0"/>
            <a:chExt cx="84709" cy="516762"/>
          </a:xfrm>
        </p:grpSpPr>
        <p:sp>
          <p:nvSpPr>
            <p:cNvPr name="Freeform 46" id="4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7" id="4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8" id="48"/>
          <p:cNvGrpSpPr/>
          <p:nvPr/>
        </p:nvGrpSpPr>
        <p:grpSpPr>
          <a:xfrm rot="0">
            <a:off x="3113147" y="5391524"/>
            <a:ext cx="8279100" cy="572040"/>
            <a:chOff x="0" y="0"/>
            <a:chExt cx="11038800" cy="762719"/>
          </a:xfrm>
        </p:grpSpPr>
        <p:sp>
          <p:nvSpPr>
            <p:cNvPr name="Freeform 49" id="49"/>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50" id="50"/>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The Solution </a:t>
              </a:r>
            </a:p>
          </p:txBody>
        </p:sp>
      </p:grpSp>
      <p:grpSp>
        <p:nvGrpSpPr>
          <p:cNvPr name="Group 51" id="51"/>
          <p:cNvGrpSpPr/>
          <p:nvPr/>
        </p:nvGrpSpPr>
        <p:grpSpPr>
          <a:xfrm rot="0">
            <a:off x="2834064" y="5399362"/>
            <a:ext cx="63532" cy="387572"/>
            <a:chOff x="0" y="0"/>
            <a:chExt cx="84709" cy="516763"/>
          </a:xfrm>
        </p:grpSpPr>
        <p:sp>
          <p:nvSpPr>
            <p:cNvPr name="Freeform 52" id="5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53" id="5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F497D"/>
        </a:solidFill>
      </p:bgPr>
    </p:bg>
    <p:spTree>
      <p:nvGrpSpPr>
        <p:cNvPr id="1" name=""/>
        <p:cNvGrpSpPr/>
        <p:nvPr/>
      </p:nvGrpSpPr>
      <p:grpSpPr>
        <a:xfrm>
          <a:off x="0" y="0"/>
          <a:ext cx="0" cy="0"/>
          <a:chOff x="0" y="0"/>
          <a:chExt cx="0" cy="0"/>
        </a:xfrm>
      </p:grpSpPr>
      <p:sp>
        <p:nvSpPr>
          <p:cNvPr name="TextBox 2" id="2"/>
          <p:cNvSpPr txBox="true"/>
          <p:nvPr/>
        </p:nvSpPr>
        <p:spPr>
          <a:xfrm rot="0">
            <a:off x="2720519" y="1765364"/>
            <a:ext cx="8076367" cy="1143000"/>
          </a:xfrm>
          <a:prstGeom prst="rect">
            <a:avLst/>
          </a:prstGeom>
        </p:spPr>
        <p:txBody>
          <a:bodyPr anchor="t" rtlCol="false" tIns="0" lIns="0" bIns="0" rIns="0">
            <a:spAutoFit/>
          </a:bodyPr>
          <a:lstStyle/>
          <a:p>
            <a:pPr algn="l">
              <a:lnSpc>
                <a:spcPts val="7920"/>
              </a:lnSpc>
            </a:pPr>
            <a:r>
              <a:rPr lang="en-US" sz="6600" b="true">
                <a:solidFill>
                  <a:srgbClr val="FFFFFF"/>
                </a:solidFill>
                <a:latin typeface="Calibri (MS) Bold"/>
                <a:ea typeface="Calibri (MS) Bold"/>
                <a:cs typeface="Calibri (MS) Bold"/>
                <a:sym typeface="Calibri (MS) Bold"/>
              </a:rPr>
              <a:t>The Business Challenge</a:t>
            </a:r>
          </a:p>
        </p:txBody>
      </p:sp>
      <p:grpSp>
        <p:nvGrpSpPr>
          <p:cNvPr name="Group 3" id="3"/>
          <p:cNvGrpSpPr/>
          <p:nvPr/>
        </p:nvGrpSpPr>
        <p:grpSpPr>
          <a:xfrm rot="0">
            <a:off x="2706232" y="3715117"/>
            <a:ext cx="28575" cy="4074722"/>
            <a:chOff x="0" y="0"/>
            <a:chExt cx="38100" cy="5432963"/>
          </a:xfrm>
        </p:grpSpPr>
        <p:sp>
          <p:nvSpPr>
            <p:cNvPr name="Freeform 4" id="4"/>
            <p:cNvSpPr/>
            <p:nvPr/>
          </p:nvSpPr>
          <p:spPr>
            <a:xfrm flipH="false" flipV="false" rot="0">
              <a:off x="0" y="0"/>
              <a:ext cx="38100" cy="5432933"/>
            </a:xfrm>
            <a:custGeom>
              <a:avLst/>
              <a:gdLst/>
              <a:ahLst/>
              <a:cxnLst/>
              <a:rect r="r" b="b" t="t" l="l"/>
              <a:pathLst>
                <a:path h="5432933" w="38100">
                  <a:moveTo>
                    <a:pt x="38100" y="19050"/>
                  </a:moveTo>
                  <a:lnTo>
                    <a:pt x="38100" y="5413883"/>
                  </a:lnTo>
                  <a:cubicBezTo>
                    <a:pt x="38100" y="5424424"/>
                    <a:pt x="29591" y="5432933"/>
                    <a:pt x="19050" y="5432933"/>
                  </a:cubicBezTo>
                  <a:cubicBezTo>
                    <a:pt x="8509" y="5432933"/>
                    <a:pt x="0" y="5424424"/>
                    <a:pt x="0" y="5413883"/>
                  </a:cubicBezTo>
                  <a:lnTo>
                    <a:pt x="0" y="19050"/>
                  </a:lnTo>
                  <a:cubicBezTo>
                    <a:pt x="0" y="8509"/>
                    <a:pt x="8509" y="0"/>
                    <a:pt x="19050" y="0"/>
                  </a:cubicBezTo>
                  <a:cubicBezTo>
                    <a:pt x="29591" y="0"/>
                    <a:pt x="38100" y="8509"/>
                    <a:pt x="38100" y="19050"/>
                  </a:cubicBezTo>
                  <a:close/>
                </a:path>
              </a:pathLst>
            </a:custGeom>
            <a:solidFill>
              <a:srgbClr val="FFFFFF"/>
            </a:solidFill>
            <a:ln w="12700">
              <a:solidFill>
                <a:srgbClr val="000000"/>
              </a:solidFill>
            </a:ln>
          </p:spPr>
        </p:sp>
      </p:grpSp>
      <p:sp>
        <p:nvSpPr>
          <p:cNvPr name="TextBox 5" id="5"/>
          <p:cNvSpPr txBox="true"/>
          <p:nvPr/>
        </p:nvSpPr>
        <p:spPr>
          <a:xfrm rot="0">
            <a:off x="3035323" y="3638917"/>
            <a:ext cx="13142970" cy="4648200"/>
          </a:xfrm>
          <a:prstGeom prst="rect">
            <a:avLst/>
          </a:prstGeom>
        </p:spPr>
        <p:txBody>
          <a:bodyPr anchor="t" rtlCol="false" tIns="0" lIns="0" bIns="0" rIns="0">
            <a:spAutoFit/>
          </a:bodyPr>
          <a:lstStyle/>
          <a:p>
            <a:pPr algn="l">
              <a:lnSpc>
                <a:spcPts val="4500"/>
              </a:lnSpc>
            </a:pPr>
            <a:r>
              <a:rPr lang="en-US" sz="3750">
                <a:solidFill>
                  <a:srgbClr val="FFFFFF"/>
                </a:solidFill>
                <a:latin typeface="Calibri (MS)"/>
                <a:ea typeface="Calibri (MS)"/>
                <a:cs typeface="Calibri (MS)"/>
                <a:sym typeface="Calibri (MS)"/>
              </a:rPr>
              <a:t>U</a:t>
            </a:r>
            <a:r>
              <a:rPr lang="en-US" sz="3750">
                <a:solidFill>
                  <a:srgbClr val="FFFFFF"/>
                </a:solidFill>
                <a:latin typeface="Calibri (MS)"/>
                <a:ea typeface="Calibri (MS)"/>
                <a:cs typeface="Calibri (MS)"/>
                <a:sym typeface="Calibri (MS)"/>
              </a:rPr>
              <a:t>rban cities struggle to monitor traffic congestion and environmental conditions </a:t>
            </a:r>
            <a:r>
              <a:rPr lang="en-US" sz="3750">
                <a:solidFill>
                  <a:srgbClr val="FFFFFF"/>
                </a:solidFill>
                <a:latin typeface="Calibri (MS)"/>
                <a:ea typeface="Calibri (MS)"/>
                <a:cs typeface="Calibri (MS)"/>
                <a:sym typeface="Calibri (MS)"/>
              </a:rPr>
              <a:t>due to the massive volume of </a:t>
            </a:r>
            <a:r>
              <a:rPr lang="en-US" sz="3750">
                <a:solidFill>
                  <a:srgbClr val="FFFFFF"/>
                </a:solidFill>
                <a:latin typeface="Calibri (MS)"/>
                <a:ea typeface="Calibri (MS)"/>
                <a:cs typeface="Calibri (MS)"/>
                <a:sym typeface="Calibri (MS)"/>
              </a:rPr>
              <a:t>fragme</a:t>
            </a:r>
            <a:r>
              <a:rPr lang="en-US" sz="3750">
                <a:solidFill>
                  <a:srgbClr val="FFFFFF"/>
                </a:solidFill>
                <a:latin typeface="Calibri (MS)"/>
                <a:ea typeface="Calibri (MS)"/>
                <a:cs typeface="Calibri (MS)"/>
                <a:sym typeface="Calibri (MS)"/>
              </a:rPr>
              <a:t>nted sensor data</a:t>
            </a:r>
            <a:r>
              <a:rPr lang="en-US" sz="3750">
                <a:solidFill>
                  <a:srgbClr val="FFFFFF"/>
                </a:solidFill>
                <a:latin typeface="Calibri (MS)"/>
                <a:ea typeface="Calibri (MS)"/>
                <a:cs typeface="Calibri (MS)"/>
                <a:sym typeface="Calibri (MS)"/>
              </a:rPr>
              <a:t>. Severe traffic jams create mobility issues for citizens, while rising pollution levels threaten public health and can exceed national safety limits. </a:t>
            </a:r>
            <a:r>
              <a:rPr lang="en-US" sz="3750">
                <a:solidFill>
                  <a:srgbClr val="FFFFFF"/>
                </a:solidFill>
                <a:latin typeface="Calibri (MS)"/>
                <a:ea typeface="Calibri (MS)"/>
                <a:cs typeface="Calibri (MS)"/>
                <a:sym typeface="Calibri (MS)"/>
              </a:rPr>
              <a:t>Traditional monitoring </a:t>
            </a:r>
            <a:r>
              <a:rPr lang="en-US" sz="3750">
                <a:solidFill>
                  <a:srgbClr val="FFFFFF"/>
                </a:solidFill>
                <a:latin typeface="Calibri (MS)"/>
                <a:ea typeface="Calibri (MS)"/>
                <a:cs typeface="Calibri (MS)"/>
                <a:sym typeface="Calibri (MS)"/>
              </a:rPr>
              <a:t>systems </a:t>
            </a:r>
            <a:r>
              <a:rPr lang="en-US" sz="3750">
                <a:solidFill>
                  <a:srgbClr val="FFFFFF"/>
                </a:solidFill>
                <a:latin typeface="Calibri (MS)"/>
                <a:ea typeface="Calibri (MS)"/>
                <a:cs typeface="Calibri (MS)"/>
                <a:sym typeface="Calibri (MS)"/>
              </a:rPr>
              <a:t>lack the real-time capability </a:t>
            </a:r>
            <a:r>
              <a:rPr lang="en-US" sz="3750">
                <a:solidFill>
                  <a:srgbClr val="FFFFFF"/>
                </a:solidFill>
                <a:latin typeface="Calibri (MS)"/>
                <a:ea typeface="Calibri (MS)"/>
                <a:cs typeface="Calibri (MS)"/>
                <a:sym typeface="Calibri (MS)"/>
              </a:rPr>
              <a:t>needed </a:t>
            </a:r>
            <a:r>
              <a:rPr lang="en-US" sz="3750">
                <a:solidFill>
                  <a:srgbClr val="FFFFFF"/>
                </a:solidFill>
                <a:latin typeface="Calibri (MS)"/>
                <a:ea typeface="Calibri (MS)"/>
                <a:cs typeface="Calibri (MS)"/>
                <a:sym typeface="Calibri (MS)"/>
              </a:rPr>
              <a:t>to </a:t>
            </a:r>
            <a:r>
              <a:rPr lang="en-US" sz="3750">
                <a:solidFill>
                  <a:srgbClr val="FFFFFF"/>
                </a:solidFill>
                <a:latin typeface="Calibri (MS)"/>
                <a:ea typeface="Calibri (MS)"/>
                <a:cs typeface="Calibri (MS)"/>
                <a:sym typeface="Calibri (MS)"/>
              </a:rPr>
              <a:t>detect issu</a:t>
            </a:r>
            <a:r>
              <a:rPr lang="en-US" sz="3750">
                <a:solidFill>
                  <a:srgbClr val="FFFFFF"/>
                </a:solidFill>
                <a:latin typeface="Calibri (MS)"/>
                <a:ea typeface="Calibri (MS)"/>
                <a:cs typeface="Calibri (MS)"/>
                <a:sym typeface="Calibri (MS)"/>
              </a:rPr>
              <a:t>e</a:t>
            </a:r>
            <a:r>
              <a:rPr lang="en-US" sz="3750">
                <a:solidFill>
                  <a:srgbClr val="FFFFFF"/>
                </a:solidFill>
                <a:latin typeface="Calibri (MS)"/>
                <a:ea typeface="Calibri (MS)"/>
                <a:cs typeface="Calibri (MS)"/>
                <a:sym typeface="Calibri (MS)"/>
              </a:rPr>
              <a:t>s </a:t>
            </a:r>
            <a:r>
              <a:rPr lang="en-US" sz="3750">
                <a:solidFill>
                  <a:srgbClr val="FFFFFF"/>
                </a:solidFill>
                <a:latin typeface="Calibri (MS)"/>
                <a:ea typeface="Calibri (MS)"/>
                <a:cs typeface="Calibri (MS)"/>
                <a:sym typeface="Calibri (MS)"/>
              </a:rPr>
              <a:t>e</a:t>
            </a:r>
            <a:r>
              <a:rPr lang="en-US" sz="3750">
                <a:solidFill>
                  <a:srgbClr val="FFFFFF"/>
                </a:solidFill>
                <a:latin typeface="Calibri (MS)"/>
                <a:ea typeface="Calibri (MS)"/>
                <a:cs typeface="Calibri (MS)"/>
                <a:sym typeface="Calibri (MS)"/>
              </a:rPr>
              <a:t>arly or </a:t>
            </a:r>
            <a:r>
              <a:rPr lang="en-US" sz="3750">
                <a:solidFill>
                  <a:srgbClr val="FFFFFF"/>
                </a:solidFill>
                <a:latin typeface="Calibri (MS)"/>
                <a:ea typeface="Calibri (MS)"/>
                <a:cs typeface="Calibri (MS)"/>
                <a:sym typeface="Calibri (MS)"/>
              </a:rPr>
              <a:t>n</a:t>
            </a:r>
            <a:r>
              <a:rPr lang="en-US" sz="3750">
                <a:solidFill>
                  <a:srgbClr val="FFFFFF"/>
                </a:solidFill>
                <a:latin typeface="Calibri (MS)"/>
                <a:ea typeface="Calibri (MS)"/>
                <a:cs typeface="Calibri (MS)"/>
                <a:sym typeface="Calibri (MS)"/>
              </a:rPr>
              <a:t>o</a:t>
            </a:r>
            <a:r>
              <a:rPr lang="en-US" sz="3750">
                <a:solidFill>
                  <a:srgbClr val="FFFFFF"/>
                </a:solidFill>
                <a:latin typeface="Calibri (MS)"/>
                <a:ea typeface="Calibri (MS)"/>
                <a:cs typeface="Calibri (MS)"/>
                <a:sym typeface="Calibri (MS)"/>
              </a:rPr>
              <a:t>t</a:t>
            </a:r>
            <a:r>
              <a:rPr lang="en-US" sz="3750">
                <a:solidFill>
                  <a:srgbClr val="FFFFFF"/>
                </a:solidFill>
                <a:latin typeface="Calibri (MS)"/>
                <a:ea typeface="Calibri (MS)"/>
                <a:cs typeface="Calibri (MS)"/>
                <a:sym typeface="Calibri (MS)"/>
              </a:rPr>
              <a:t>ify</a:t>
            </a:r>
            <a:r>
              <a:rPr lang="en-US" sz="3750">
                <a:solidFill>
                  <a:srgbClr val="FFFFFF"/>
                </a:solidFill>
                <a:latin typeface="Calibri (MS)"/>
                <a:ea typeface="Calibri (MS)"/>
                <a:cs typeface="Calibri (MS)"/>
                <a:sym typeface="Calibri (MS)"/>
              </a:rPr>
              <a:t> the</a:t>
            </a:r>
            <a:r>
              <a:rPr lang="en-US" sz="3750">
                <a:solidFill>
                  <a:srgbClr val="FFFFFF"/>
                </a:solidFill>
                <a:latin typeface="Calibri (MS)"/>
                <a:ea typeface="Calibri (MS)"/>
                <a:cs typeface="Calibri (MS)"/>
                <a:sym typeface="Calibri (MS)"/>
              </a:rPr>
              <a:t> right </a:t>
            </a:r>
            <a:r>
              <a:rPr lang="en-US" sz="3750">
                <a:solidFill>
                  <a:srgbClr val="FFFFFF"/>
                </a:solidFill>
                <a:latin typeface="Calibri (MS)"/>
                <a:ea typeface="Calibri (MS)"/>
                <a:cs typeface="Calibri (MS)"/>
                <a:sym typeface="Calibri (MS)"/>
              </a:rPr>
              <a:t>s</a:t>
            </a:r>
            <a:r>
              <a:rPr lang="en-US" sz="3750">
                <a:solidFill>
                  <a:srgbClr val="FFFFFF"/>
                </a:solidFill>
                <a:latin typeface="Calibri (MS)"/>
                <a:ea typeface="Calibri (MS)"/>
                <a:cs typeface="Calibri (MS)"/>
                <a:sym typeface="Calibri (MS)"/>
              </a:rPr>
              <a:t>tak</a:t>
            </a:r>
            <a:r>
              <a:rPr lang="en-US" sz="3750">
                <a:solidFill>
                  <a:srgbClr val="FFFFFF"/>
                </a:solidFill>
                <a:latin typeface="Calibri (MS)"/>
                <a:ea typeface="Calibri (MS)"/>
                <a:cs typeface="Calibri (MS)"/>
                <a:sym typeface="Calibri (MS)"/>
              </a:rPr>
              <a:t>e</a:t>
            </a:r>
            <a:r>
              <a:rPr lang="en-US" sz="3750">
                <a:solidFill>
                  <a:srgbClr val="FFFFFF"/>
                </a:solidFill>
                <a:latin typeface="Calibri (MS)"/>
                <a:ea typeface="Calibri (MS)"/>
                <a:cs typeface="Calibri (MS)"/>
                <a:sym typeface="Calibri (MS)"/>
              </a:rPr>
              <a:t>hol</a:t>
            </a:r>
            <a:r>
              <a:rPr lang="en-US" sz="3750">
                <a:solidFill>
                  <a:srgbClr val="FFFFFF"/>
                </a:solidFill>
                <a:latin typeface="Calibri (MS)"/>
                <a:ea typeface="Calibri (MS)"/>
                <a:cs typeface="Calibri (MS)"/>
                <a:sym typeface="Calibri (MS)"/>
              </a:rPr>
              <a:t>de</a:t>
            </a:r>
            <a:r>
              <a:rPr lang="en-US" sz="3750">
                <a:solidFill>
                  <a:srgbClr val="FFFFFF"/>
                </a:solidFill>
                <a:latin typeface="Calibri (MS)"/>
                <a:ea typeface="Calibri (MS)"/>
                <a:cs typeface="Calibri (MS)"/>
                <a:sym typeface="Calibri (MS)"/>
              </a:rPr>
              <a:t>r</a:t>
            </a:r>
            <a:r>
              <a:rPr lang="en-US" sz="3750">
                <a:solidFill>
                  <a:srgbClr val="FFFFFF"/>
                </a:solidFill>
                <a:latin typeface="Calibri (MS)"/>
                <a:ea typeface="Calibri (MS)"/>
                <a:cs typeface="Calibri (MS)"/>
                <a:sym typeface="Calibri (MS)"/>
              </a:rPr>
              <a:t>s before </a:t>
            </a:r>
            <a:r>
              <a:rPr lang="en-US" sz="3750">
                <a:solidFill>
                  <a:srgbClr val="FFFFFF"/>
                </a:solidFill>
                <a:latin typeface="Calibri (MS)"/>
                <a:ea typeface="Calibri (MS)"/>
                <a:cs typeface="Calibri (MS)"/>
                <a:sym typeface="Calibri (MS)"/>
              </a:rPr>
              <a:t>cri</a:t>
            </a:r>
            <a:r>
              <a:rPr lang="en-US" sz="3750">
                <a:solidFill>
                  <a:srgbClr val="FFFFFF"/>
                </a:solidFill>
                <a:latin typeface="Calibri (MS)"/>
                <a:ea typeface="Calibri (MS)"/>
                <a:cs typeface="Calibri (MS)"/>
                <a:sym typeface="Calibri (MS)"/>
              </a:rPr>
              <a:t>t</a:t>
            </a:r>
            <a:r>
              <a:rPr lang="en-US" sz="3750">
                <a:solidFill>
                  <a:srgbClr val="FFFFFF"/>
                </a:solidFill>
                <a:latin typeface="Calibri (MS)"/>
                <a:ea typeface="Calibri (MS)"/>
                <a:cs typeface="Calibri (MS)"/>
                <a:sym typeface="Calibri (MS)"/>
              </a:rPr>
              <a:t>ical situations</a:t>
            </a:r>
            <a:r>
              <a:rPr lang="en-US" sz="3750">
                <a:solidFill>
                  <a:srgbClr val="FFFFFF"/>
                </a:solidFill>
                <a:latin typeface="Calibri (MS)"/>
                <a:ea typeface="Calibri (MS)"/>
                <a:cs typeface="Calibri (MS)"/>
                <a:sym typeface="Calibri (MS)"/>
              </a:rPr>
              <a:t> occur.</a:t>
            </a:r>
          </a:p>
          <a:p>
            <a:pPr algn="l">
              <a:lnSpc>
                <a:spcPts val="4500"/>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F497D"/>
        </a:solidFill>
      </p:bgPr>
    </p:bg>
    <p:spTree>
      <p:nvGrpSpPr>
        <p:cNvPr id="1" name=""/>
        <p:cNvGrpSpPr/>
        <p:nvPr/>
      </p:nvGrpSpPr>
      <p:grpSpPr>
        <a:xfrm>
          <a:off x="0" y="0"/>
          <a:ext cx="0" cy="0"/>
          <a:chOff x="0" y="0"/>
          <a:chExt cx="0" cy="0"/>
        </a:xfrm>
      </p:grpSpPr>
      <p:sp>
        <p:nvSpPr>
          <p:cNvPr name="TextBox 2" id="2"/>
          <p:cNvSpPr txBox="true"/>
          <p:nvPr/>
        </p:nvSpPr>
        <p:spPr>
          <a:xfrm rot="0">
            <a:off x="2734806" y="1816735"/>
            <a:ext cx="4375597" cy="1143000"/>
          </a:xfrm>
          <a:prstGeom prst="rect">
            <a:avLst/>
          </a:prstGeom>
        </p:spPr>
        <p:txBody>
          <a:bodyPr anchor="t" rtlCol="false" tIns="0" lIns="0" bIns="0" rIns="0">
            <a:spAutoFit/>
          </a:bodyPr>
          <a:lstStyle/>
          <a:p>
            <a:pPr algn="l">
              <a:lnSpc>
                <a:spcPts val="7920"/>
              </a:lnSpc>
            </a:pPr>
            <a:r>
              <a:rPr lang="en-US" sz="6600" b="true">
                <a:solidFill>
                  <a:srgbClr val="FFFFFF"/>
                </a:solidFill>
                <a:latin typeface="Calibri (MS) Bold"/>
                <a:ea typeface="Calibri (MS) Bold"/>
                <a:cs typeface="Calibri (MS) Bold"/>
                <a:sym typeface="Calibri (MS) Bold"/>
              </a:rPr>
              <a:t>The Solution</a:t>
            </a:r>
          </a:p>
        </p:txBody>
      </p:sp>
      <p:grpSp>
        <p:nvGrpSpPr>
          <p:cNvPr name="Group 3" id="3"/>
          <p:cNvGrpSpPr/>
          <p:nvPr/>
        </p:nvGrpSpPr>
        <p:grpSpPr>
          <a:xfrm rot="0">
            <a:off x="2706232" y="3715117"/>
            <a:ext cx="28575" cy="4056450"/>
            <a:chOff x="0" y="0"/>
            <a:chExt cx="38100" cy="5408600"/>
          </a:xfrm>
        </p:grpSpPr>
        <p:sp>
          <p:nvSpPr>
            <p:cNvPr name="Freeform 4" id="4"/>
            <p:cNvSpPr/>
            <p:nvPr/>
          </p:nvSpPr>
          <p:spPr>
            <a:xfrm flipH="false" flipV="false" rot="0">
              <a:off x="0" y="0"/>
              <a:ext cx="38100" cy="5408549"/>
            </a:xfrm>
            <a:custGeom>
              <a:avLst/>
              <a:gdLst/>
              <a:ahLst/>
              <a:cxnLst/>
              <a:rect r="r" b="b" t="t" l="l"/>
              <a:pathLst>
                <a:path h="5408549" w="38100">
                  <a:moveTo>
                    <a:pt x="38100" y="19050"/>
                  </a:moveTo>
                  <a:lnTo>
                    <a:pt x="38100" y="5389499"/>
                  </a:lnTo>
                  <a:cubicBezTo>
                    <a:pt x="38100" y="5400040"/>
                    <a:pt x="29591" y="5408549"/>
                    <a:pt x="19050" y="5408549"/>
                  </a:cubicBezTo>
                  <a:cubicBezTo>
                    <a:pt x="8509" y="5408549"/>
                    <a:pt x="0" y="5400040"/>
                    <a:pt x="0" y="5389499"/>
                  </a:cubicBezTo>
                  <a:lnTo>
                    <a:pt x="0" y="19050"/>
                  </a:lnTo>
                  <a:cubicBezTo>
                    <a:pt x="0" y="8509"/>
                    <a:pt x="8509" y="0"/>
                    <a:pt x="19050" y="0"/>
                  </a:cubicBezTo>
                  <a:cubicBezTo>
                    <a:pt x="29591" y="0"/>
                    <a:pt x="38100" y="8509"/>
                    <a:pt x="38100" y="19050"/>
                  </a:cubicBezTo>
                  <a:close/>
                </a:path>
              </a:pathLst>
            </a:custGeom>
            <a:solidFill>
              <a:srgbClr val="FFFFFF"/>
            </a:solidFill>
            <a:ln w="12700">
              <a:solidFill>
                <a:srgbClr val="000000"/>
              </a:solidFill>
            </a:ln>
          </p:spPr>
        </p:sp>
      </p:grpSp>
      <p:sp>
        <p:nvSpPr>
          <p:cNvPr name="TextBox 5" id="5"/>
          <p:cNvSpPr txBox="true"/>
          <p:nvPr/>
        </p:nvSpPr>
        <p:spPr>
          <a:xfrm rot="0">
            <a:off x="3069462" y="3694868"/>
            <a:ext cx="12742310" cy="4076700"/>
          </a:xfrm>
          <a:prstGeom prst="rect">
            <a:avLst/>
          </a:prstGeom>
        </p:spPr>
        <p:txBody>
          <a:bodyPr anchor="t" rtlCol="false" tIns="0" lIns="0" bIns="0" rIns="0">
            <a:spAutoFit/>
          </a:bodyPr>
          <a:lstStyle/>
          <a:p>
            <a:pPr algn="l" marL="0" indent="0" lvl="0">
              <a:lnSpc>
                <a:spcPts val="4500"/>
              </a:lnSpc>
              <a:spcBef>
                <a:spcPct val="0"/>
              </a:spcBef>
            </a:pPr>
            <a:r>
              <a:rPr lang="en-US" sz="3750" strike="noStrike" u="none">
                <a:solidFill>
                  <a:srgbClr val="FFFFFF"/>
                </a:solidFill>
                <a:latin typeface="Calibri (MS)"/>
                <a:ea typeface="Calibri (MS)"/>
                <a:cs typeface="Calibri (MS)"/>
                <a:sym typeface="Calibri (MS)"/>
              </a:rPr>
              <a:t>We developed a scalable, cloud-native Data Intelligence Platform for urban monitoring. The system processes high-velocity IoT streams from traffic and environmental sensors to provide real-time alerts for crowded areas and hazardous pollution levels, while simultaneously building a historical Data Lakehouse for long-term trend analysis and city planning.</a:t>
            </a:r>
          </a:p>
          <a:p>
            <a:pPr algn="l" marL="0" indent="0" lvl="0">
              <a:lnSpc>
                <a:spcPts val="450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62" y="-4762"/>
            <a:ext cx="18297525" cy="3115342"/>
            <a:chOff x="0" y="0"/>
            <a:chExt cx="24396700" cy="4153789"/>
          </a:xfrm>
        </p:grpSpPr>
        <p:sp>
          <p:nvSpPr>
            <p:cNvPr name="Freeform 3" id="3"/>
            <p:cNvSpPr/>
            <p:nvPr/>
          </p:nvSpPr>
          <p:spPr>
            <a:xfrm flipH="false" flipV="false" rot="0">
              <a:off x="8509" y="8509"/>
              <a:ext cx="24384001" cy="4141089"/>
            </a:xfrm>
            <a:custGeom>
              <a:avLst/>
              <a:gdLst/>
              <a:ahLst/>
              <a:cxnLst/>
              <a:rect r="r" b="b" t="t" l="l"/>
              <a:pathLst>
                <a:path h="4141089" w="24384001">
                  <a:moveTo>
                    <a:pt x="0" y="0"/>
                  </a:moveTo>
                  <a:lnTo>
                    <a:pt x="24384001" y="0"/>
                  </a:lnTo>
                  <a:lnTo>
                    <a:pt x="24384001" y="4141089"/>
                  </a:lnTo>
                  <a:lnTo>
                    <a:pt x="0" y="4141089"/>
                  </a:lnTo>
                  <a:close/>
                </a:path>
              </a:pathLst>
            </a:custGeom>
            <a:solidFill>
              <a:srgbClr val="1F497D"/>
            </a:solidFill>
            <a:ln w="12700">
              <a:solidFill>
                <a:srgbClr val="000000"/>
              </a:solidFill>
            </a:ln>
          </p:spPr>
        </p:sp>
        <p:sp>
          <p:nvSpPr>
            <p:cNvPr name="Freeform 4" id="4"/>
            <p:cNvSpPr/>
            <p:nvPr/>
          </p:nvSpPr>
          <p:spPr>
            <a:xfrm flipH="false" flipV="false" rot="0">
              <a:off x="0" y="0"/>
              <a:ext cx="24401018" cy="4158107"/>
            </a:xfrm>
            <a:custGeom>
              <a:avLst/>
              <a:gdLst/>
              <a:ahLst/>
              <a:cxnLst/>
              <a:rect r="r" b="b" t="t" l="l"/>
              <a:pathLst>
                <a:path h="4158107" w="24401018">
                  <a:moveTo>
                    <a:pt x="8509" y="0"/>
                  </a:moveTo>
                  <a:lnTo>
                    <a:pt x="24392510" y="0"/>
                  </a:lnTo>
                  <a:cubicBezTo>
                    <a:pt x="24397208" y="0"/>
                    <a:pt x="24401018" y="3810"/>
                    <a:pt x="24401018" y="8509"/>
                  </a:cubicBezTo>
                  <a:lnTo>
                    <a:pt x="24401018" y="4149598"/>
                  </a:lnTo>
                  <a:cubicBezTo>
                    <a:pt x="24401018" y="4154297"/>
                    <a:pt x="24397208" y="4158107"/>
                    <a:pt x="24392510" y="4158107"/>
                  </a:cubicBezTo>
                  <a:lnTo>
                    <a:pt x="8509" y="4158107"/>
                  </a:lnTo>
                  <a:cubicBezTo>
                    <a:pt x="3810" y="4158107"/>
                    <a:pt x="0" y="4154297"/>
                    <a:pt x="0" y="4149598"/>
                  </a:cubicBezTo>
                  <a:lnTo>
                    <a:pt x="0" y="8509"/>
                  </a:lnTo>
                  <a:cubicBezTo>
                    <a:pt x="0" y="3810"/>
                    <a:pt x="3810" y="0"/>
                    <a:pt x="8509" y="0"/>
                  </a:cubicBezTo>
                  <a:moveTo>
                    <a:pt x="8509" y="16891"/>
                  </a:moveTo>
                  <a:lnTo>
                    <a:pt x="8509" y="8509"/>
                  </a:lnTo>
                  <a:lnTo>
                    <a:pt x="17018" y="8509"/>
                  </a:lnTo>
                  <a:lnTo>
                    <a:pt x="17018" y="4149598"/>
                  </a:lnTo>
                  <a:lnTo>
                    <a:pt x="8509" y="4149598"/>
                  </a:lnTo>
                  <a:lnTo>
                    <a:pt x="8509" y="4141089"/>
                  </a:lnTo>
                  <a:lnTo>
                    <a:pt x="24392510" y="4141089"/>
                  </a:lnTo>
                  <a:lnTo>
                    <a:pt x="24392510" y="4149598"/>
                  </a:lnTo>
                  <a:lnTo>
                    <a:pt x="24384000" y="4149598"/>
                  </a:lnTo>
                  <a:lnTo>
                    <a:pt x="24384000" y="8509"/>
                  </a:lnTo>
                  <a:lnTo>
                    <a:pt x="24392510" y="8509"/>
                  </a:lnTo>
                  <a:lnTo>
                    <a:pt x="24392510" y="17018"/>
                  </a:lnTo>
                  <a:lnTo>
                    <a:pt x="8509" y="17018"/>
                  </a:lnTo>
                  <a:close/>
                </a:path>
              </a:pathLst>
            </a:custGeom>
            <a:solidFill>
              <a:srgbClr val="000000"/>
            </a:solidFill>
            <a:ln w="12700">
              <a:solidFill>
                <a:srgbClr val="000000"/>
              </a:solidFill>
            </a:ln>
          </p:spPr>
        </p:sp>
      </p:grpSp>
      <p:sp>
        <p:nvSpPr>
          <p:cNvPr name="TextBox 5" id="5"/>
          <p:cNvSpPr txBox="true"/>
          <p:nvPr/>
        </p:nvSpPr>
        <p:spPr>
          <a:xfrm rot="0">
            <a:off x="2555082" y="1155317"/>
            <a:ext cx="7433550" cy="1057244"/>
          </a:xfrm>
          <a:prstGeom prst="rect">
            <a:avLst/>
          </a:prstGeom>
        </p:spPr>
        <p:txBody>
          <a:bodyPr anchor="t" rtlCol="false" tIns="0" lIns="0" bIns="0" rIns="0">
            <a:spAutoFit/>
          </a:bodyPr>
          <a:lstStyle/>
          <a:p>
            <a:pPr algn="l">
              <a:lnSpc>
                <a:spcPts val="7319"/>
              </a:lnSpc>
            </a:pPr>
            <a:r>
              <a:rPr lang="en-US" sz="6098" b="true">
                <a:solidFill>
                  <a:srgbClr val="FFFFFF"/>
                </a:solidFill>
                <a:latin typeface="Calibri (MS) Bold"/>
                <a:ea typeface="Calibri (MS) Bold"/>
                <a:cs typeface="Calibri (MS) Bold"/>
                <a:sym typeface="Calibri (MS) Bold"/>
              </a:rPr>
              <a:t>Agenda</a:t>
            </a:r>
          </a:p>
        </p:txBody>
      </p:sp>
      <p:grpSp>
        <p:nvGrpSpPr>
          <p:cNvPr name="Group 6" id="6"/>
          <p:cNvGrpSpPr/>
          <p:nvPr/>
        </p:nvGrpSpPr>
        <p:grpSpPr>
          <a:xfrm rot="0">
            <a:off x="3113147" y="3708228"/>
            <a:ext cx="8279100" cy="429785"/>
            <a:chOff x="0" y="0"/>
            <a:chExt cx="11038800" cy="573047"/>
          </a:xfrm>
        </p:grpSpPr>
        <p:sp>
          <p:nvSpPr>
            <p:cNvPr name="Freeform 7" id="7"/>
            <p:cNvSpPr/>
            <p:nvPr/>
          </p:nvSpPr>
          <p:spPr>
            <a:xfrm flipH="false" flipV="false" rot="0">
              <a:off x="0" y="0"/>
              <a:ext cx="11038800" cy="573047"/>
            </a:xfrm>
            <a:custGeom>
              <a:avLst/>
              <a:gdLst/>
              <a:ahLst/>
              <a:cxnLst/>
              <a:rect r="r" b="b" t="t" l="l"/>
              <a:pathLst>
                <a:path h="573047" w="11038800">
                  <a:moveTo>
                    <a:pt x="0" y="0"/>
                  </a:moveTo>
                  <a:lnTo>
                    <a:pt x="11038800" y="0"/>
                  </a:lnTo>
                  <a:lnTo>
                    <a:pt x="11038800" y="573047"/>
                  </a:lnTo>
                  <a:lnTo>
                    <a:pt x="0" y="573047"/>
                  </a:lnTo>
                  <a:close/>
                </a:path>
              </a:pathLst>
            </a:custGeom>
            <a:solidFill>
              <a:srgbClr val="000000">
                <a:alpha val="0"/>
              </a:srgbClr>
            </a:solidFill>
          </p:spPr>
        </p:sp>
        <p:sp>
          <p:nvSpPr>
            <p:cNvPr name="TextBox 8" id="8"/>
            <p:cNvSpPr txBox="true"/>
            <p:nvPr/>
          </p:nvSpPr>
          <p:spPr>
            <a:xfrm>
              <a:off x="0" y="-19050"/>
              <a:ext cx="11038800" cy="592097"/>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Team</a:t>
              </a:r>
            </a:p>
          </p:txBody>
        </p:sp>
      </p:grpSp>
      <p:grpSp>
        <p:nvGrpSpPr>
          <p:cNvPr name="Group 9" id="9"/>
          <p:cNvGrpSpPr/>
          <p:nvPr/>
        </p:nvGrpSpPr>
        <p:grpSpPr>
          <a:xfrm rot="0">
            <a:off x="2834064" y="3716068"/>
            <a:ext cx="63532" cy="387572"/>
            <a:chOff x="0" y="0"/>
            <a:chExt cx="84709" cy="516763"/>
          </a:xfrm>
        </p:grpSpPr>
        <p:sp>
          <p:nvSpPr>
            <p:cNvPr name="Freeform 10" id="1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11" id="1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2" id="12"/>
          <p:cNvGrpSpPr/>
          <p:nvPr/>
        </p:nvGrpSpPr>
        <p:grpSpPr>
          <a:xfrm rot="0">
            <a:off x="3113147" y="4291846"/>
            <a:ext cx="8279100" cy="429786"/>
            <a:chOff x="0" y="0"/>
            <a:chExt cx="11038800" cy="573049"/>
          </a:xfrm>
        </p:grpSpPr>
        <p:sp>
          <p:nvSpPr>
            <p:cNvPr name="Freeform 13" id="13"/>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14" id="14"/>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Introduction</a:t>
              </a:r>
            </a:p>
          </p:txBody>
        </p:sp>
      </p:grpSp>
      <p:grpSp>
        <p:nvGrpSpPr>
          <p:cNvPr name="Group 15" id="15"/>
          <p:cNvGrpSpPr/>
          <p:nvPr/>
        </p:nvGrpSpPr>
        <p:grpSpPr>
          <a:xfrm rot="0">
            <a:off x="2834064" y="4299685"/>
            <a:ext cx="63532" cy="387571"/>
            <a:chOff x="0" y="0"/>
            <a:chExt cx="84709" cy="516762"/>
          </a:xfrm>
        </p:grpSpPr>
        <p:sp>
          <p:nvSpPr>
            <p:cNvPr name="Freeform 16" id="1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17" id="1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18" id="18"/>
          <p:cNvGrpSpPr/>
          <p:nvPr/>
        </p:nvGrpSpPr>
        <p:grpSpPr>
          <a:xfrm rot="0">
            <a:off x="3113147" y="4770558"/>
            <a:ext cx="8279100" cy="572040"/>
            <a:chOff x="0" y="0"/>
            <a:chExt cx="11038800" cy="762719"/>
          </a:xfrm>
        </p:grpSpPr>
        <p:sp>
          <p:nvSpPr>
            <p:cNvPr name="Freeform 19" id="19"/>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20" id="20"/>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The Business Challenge</a:t>
              </a:r>
            </a:p>
          </p:txBody>
        </p:sp>
      </p:grpSp>
      <p:grpSp>
        <p:nvGrpSpPr>
          <p:cNvPr name="Group 21" id="21"/>
          <p:cNvGrpSpPr/>
          <p:nvPr/>
        </p:nvGrpSpPr>
        <p:grpSpPr>
          <a:xfrm rot="0">
            <a:off x="2834064" y="4839331"/>
            <a:ext cx="63532" cy="387571"/>
            <a:chOff x="0" y="0"/>
            <a:chExt cx="84709" cy="516762"/>
          </a:xfrm>
        </p:grpSpPr>
        <p:sp>
          <p:nvSpPr>
            <p:cNvPr name="Freeform 22" id="2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23" id="2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24" id="24"/>
          <p:cNvGrpSpPr/>
          <p:nvPr/>
        </p:nvGrpSpPr>
        <p:grpSpPr>
          <a:xfrm rot="0">
            <a:off x="3113147" y="5949277"/>
            <a:ext cx="8279100" cy="572040"/>
            <a:chOff x="0" y="0"/>
            <a:chExt cx="11038800" cy="762719"/>
          </a:xfrm>
        </p:grpSpPr>
        <p:sp>
          <p:nvSpPr>
            <p:cNvPr name="Freeform 25" id="25"/>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26" id="26"/>
            <p:cNvSpPr txBox="true"/>
            <p:nvPr/>
          </p:nvSpPr>
          <p:spPr>
            <a:xfrm>
              <a:off x="0" y="-19050"/>
              <a:ext cx="11038800" cy="781769"/>
            </a:xfrm>
            <a:prstGeom prst="rect">
              <a:avLst/>
            </a:prstGeom>
          </p:spPr>
          <p:txBody>
            <a:bodyPr anchor="ctr" rtlCol="false" tIns="0" lIns="0" bIns="0" rIns="0"/>
            <a:lstStyle/>
            <a:p>
              <a:pPr algn="l">
                <a:lnSpc>
                  <a:spcPts val="3240"/>
                </a:lnSpc>
              </a:pPr>
              <a:r>
                <a:rPr lang="en-US" sz="2700" b="true">
                  <a:solidFill>
                    <a:srgbClr val="000000"/>
                  </a:solidFill>
                  <a:latin typeface="Arial Bold"/>
                  <a:ea typeface="Arial Bold"/>
                  <a:cs typeface="Arial Bold"/>
                  <a:sym typeface="Arial Bold"/>
                </a:rPr>
                <a:t>Methodology</a:t>
              </a:r>
            </a:p>
          </p:txBody>
        </p:sp>
      </p:grpSp>
      <p:grpSp>
        <p:nvGrpSpPr>
          <p:cNvPr name="Group 27" id="27"/>
          <p:cNvGrpSpPr/>
          <p:nvPr/>
        </p:nvGrpSpPr>
        <p:grpSpPr>
          <a:xfrm rot="0">
            <a:off x="2834064" y="6056101"/>
            <a:ext cx="63532" cy="387571"/>
            <a:chOff x="0" y="0"/>
            <a:chExt cx="84709" cy="516762"/>
          </a:xfrm>
        </p:grpSpPr>
        <p:sp>
          <p:nvSpPr>
            <p:cNvPr name="Freeform 28" id="28"/>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193EB0"/>
            </a:solidFill>
            <a:ln w="12700">
              <a:solidFill>
                <a:srgbClr val="000000"/>
              </a:solidFill>
            </a:ln>
          </p:spPr>
        </p:sp>
        <p:sp>
          <p:nvSpPr>
            <p:cNvPr name="Freeform 29" id="29"/>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0" id="30"/>
          <p:cNvGrpSpPr/>
          <p:nvPr/>
        </p:nvGrpSpPr>
        <p:grpSpPr>
          <a:xfrm rot="0">
            <a:off x="3113147" y="6523274"/>
            <a:ext cx="8279100" cy="655104"/>
            <a:chOff x="0" y="0"/>
            <a:chExt cx="11038800" cy="873472"/>
          </a:xfrm>
        </p:grpSpPr>
        <p:sp>
          <p:nvSpPr>
            <p:cNvPr name="Freeform 31" id="31"/>
            <p:cNvSpPr/>
            <p:nvPr/>
          </p:nvSpPr>
          <p:spPr>
            <a:xfrm flipH="false" flipV="false" rot="0">
              <a:off x="0" y="0"/>
              <a:ext cx="11038800" cy="873472"/>
            </a:xfrm>
            <a:custGeom>
              <a:avLst/>
              <a:gdLst/>
              <a:ahLst/>
              <a:cxnLst/>
              <a:rect r="r" b="b" t="t" l="l"/>
              <a:pathLst>
                <a:path h="873472" w="11038800">
                  <a:moveTo>
                    <a:pt x="0" y="0"/>
                  </a:moveTo>
                  <a:lnTo>
                    <a:pt x="11038800" y="0"/>
                  </a:lnTo>
                  <a:lnTo>
                    <a:pt x="11038800" y="873472"/>
                  </a:lnTo>
                  <a:lnTo>
                    <a:pt x="0" y="873472"/>
                  </a:lnTo>
                  <a:close/>
                </a:path>
              </a:pathLst>
            </a:custGeom>
            <a:solidFill>
              <a:srgbClr val="000000">
                <a:alpha val="0"/>
              </a:srgbClr>
            </a:solidFill>
          </p:spPr>
        </p:sp>
        <p:sp>
          <p:nvSpPr>
            <p:cNvPr name="TextBox 32" id="32"/>
            <p:cNvSpPr txBox="true"/>
            <p:nvPr/>
          </p:nvSpPr>
          <p:spPr>
            <a:xfrm>
              <a:off x="0" y="-66675"/>
              <a:ext cx="11038800" cy="940147"/>
            </a:xfrm>
            <a:prstGeom prst="rect">
              <a:avLst/>
            </a:prstGeom>
          </p:spPr>
          <p:txBody>
            <a:bodyPr anchor="ctr" rtlCol="false" tIns="0" lIns="0" bIns="0" rIns="0"/>
            <a:lstStyle/>
            <a:p>
              <a:pPr algn="l">
                <a:lnSpc>
                  <a:spcPts val="3600"/>
                </a:lnSpc>
              </a:pPr>
              <a:r>
                <a:rPr lang="en-US" sz="3000">
                  <a:solidFill>
                    <a:srgbClr val="000000"/>
                  </a:solidFill>
                  <a:latin typeface="Calibri (MS)"/>
                  <a:ea typeface="Calibri (MS)"/>
                  <a:cs typeface="Calibri (MS)"/>
                  <a:sym typeface="Calibri (MS)"/>
                </a:rPr>
                <a:t>Results and Insights</a:t>
              </a:r>
            </a:p>
          </p:txBody>
        </p:sp>
      </p:grpSp>
      <p:grpSp>
        <p:nvGrpSpPr>
          <p:cNvPr name="Group 33" id="33"/>
          <p:cNvGrpSpPr/>
          <p:nvPr/>
        </p:nvGrpSpPr>
        <p:grpSpPr>
          <a:xfrm rot="0">
            <a:off x="2834064" y="6686754"/>
            <a:ext cx="63532" cy="387572"/>
            <a:chOff x="0" y="0"/>
            <a:chExt cx="84709" cy="516763"/>
          </a:xfrm>
        </p:grpSpPr>
        <p:sp>
          <p:nvSpPr>
            <p:cNvPr name="Freeform 34" id="34"/>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35" id="35"/>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36" id="36"/>
          <p:cNvGrpSpPr/>
          <p:nvPr/>
        </p:nvGrpSpPr>
        <p:grpSpPr>
          <a:xfrm rot="0">
            <a:off x="3113147" y="7164090"/>
            <a:ext cx="8279100" cy="572040"/>
            <a:chOff x="0" y="0"/>
            <a:chExt cx="11038800" cy="762719"/>
          </a:xfrm>
        </p:grpSpPr>
        <p:sp>
          <p:nvSpPr>
            <p:cNvPr name="Freeform 37" id="37"/>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38" id="38"/>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Conclusion</a:t>
              </a:r>
            </a:p>
          </p:txBody>
        </p:sp>
      </p:grpSp>
      <p:grpSp>
        <p:nvGrpSpPr>
          <p:cNvPr name="Group 39" id="39"/>
          <p:cNvGrpSpPr/>
          <p:nvPr/>
        </p:nvGrpSpPr>
        <p:grpSpPr>
          <a:xfrm rot="0">
            <a:off x="2834064" y="7278882"/>
            <a:ext cx="63532" cy="387572"/>
            <a:chOff x="0" y="0"/>
            <a:chExt cx="84709" cy="516763"/>
          </a:xfrm>
        </p:grpSpPr>
        <p:sp>
          <p:nvSpPr>
            <p:cNvPr name="Freeform 40" id="40"/>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1" id="41"/>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2" id="42"/>
          <p:cNvGrpSpPr/>
          <p:nvPr/>
        </p:nvGrpSpPr>
        <p:grpSpPr>
          <a:xfrm rot="0">
            <a:off x="3113147" y="7866568"/>
            <a:ext cx="8279100" cy="429786"/>
            <a:chOff x="0" y="0"/>
            <a:chExt cx="11038800" cy="573049"/>
          </a:xfrm>
        </p:grpSpPr>
        <p:sp>
          <p:nvSpPr>
            <p:cNvPr name="Freeform 43" id="43"/>
            <p:cNvSpPr/>
            <p:nvPr/>
          </p:nvSpPr>
          <p:spPr>
            <a:xfrm flipH="false" flipV="false" rot="0">
              <a:off x="0" y="0"/>
              <a:ext cx="11038800" cy="573049"/>
            </a:xfrm>
            <a:custGeom>
              <a:avLst/>
              <a:gdLst/>
              <a:ahLst/>
              <a:cxnLst/>
              <a:rect r="r" b="b" t="t" l="l"/>
              <a:pathLst>
                <a:path h="573049" w="11038800">
                  <a:moveTo>
                    <a:pt x="0" y="0"/>
                  </a:moveTo>
                  <a:lnTo>
                    <a:pt x="11038800" y="0"/>
                  </a:lnTo>
                  <a:lnTo>
                    <a:pt x="11038800" y="573049"/>
                  </a:lnTo>
                  <a:lnTo>
                    <a:pt x="0" y="573049"/>
                  </a:lnTo>
                  <a:close/>
                </a:path>
              </a:pathLst>
            </a:custGeom>
            <a:solidFill>
              <a:srgbClr val="000000">
                <a:alpha val="0"/>
              </a:srgbClr>
            </a:solidFill>
          </p:spPr>
        </p:sp>
        <p:sp>
          <p:nvSpPr>
            <p:cNvPr name="TextBox 44" id="44"/>
            <p:cNvSpPr txBox="true"/>
            <p:nvPr/>
          </p:nvSpPr>
          <p:spPr>
            <a:xfrm>
              <a:off x="0" y="-19050"/>
              <a:ext cx="11038800" cy="59209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Q&amp;A</a:t>
              </a:r>
            </a:p>
          </p:txBody>
        </p:sp>
      </p:grpSp>
      <p:grpSp>
        <p:nvGrpSpPr>
          <p:cNvPr name="Group 45" id="45"/>
          <p:cNvGrpSpPr/>
          <p:nvPr/>
        </p:nvGrpSpPr>
        <p:grpSpPr>
          <a:xfrm rot="0">
            <a:off x="2834064" y="7874407"/>
            <a:ext cx="63532" cy="387571"/>
            <a:chOff x="0" y="0"/>
            <a:chExt cx="84709" cy="516762"/>
          </a:xfrm>
        </p:grpSpPr>
        <p:sp>
          <p:nvSpPr>
            <p:cNvPr name="Freeform 46" id="46"/>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47" id="47"/>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grpSp>
        <p:nvGrpSpPr>
          <p:cNvPr name="Group 48" id="48"/>
          <p:cNvGrpSpPr/>
          <p:nvPr/>
        </p:nvGrpSpPr>
        <p:grpSpPr>
          <a:xfrm rot="0">
            <a:off x="3113147" y="5299961"/>
            <a:ext cx="8279100" cy="572040"/>
            <a:chOff x="0" y="0"/>
            <a:chExt cx="11038800" cy="762719"/>
          </a:xfrm>
        </p:grpSpPr>
        <p:sp>
          <p:nvSpPr>
            <p:cNvPr name="Freeform 49" id="49"/>
            <p:cNvSpPr/>
            <p:nvPr/>
          </p:nvSpPr>
          <p:spPr>
            <a:xfrm flipH="false" flipV="false" rot="0">
              <a:off x="0" y="0"/>
              <a:ext cx="11038800" cy="762719"/>
            </a:xfrm>
            <a:custGeom>
              <a:avLst/>
              <a:gdLst/>
              <a:ahLst/>
              <a:cxnLst/>
              <a:rect r="r" b="b" t="t" l="l"/>
              <a:pathLst>
                <a:path h="762719" w="11038800">
                  <a:moveTo>
                    <a:pt x="0" y="0"/>
                  </a:moveTo>
                  <a:lnTo>
                    <a:pt x="11038800" y="0"/>
                  </a:lnTo>
                  <a:lnTo>
                    <a:pt x="11038800" y="762719"/>
                  </a:lnTo>
                  <a:lnTo>
                    <a:pt x="0" y="762719"/>
                  </a:lnTo>
                  <a:close/>
                </a:path>
              </a:pathLst>
            </a:custGeom>
            <a:solidFill>
              <a:srgbClr val="000000">
                <a:alpha val="0"/>
              </a:srgbClr>
            </a:solidFill>
          </p:spPr>
        </p:sp>
        <p:sp>
          <p:nvSpPr>
            <p:cNvPr name="TextBox 50" id="50"/>
            <p:cNvSpPr txBox="true"/>
            <p:nvPr/>
          </p:nvSpPr>
          <p:spPr>
            <a:xfrm>
              <a:off x="0" y="-19050"/>
              <a:ext cx="11038800" cy="781769"/>
            </a:xfrm>
            <a:prstGeom prst="rect">
              <a:avLst/>
            </a:prstGeom>
          </p:spPr>
          <p:txBody>
            <a:bodyPr anchor="ctr" rtlCol="false" tIns="0" lIns="0" bIns="0" rIns="0"/>
            <a:lstStyle/>
            <a:p>
              <a:pPr algn="l">
                <a:lnSpc>
                  <a:spcPts val="3240"/>
                </a:lnSpc>
              </a:pPr>
              <a:r>
                <a:rPr lang="en-US" sz="2700">
                  <a:solidFill>
                    <a:srgbClr val="000000"/>
                  </a:solidFill>
                  <a:latin typeface="Arial"/>
                  <a:ea typeface="Arial"/>
                  <a:cs typeface="Arial"/>
                  <a:sym typeface="Arial"/>
                </a:rPr>
                <a:t>The Solution </a:t>
              </a:r>
            </a:p>
          </p:txBody>
        </p:sp>
      </p:grpSp>
      <p:grpSp>
        <p:nvGrpSpPr>
          <p:cNvPr name="Group 51" id="51"/>
          <p:cNvGrpSpPr/>
          <p:nvPr/>
        </p:nvGrpSpPr>
        <p:grpSpPr>
          <a:xfrm rot="0">
            <a:off x="2834064" y="5399362"/>
            <a:ext cx="63532" cy="387572"/>
            <a:chOff x="0" y="0"/>
            <a:chExt cx="84709" cy="516763"/>
          </a:xfrm>
        </p:grpSpPr>
        <p:sp>
          <p:nvSpPr>
            <p:cNvPr name="Freeform 52" id="52"/>
            <p:cNvSpPr/>
            <p:nvPr/>
          </p:nvSpPr>
          <p:spPr>
            <a:xfrm flipH="false" flipV="false" rot="0">
              <a:off x="8509" y="8509"/>
              <a:ext cx="72009" cy="504063"/>
            </a:xfrm>
            <a:custGeom>
              <a:avLst/>
              <a:gdLst/>
              <a:ahLst/>
              <a:cxnLst/>
              <a:rect r="r" b="b" t="t" l="l"/>
              <a:pathLst>
                <a:path h="504063" w="72009">
                  <a:moveTo>
                    <a:pt x="0" y="0"/>
                  </a:moveTo>
                  <a:lnTo>
                    <a:pt x="72009" y="0"/>
                  </a:lnTo>
                  <a:lnTo>
                    <a:pt x="72009" y="504063"/>
                  </a:lnTo>
                  <a:lnTo>
                    <a:pt x="0" y="504063"/>
                  </a:lnTo>
                  <a:close/>
                </a:path>
              </a:pathLst>
            </a:custGeom>
            <a:solidFill>
              <a:srgbClr val="A6A6A6"/>
            </a:solidFill>
            <a:ln w="12700">
              <a:solidFill>
                <a:srgbClr val="000000"/>
              </a:solidFill>
            </a:ln>
          </p:spPr>
        </p:sp>
        <p:sp>
          <p:nvSpPr>
            <p:cNvPr name="Freeform 53" id="53"/>
            <p:cNvSpPr/>
            <p:nvPr/>
          </p:nvSpPr>
          <p:spPr>
            <a:xfrm flipH="false" flipV="false" rot="0">
              <a:off x="0" y="0"/>
              <a:ext cx="88900" cy="521081"/>
            </a:xfrm>
            <a:custGeom>
              <a:avLst/>
              <a:gdLst/>
              <a:ahLst/>
              <a:cxnLst/>
              <a:rect r="r" b="b" t="t" l="l"/>
              <a:pathLst>
                <a:path h="521081" w="88900">
                  <a:moveTo>
                    <a:pt x="8509" y="0"/>
                  </a:moveTo>
                  <a:lnTo>
                    <a:pt x="80518" y="0"/>
                  </a:lnTo>
                  <a:cubicBezTo>
                    <a:pt x="85090" y="0"/>
                    <a:pt x="88900" y="3810"/>
                    <a:pt x="88900" y="8509"/>
                  </a:cubicBezTo>
                  <a:lnTo>
                    <a:pt x="88900" y="512572"/>
                  </a:lnTo>
                  <a:cubicBezTo>
                    <a:pt x="88900" y="517271"/>
                    <a:pt x="85090" y="521081"/>
                    <a:pt x="80391" y="521081"/>
                  </a:cubicBezTo>
                  <a:lnTo>
                    <a:pt x="8509" y="521081"/>
                  </a:lnTo>
                  <a:cubicBezTo>
                    <a:pt x="3810" y="521081"/>
                    <a:pt x="0" y="517271"/>
                    <a:pt x="0" y="512572"/>
                  </a:cubicBezTo>
                  <a:lnTo>
                    <a:pt x="0" y="8509"/>
                  </a:lnTo>
                  <a:cubicBezTo>
                    <a:pt x="0" y="3810"/>
                    <a:pt x="3810" y="0"/>
                    <a:pt x="8509" y="0"/>
                  </a:cubicBezTo>
                  <a:moveTo>
                    <a:pt x="8509" y="16891"/>
                  </a:moveTo>
                  <a:lnTo>
                    <a:pt x="8509" y="8509"/>
                  </a:lnTo>
                  <a:lnTo>
                    <a:pt x="17018" y="8509"/>
                  </a:lnTo>
                  <a:lnTo>
                    <a:pt x="17018" y="512572"/>
                  </a:lnTo>
                  <a:lnTo>
                    <a:pt x="8509" y="512572"/>
                  </a:lnTo>
                  <a:lnTo>
                    <a:pt x="8509" y="504063"/>
                  </a:lnTo>
                  <a:lnTo>
                    <a:pt x="80518" y="504063"/>
                  </a:lnTo>
                  <a:lnTo>
                    <a:pt x="80518" y="512572"/>
                  </a:lnTo>
                  <a:lnTo>
                    <a:pt x="72009" y="512572"/>
                  </a:lnTo>
                  <a:lnTo>
                    <a:pt x="72009" y="8509"/>
                  </a:lnTo>
                  <a:lnTo>
                    <a:pt x="80518" y="8509"/>
                  </a:lnTo>
                  <a:lnTo>
                    <a:pt x="80518" y="17018"/>
                  </a:lnTo>
                  <a:lnTo>
                    <a:pt x="8509" y="17018"/>
                  </a:lnTo>
                  <a:close/>
                </a:path>
              </a:pathLst>
            </a:custGeom>
            <a:solidFill>
              <a:srgbClr val="000000"/>
            </a:solidFill>
            <a:ln w="12700">
              <a:solidFill>
                <a:srgbClr val="000000"/>
              </a:solidFill>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1" y="-933779"/>
            <a:ext cx="18283431" cy="3105782"/>
            <a:chOff x="0" y="0"/>
            <a:chExt cx="24377908" cy="4141043"/>
          </a:xfrm>
        </p:grpSpPr>
        <p:sp>
          <p:nvSpPr>
            <p:cNvPr name="Freeform 3" id="3"/>
            <p:cNvSpPr/>
            <p:nvPr/>
          </p:nvSpPr>
          <p:spPr>
            <a:xfrm flipH="false" flipV="false" rot="0">
              <a:off x="0" y="0"/>
              <a:ext cx="24377904" cy="4141089"/>
            </a:xfrm>
            <a:custGeom>
              <a:avLst/>
              <a:gdLst/>
              <a:ahLst/>
              <a:cxnLst/>
              <a:rect r="r" b="b" t="t" l="l"/>
              <a:pathLst>
                <a:path h="4141089" w="24377904">
                  <a:moveTo>
                    <a:pt x="0" y="0"/>
                  </a:moveTo>
                  <a:lnTo>
                    <a:pt x="24377904" y="0"/>
                  </a:lnTo>
                  <a:lnTo>
                    <a:pt x="24377904" y="4141089"/>
                  </a:lnTo>
                  <a:lnTo>
                    <a:pt x="0" y="4141089"/>
                  </a:lnTo>
                  <a:close/>
                </a:path>
              </a:pathLst>
            </a:custGeom>
            <a:solidFill>
              <a:srgbClr val="1F497D"/>
            </a:solidFill>
            <a:ln w="12700">
              <a:solidFill>
                <a:srgbClr val="000000"/>
              </a:solidFill>
            </a:ln>
          </p:spPr>
        </p:sp>
      </p:grpSp>
      <p:sp>
        <p:nvSpPr>
          <p:cNvPr name="Freeform 4" id="4"/>
          <p:cNvSpPr/>
          <p:nvPr/>
        </p:nvSpPr>
        <p:spPr>
          <a:xfrm flipH="false" flipV="false" rot="0">
            <a:off x="1167184" y="2589366"/>
            <a:ext cx="15953645" cy="7697634"/>
          </a:xfrm>
          <a:custGeom>
            <a:avLst/>
            <a:gdLst/>
            <a:ahLst/>
            <a:cxnLst/>
            <a:rect r="r" b="b" t="t" l="l"/>
            <a:pathLst>
              <a:path h="7697634" w="15953645">
                <a:moveTo>
                  <a:pt x="0" y="0"/>
                </a:moveTo>
                <a:lnTo>
                  <a:pt x="15953645" y="0"/>
                </a:lnTo>
                <a:lnTo>
                  <a:pt x="15953645" y="7697634"/>
                </a:lnTo>
                <a:lnTo>
                  <a:pt x="0" y="7697634"/>
                </a:lnTo>
                <a:lnTo>
                  <a:pt x="0" y="0"/>
                </a:lnTo>
                <a:close/>
              </a:path>
            </a:pathLst>
          </a:custGeom>
          <a:blipFill>
            <a:blip r:embed="rId2"/>
            <a:stretch>
              <a:fillRect l="0" t="0" r="0" b="0"/>
            </a:stretch>
          </a:blipFill>
        </p:spPr>
      </p:sp>
      <p:sp>
        <p:nvSpPr>
          <p:cNvPr name="TextBox 5" id="5"/>
          <p:cNvSpPr txBox="true"/>
          <p:nvPr/>
        </p:nvSpPr>
        <p:spPr>
          <a:xfrm rot="0">
            <a:off x="1558689" y="561975"/>
            <a:ext cx="15964852" cy="847700"/>
          </a:xfrm>
          <a:prstGeom prst="rect">
            <a:avLst/>
          </a:prstGeom>
        </p:spPr>
        <p:txBody>
          <a:bodyPr anchor="t" rtlCol="false" tIns="0" lIns="0" bIns="0" rIns="0">
            <a:spAutoFit/>
          </a:bodyPr>
          <a:lstStyle/>
          <a:p>
            <a:pPr algn="l">
              <a:lnSpc>
                <a:spcPts val="6478"/>
              </a:lnSpc>
            </a:pPr>
            <a:r>
              <a:rPr lang="en-US" sz="5398" b="true">
                <a:solidFill>
                  <a:srgbClr val="FFFFFF"/>
                </a:solidFill>
                <a:latin typeface="Arial Bold"/>
                <a:ea typeface="Arial Bold"/>
                <a:cs typeface="Arial Bold"/>
                <a:sym typeface="Arial Bold"/>
              </a:rPr>
              <a:t>Real-Time City Data Pipeline &amp; Alerting Systemm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3230748"/>
            <a:chOff x="0" y="0"/>
            <a:chExt cx="24396700" cy="4307664"/>
          </a:xfrm>
        </p:grpSpPr>
        <p:sp>
          <p:nvSpPr>
            <p:cNvPr name="Freeform 3" id="3"/>
            <p:cNvSpPr/>
            <p:nvPr/>
          </p:nvSpPr>
          <p:spPr>
            <a:xfrm flipH="false" flipV="false" rot="0">
              <a:off x="8509" y="8824"/>
              <a:ext cx="24384001" cy="4294494"/>
            </a:xfrm>
            <a:custGeom>
              <a:avLst/>
              <a:gdLst/>
              <a:ahLst/>
              <a:cxnLst/>
              <a:rect r="r" b="b" t="t" l="l"/>
              <a:pathLst>
                <a:path h="4294494" w="24384001">
                  <a:moveTo>
                    <a:pt x="0" y="0"/>
                  </a:moveTo>
                  <a:lnTo>
                    <a:pt x="24384001" y="0"/>
                  </a:lnTo>
                  <a:lnTo>
                    <a:pt x="24384001" y="4294494"/>
                  </a:lnTo>
                  <a:lnTo>
                    <a:pt x="0" y="4294494"/>
                  </a:lnTo>
                  <a:close/>
                </a:path>
              </a:pathLst>
            </a:custGeom>
            <a:solidFill>
              <a:srgbClr val="1F497D"/>
            </a:solidFill>
            <a:ln w="12700">
              <a:solidFill>
                <a:srgbClr val="000000"/>
              </a:solidFill>
            </a:ln>
          </p:spPr>
        </p:sp>
        <p:sp>
          <p:nvSpPr>
            <p:cNvPr name="Freeform 4" id="4"/>
            <p:cNvSpPr/>
            <p:nvPr/>
          </p:nvSpPr>
          <p:spPr>
            <a:xfrm flipH="false" flipV="false" rot="0">
              <a:off x="0" y="0"/>
              <a:ext cx="24401018" cy="4311982"/>
            </a:xfrm>
            <a:custGeom>
              <a:avLst/>
              <a:gdLst/>
              <a:ahLst/>
              <a:cxnLst/>
              <a:rect r="r" b="b" t="t" l="l"/>
              <a:pathLst>
                <a:path h="4311982" w="24401018">
                  <a:moveTo>
                    <a:pt x="8509" y="0"/>
                  </a:moveTo>
                  <a:lnTo>
                    <a:pt x="24392510" y="0"/>
                  </a:lnTo>
                  <a:cubicBezTo>
                    <a:pt x="24397208" y="0"/>
                    <a:pt x="24401018" y="3951"/>
                    <a:pt x="24401018" y="8824"/>
                  </a:cubicBezTo>
                  <a:lnTo>
                    <a:pt x="24401018" y="4303318"/>
                  </a:lnTo>
                  <a:cubicBezTo>
                    <a:pt x="24401018" y="4308172"/>
                    <a:pt x="24397208" y="4311982"/>
                    <a:pt x="24392510" y="4311982"/>
                  </a:cubicBezTo>
                  <a:lnTo>
                    <a:pt x="8509" y="4311982"/>
                  </a:lnTo>
                  <a:cubicBezTo>
                    <a:pt x="3810" y="4311982"/>
                    <a:pt x="0" y="4308172"/>
                    <a:pt x="0" y="4303318"/>
                  </a:cubicBezTo>
                  <a:lnTo>
                    <a:pt x="0" y="8824"/>
                  </a:lnTo>
                  <a:cubicBezTo>
                    <a:pt x="0" y="3951"/>
                    <a:pt x="3810" y="0"/>
                    <a:pt x="8509" y="0"/>
                  </a:cubicBezTo>
                  <a:moveTo>
                    <a:pt x="8509" y="17517"/>
                  </a:moveTo>
                  <a:lnTo>
                    <a:pt x="8509" y="8824"/>
                  </a:lnTo>
                  <a:lnTo>
                    <a:pt x="17018" y="8824"/>
                  </a:lnTo>
                  <a:lnTo>
                    <a:pt x="17018" y="4303318"/>
                  </a:lnTo>
                  <a:lnTo>
                    <a:pt x="8509" y="4303318"/>
                  </a:lnTo>
                  <a:lnTo>
                    <a:pt x="8509" y="4294493"/>
                  </a:lnTo>
                  <a:lnTo>
                    <a:pt x="24392510" y="4294493"/>
                  </a:lnTo>
                  <a:lnTo>
                    <a:pt x="24392510" y="4303318"/>
                  </a:lnTo>
                  <a:lnTo>
                    <a:pt x="24384000" y="4303318"/>
                  </a:lnTo>
                  <a:lnTo>
                    <a:pt x="24384000" y="8824"/>
                  </a:lnTo>
                  <a:lnTo>
                    <a:pt x="24392510" y="8824"/>
                  </a:lnTo>
                  <a:lnTo>
                    <a:pt x="24392510" y="17648"/>
                  </a:lnTo>
                  <a:lnTo>
                    <a:pt x="8509" y="17648"/>
                  </a:lnTo>
                  <a:close/>
                </a:path>
              </a:pathLst>
            </a:custGeom>
            <a:solidFill>
              <a:srgbClr val="000000"/>
            </a:solidFill>
            <a:ln w="12700">
              <a:solidFill>
                <a:srgbClr val="000000"/>
              </a:solidFill>
            </a:ln>
          </p:spPr>
        </p:sp>
      </p:grpSp>
      <p:sp>
        <p:nvSpPr>
          <p:cNvPr name="TextBox 5" id="5"/>
          <p:cNvSpPr txBox="true"/>
          <p:nvPr/>
        </p:nvSpPr>
        <p:spPr>
          <a:xfrm rot="0">
            <a:off x="2555082" y="1145792"/>
            <a:ext cx="9418172" cy="1096215"/>
          </a:xfrm>
          <a:prstGeom prst="rect">
            <a:avLst/>
          </a:prstGeom>
        </p:spPr>
        <p:txBody>
          <a:bodyPr anchor="t" rtlCol="false" tIns="0" lIns="0" bIns="0" rIns="0">
            <a:spAutoFit/>
          </a:bodyPr>
          <a:lstStyle/>
          <a:p>
            <a:pPr algn="l">
              <a:lnSpc>
                <a:spcPts val="7600"/>
              </a:lnSpc>
            </a:pPr>
            <a:r>
              <a:rPr lang="en-US" sz="6333" b="true">
                <a:solidFill>
                  <a:srgbClr val="FFFFFF"/>
                </a:solidFill>
                <a:latin typeface="Calibri (MS) Bold"/>
                <a:ea typeface="Calibri (MS) Bold"/>
                <a:cs typeface="Calibri (MS) Bold"/>
                <a:sym typeface="Calibri (MS) Bold"/>
              </a:rPr>
              <a:t>Lambda </a:t>
            </a:r>
            <a:r>
              <a:rPr lang="en-US" sz="6333" b="true">
                <a:solidFill>
                  <a:srgbClr val="FFFFFF"/>
                </a:solidFill>
                <a:latin typeface="Calibri (MS) Bold"/>
                <a:ea typeface="Calibri (MS) Bold"/>
                <a:cs typeface="Calibri (MS) Bold"/>
                <a:sym typeface="Calibri (MS) Bold"/>
              </a:rPr>
              <a:t>Architecture</a:t>
            </a:r>
          </a:p>
        </p:txBody>
      </p:sp>
      <p:sp>
        <p:nvSpPr>
          <p:cNvPr name="Freeform 6" id="6"/>
          <p:cNvSpPr/>
          <p:nvPr/>
        </p:nvSpPr>
        <p:spPr>
          <a:xfrm flipH="false" flipV="false" rot="0">
            <a:off x="2218793" y="3324133"/>
            <a:ext cx="13506582" cy="6762005"/>
          </a:xfrm>
          <a:custGeom>
            <a:avLst/>
            <a:gdLst/>
            <a:ahLst/>
            <a:cxnLst/>
            <a:rect r="r" b="b" t="t" l="l"/>
            <a:pathLst>
              <a:path h="6762005" w="13506582">
                <a:moveTo>
                  <a:pt x="0" y="0"/>
                </a:moveTo>
                <a:lnTo>
                  <a:pt x="13506582" y="0"/>
                </a:lnTo>
                <a:lnTo>
                  <a:pt x="13506582" y="6762006"/>
                </a:lnTo>
                <a:lnTo>
                  <a:pt x="0" y="6762006"/>
                </a:lnTo>
                <a:lnTo>
                  <a:pt x="0" y="0"/>
                </a:lnTo>
                <a:close/>
              </a:path>
            </a:pathLst>
          </a:custGeom>
          <a:blipFill>
            <a:blip r:embed="rId2"/>
            <a:stretch>
              <a:fillRect l="0" t="-11579" r="0" b="-2273"/>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3230748"/>
            <a:chOff x="0" y="0"/>
            <a:chExt cx="24396700" cy="4307664"/>
          </a:xfrm>
        </p:grpSpPr>
        <p:sp>
          <p:nvSpPr>
            <p:cNvPr name="Freeform 3" id="3"/>
            <p:cNvSpPr/>
            <p:nvPr/>
          </p:nvSpPr>
          <p:spPr>
            <a:xfrm flipH="false" flipV="false" rot="0">
              <a:off x="8509" y="8824"/>
              <a:ext cx="24384001" cy="4294494"/>
            </a:xfrm>
            <a:custGeom>
              <a:avLst/>
              <a:gdLst/>
              <a:ahLst/>
              <a:cxnLst/>
              <a:rect r="r" b="b" t="t" l="l"/>
              <a:pathLst>
                <a:path h="4294494" w="24384001">
                  <a:moveTo>
                    <a:pt x="0" y="0"/>
                  </a:moveTo>
                  <a:lnTo>
                    <a:pt x="24384001" y="0"/>
                  </a:lnTo>
                  <a:lnTo>
                    <a:pt x="24384001" y="4294494"/>
                  </a:lnTo>
                  <a:lnTo>
                    <a:pt x="0" y="4294494"/>
                  </a:lnTo>
                  <a:close/>
                </a:path>
              </a:pathLst>
            </a:custGeom>
            <a:solidFill>
              <a:srgbClr val="1F497D"/>
            </a:solidFill>
            <a:ln w="12700">
              <a:solidFill>
                <a:srgbClr val="000000"/>
              </a:solidFill>
            </a:ln>
          </p:spPr>
        </p:sp>
        <p:sp>
          <p:nvSpPr>
            <p:cNvPr name="Freeform 4" id="4"/>
            <p:cNvSpPr/>
            <p:nvPr/>
          </p:nvSpPr>
          <p:spPr>
            <a:xfrm flipH="false" flipV="false" rot="0">
              <a:off x="0" y="0"/>
              <a:ext cx="24401018" cy="4311982"/>
            </a:xfrm>
            <a:custGeom>
              <a:avLst/>
              <a:gdLst/>
              <a:ahLst/>
              <a:cxnLst/>
              <a:rect r="r" b="b" t="t" l="l"/>
              <a:pathLst>
                <a:path h="4311982" w="24401018">
                  <a:moveTo>
                    <a:pt x="8509" y="0"/>
                  </a:moveTo>
                  <a:lnTo>
                    <a:pt x="24392510" y="0"/>
                  </a:lnTo>
                  <a:cubicBezTo>
                    <a:pt x="24397208" y="0"/>
                    <a:pt x="24401018" y="3951"/>
                    <a:pt x="24401018" y="8824"/>
                  </a:cubicBezTo>
                  <a:lnTo>
                    <a:pt x="24401018" y="4303318"/>
                  </a:lnTo>
                  <a:cubicBezTo>
                    <a:pt x="24401018" y="4308172"/>
                    <a:pt x="24397208" y="4311982"/>
                    <a:pt x="24392510" y="4311982"/>
                  </a:cubicBezTo>
                  <a:lnTo>
                    <a:pt x="8509" y="4311982"/>
                  </a:lnTo>
                  <a:cubicBezTo>
                    <a:pt x="3810" y="4311982"/>
                    <a:pt x="0" y="4308172"/>
                    <a:pt x="0" y="4303318"/>
                  </a:cubicBezTo>
                  <a:lnTo>
                    <a:pt x="0" y="8824"/>
                  </a:lnTo>
                  <a:cubicBezTo>
                    <a:pt x="0" y="3951"/>
                    <a:pt x="3810" y="0"/>
                    <a:pt x="8509" y="0"/>
                  </a:cubicBezTo>
                  <a:moveTo>
                    <a:pt x="8509" y="17517"/>
                  </a:moveTo>
                  <a:lnTo>
                    <a:pt x="8509" y="8824"/>
                  </a:lnTo>
                  <a:lnTo>
                    <a:pt x="17018" y="8824"/>
                  </a:lnTo>
                  <a:lnTo>
                    <a:pt x="17018" y="4303318"/>
                  </a:lnTo>
                  <a:lnTo>
                    <a:pt x="8509" y="4303318"/>
                  </a:lnTo>
                  <a:lnTo>
                    <a:pt x="8509" y="4294493"/>
                  </a:lnTo>
                  <a:lnTo>
                    <a:pt x="24392510" y="4294493"/>
                  </a:lnTo>
                  <a:lnTo>
                    <a:pt x="24392510" y="4303318"/>
                  </a:lnTo>
                  <a:lnTo>
                    <a:pt x="24384000" y="4303318"/>
                  </a:lnTo>
                  <a:lnTo>
                    <a:pt x="24384000" y="8824"/>
                  </a:lnTo>
                  <a:lnTo>
                    <a:pt x="24392510" y="8824"/>
                  </a:lnTo>
                  <a:lnTo>
                    <a:pt x="24392510" y="17648"/>
                  </a:lnTo>
                  <a:lnTo>
                    <a:pt x="8509" y="17648"/>
                  </a:lnTo>
                  <a:close/>
                </a:path>
              </a:pathLst>
            </a:custGeom>
            <a:solidFill>
              <a:srgbClr val="000000"/>
            </a:solidFill>
            <a:ln w="12700">
              <a:solidFill>
                <a:srgbClr val="000000"/>
              </a:solidFill>
            </a:ln>
          </p:spPr>
        </p:sp>
      </p:grpSp>
      <p:sp>
        <p:nvSpPr>
          <p:cNvPr name="TextBox 5" id="5"/>
          <p:cNvSpPr txBox="true"/>
          <p:nvPr/>
        </p:nvSpPr>
        <p:spPr>
          <a:xfrm rot="0">
            <a:off x="2555082" y="1145792"/>
            <a:ext cx="9418172" cy="1096215"/>
          </a:xfrm>
          <a:prstGeom prst="rect">
            <a:avLst/>
          </a:prstGeom>
        </p:spPr>
        <p:txBody>
          <a:bodyPr anchor="t" rtlCol="false" tIns="0" lIns="0" bIns="0" rIns="0">
            <a:spAutoFit/>
          </a:bodyPr>
          <a:lstStyle/>
          <a:p>
            <a:pPr algn="l">
              <a:lnSpc>
                <a:spcPts val="7600"/>
              </a:lnSpc>
            </a:pPr>
            <a:r>
              <a:rPr lang="en-US" sz="6333" b="true">
                <a:solidFill>
                  <a:srgbClr val="FFFFFF"/>
                </a:solidFill>
                <a:latin typeface="Calibri (MS) Bold"/>
                <a:ea typeface="Calibri (MS) Bold"/>
                <a:cs typeface="Calibri (MS) Bold"/>
                <a:sym typeface="Calibri (MS) Bold"/>
              </a:rPr>
              <a:t>Medallion </a:t>
            </a:r>
            <a:r>
              <a:rPr lang="en-US" sz="6333" b="true">
                <a:solidFill>
                  <a:srgbClr val="FFFFFF"/>
                </a:solidFill>
                <a:latin typeface="Calibri (MS) Bold"/>
                <a:ea typeface="Calibri (MS) Bold"/>
                <a:cs typeface="Calibri (MS) Bold"/>
                <a:sym typeface="Calibri (MS) Bold"/>
              </a:rPr>
              <a:t>Architecture</a:t>
            </a:r>
          </a:p>
        </p:txBody>
      </p:sp>
      <p:sp>
        <p:nvSpPr>
          <p:cNvPr name="Freeform 6" id="6"/>
          <p:cNvSpPr/>
          <p:nvPr/>
        </p:nvSpPr>
        <p:spPr>
          <a:xfrm flipH="false" flipV="false" rot="0">
            <a:off x="1" y="3225986"/>
            <a:ext cx="18287999" cy="7019358"/>
          </a:xfrm>
          <a:custGeom>
            <a:avLst/>
            <a:gdLst/>
            <a:ahLst/>
            <a:cxnLst/>
            <a:rect r="r" b="b" t="t" l="l"/>
            <a:pathLst>
              <a:path h="7019358" w="18287999">
                <a:moveTo>
                  <a:pt x="0" y="0"/>
                </a:moveTo>
                <a:lnTo>
                  <a:pt x="18287999" y="0"/>
                </a:lnTo>
                <a:lnTo>
                  <a:pt x="18287999" y="7019357"/>
                </a:lnTo>
                <a:lnTo>
                  <a:pt x="0" y="7019357"/>
                </a:lnTo>
                <a:lnTo>
                  <a:pt x="0" y="0"/>
                </a:lnTo>
                <a:close/>
              </a:path>
            </a:pathLst>
          </a:custGeom>
          <a:blipFill>
            <a:blip r:embed="rId2"/>
            <a:stretch>
              <a:fillRect l="0" t="-22531" r="0" b="-2851"/>
            </a:stretch>
          </a:blipFill>
        </p:spPr>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62" y="-4762"/>
            <a:ext cx="18297525" cy="2715757"/>
            <a:chOff x="0" y="0"/>
            <a:chExt cx="24396700" cy="3621009"/>
          </a:xfrm>
        </p:grpSpPr>
        <p:sp>
          <p:nvSpPr>
            <p:cNvPr name="Freeform 3" id="3"/>
            <p:cNvSpPr/>
            <p:nvPr/>
          </p:nvSpPr>
          <p:spPr>
            <a:xfrm flipH="false" flipV="false" rot="0">
              <a:off x="8509" y="8509"/>
              <a:ext cx="24384001" cy="3608324"/>
            </a:xfrm>
            <a:custGeom>
              <a:avLst/>
              <a:gdLst/>
              <a:ahLst/>
              <a:cxnLst/>
              <a:rect r="r" b="b" t="t" l="l"/>
              <a:pathLst>
                <a:path h="3608324" w="24384001">
                  <a:moveTo>
                    <a:pt x="0" y="0"/>
                  </a:moveTo>
                  <a:lnTo>
                    <a:pt x="24384001" y="0"/>
                  </a:lnTo>
                  <a:lnTo>
                    <a:pt x="24384001" y="3608324"/>
                  </a:lnTo>
                  <a:lnTo>
                    <a:pt x="0" y="3608324"/>
                  </a:lnTo>
                  <a:close/>
                </a:path>
              </a:pathLst>
            </a:custGeom>
            <a:solidFill>
              <a:srgbClr val="1F497D"/>
            </a:solidFill>
            <a:ln w="12700">
              <a:solidFill>
                <a:srgbClr val="000000"/>
              </a:solidFill>
            </a:ln>
          </p:spPr>
        </p:sp>
        <p:sp>
          <p:nvSpPr>
            <p:cNvPr name="Freeform 4" id="4"/>
            <p:cNvSpPr/>
            <p:nvPr/>
          </p:nvSpPr>
          <p:spPr>
            <a:xfrm flipH="false" flipV="false" rot="0">
              <a:off x="0" y="0"/>
              <a:ext cx="24401018" cy="3625342"/>
            </a:xfrm>
            <a:custGeom>
              <a:avLst/>
              <a:gdLst/>
              <a:ahLst/>
              <a:cxnLst/>
              <a:rect r="r" b="b" t="t" l="l"/>
              <a:pathLst>
                <a:path h="3625342" w="24401018">
                  <a:moveTo>
                    <a:pt x="8509" y="0"/>
                  </a:moveTo>
                  <a:lnTo>
                    <a:pt x="24392510" y="0"/>
                  </a:lnTo>
                  <a:cubicBezTo>
                    <a:pt x="24397208" y="0"/>
                    <a:pt x="24401018" y="3810"/>
                    <a:pt x="24401018" y="8509"/>
                  </a:cubicBezTo>
                  <a:lnTo>
                    <a:pt x="24401018" y="3616833"/>
                  </a:lnTo>
                  <a:cubicBezTo>
                    <a:pt x="24401018" y="3621532"/>
                    <a:pt x="24397208" y="3625342"/>
                    <a:pt x="24392510" y="3625342"/>
                  </a:cubicBezTo>
                  <a:lnTo>
                    <a:pt x="8509" y="3625342"/>
                  </a:lnTo>
                  <a:cubicBezTo>
                    <a:pt x="3810" y="3625342"/>
                    <a:pt x="0" y="3621532"/>
                    <a:pt x="0" y="3616833"/>
                  </a:cubicBezTo>
                  <a:lnTo>
                    <a:pt x="0" y="8509"/>
                  </a:lnTo>
                  <a:cubicBezTo>
                    <a:pt x="0" y="3810"/>
                    <a:pt x="3810" y="0"/>
                    <a:pt x="8509" y="0"/>
                  </a:cubicBezTo>
                  <a:moveTo>
                    <a:pt x="8509" y="16891"/>
                  </a:moveTo>
                  <a:lnTo>
                    <a:pt x="8509" y="8509"/>
                  </a:lnTo>
                  <a:lnTo>
                    <a:pt x="17018" y="8509"/>
                  </a:lnTo>
                  <a:lnTo>
                    <a:pt x="17018" y="3616833"/>
                  </a:lnTo>
                  <a:lnTo>
                    <a:pt x="8509" y="3616833"/>
                  </a:lnTo>
                  <a:lnTo>
                    <a:pt x="8509" y="3608324"/>
                  </a:lnTo>
                  <a:lnTo>
                    <a:pt x="24392510" y="3608324"/>
                  </a:lnTo>
                  <a:lnTo>
                    <a:pt x="24392510" y="3616833"/>
                  </a:lnTo>
                  <a:lnTo>
                    <a:pt x="24384000" y="3616833"/>
                  </a:lnTo>
                  <a:lnTo>
                    <a:pt x="24384000" y="8509"/>
                  </a:lnTo>
                  <a:lnTo>
                    <a:pt x="24392510" y="8509"/>
                  </a:lnTo>
                  <a:lnTo>
                    <a:pt x="24392510" y="17018"/>
                  </a:lnTo>
                  <a:lnTo>
                    <a:pt x="8509" y="17018"/>
                  </a:lnTo>
                  <a:close/>
                </a:path>
              </a:pathLst>
            </a:custGeom>
            <a:solidFill>
              <a:srgbClr val="000000"/>
            </a:solidFill>
            <a:ln w="12700">
              <a:solidFill>
                <a:srgbClr val="000000"/>
              </a:solidFill>
            </a:ln>
          </p:spPr>
        </p:sp>
      </p:grpSp>
      <p:sp>
        <p:nvSpPr>
          <p:cNvPr name="TextBox 5" id="5"/>
          <p:cNvSpPr txBox="true"/>
          <p:nvPr/>
        </p:nvSpPr>
        <p:spPr>
          <a:xfrm rot="0">
            <a:off x="1428598" y="624453"/>
            <a:ext cx="11131550" cy="1304925"/>
          </a:xfrm>
          <a:prstGeom prst="rect">
            <a:avLst/>
          </a:prstGeom>
        </p:spPr>
        <p:txBody>
          <a:bodyPr anchor="t" rtlCol="false" tIns="0" lIns="0" bIns="0" rIns="0">
            <a:spAutoFit/>
          </a:bodyPr>
          <a:lstStyle/>
          <a:p>
            <a:pPr algn="l">
              <a:lnSpc>
                <a:spcPts val="9131"/>
              </a:lnSpc>
            </a:pPr>
            <a:r>
              <a:rPr lang="en-US" sz="7609" b="true">
                <a:solidFill>
                  <a:srgbClr val="FFFFFF"/>
                </a:solidFill>
                <a:latin typeface="Calibri (MS) Bold"/>
                <a:ea typeface="Calibri (MS) Bold"/>
                <a:cs typeface="Calibri (MS) Bold"/>
                <a:sym typeface="Calibri (MS) Bold"/>
              </a:rPr>
              <a:t>Data Overview</a:t>
            </a:r>
          </a:p>
        </p:txBody>
      </p:sp>
      <p:sp>
        <p:nvSpPr>
          <p:cNvPr name="TextBox 6" id="6"/>
          <p:cNvSpPr txBox="true"/>
          <p:nvPr/>
        </p:nvSpPr>
        <p:spPr>
          <a:xfrm rot="0">
            <a:off x="9845331" y="2919451"/>
            <a:ext cx="7188747" cy="5819856"/>
          </a:xfrm>
          <a:prstGeom prst="rect">
            <a:avLst/>
          </a:prstGeom>
        </p:spPr>
        <p:txBody>
          <a:bodyPr anchor="t" rtlCol="false" tIns="0" lIns="0" bIns="0" rIns="0">
            <a:spAutoFit/>
          </a:bodyPr>
          <a:lstStyle/>
          <a:p>
            <a:pPr algn="l">
              <a:lnSpc>
                <a:spcPts val="3625"/>
              </a:lnSpc>
            </a:pPr>
            <a:r>
              <a:rPr lang="en-US" sz="3021" b="true">
                <a:solidFill>
                  <a:srgbClr val="000000"/>
                </a:solidFill>
                <a:latin typeface="Calibri (MS) Bold"/>
                <a:ea typeface="Calibri (MS) Bold"/>
                <a:cs typeface="Calibri (MS) Bold"/>
                <a:sym typeface="Calibri (MS) Bold"/>
              </a:rPr>
              <a:t>Lo</a:t>
            </a:r>
            <a:r>
              <a:rPr lang="en-US" sz="3021" b="true">
                <a:solidFill>
                  <a:srgbClr val="000000"/>
                </a:solidFill>
                <a:latin typeface="Calibri (MS) Bold"/>
                <a:ea typeface="Calibri (MS) Bold"/>
                <a:cs typeface="Calibri (MS) Bold"/>
                <a:sym typeface="Calibri (MS) Bold"/>
              </a:rPr>
              <a:t>cations: </a:t>
            </a:r>
            <a:r>
              <a:rPr lang="en-US" sz="3021">
                <a:solidFill>
                  <a:srgbClr val="000000"/>
                </a:solidFill>
                <a:latin typeface="Calibri (MS)"/>
                <a:ea typeface="Calibri (MS)"/>
                <a:cs typeface="Calibri (MS)"/>
                <a:sym typeface="Calibri (MS)"/>
              </a:rPr>
              <a:t>5 cities with sensors</a:t>
            </a:r>
          </a:p>
          <a:p>
            <a:pPr algn="l" marL="642913" indent="-214304" lvl="2">
              <a:lnSpc>
                <a:spcPts val="3374"/>
              </a:lnSpc>
              <a:buFont typeface="Arial"/>
              <a:buChar char="⚬"/>
            </a:pPr>
            <a:r>
              <a:rPr lang="en-US" sz="2812">
                <a:solidFill>
                  <a:srgbClr val="000000"/>
                </a:solidFill>
                <a:latin typeface="Calibri (MS)"/>
                <a:ea typeface="Calibri (MS)"/>
                <a:cs typeface="Calibri (MS)"/>
                <a:sym typeface="Calibri (MS)"/>
              </a:rPr>
              <a:t>ALex</a:t>
            </a:r>
          </a:p>
          <a:p>
            <a:pPr algn="l" marL="642913" indent="-214304" lvl="2">
              <a:lnSpc>
                <a:spcPts val="3374"/>
              </a:lnSpc>
              <a:buFont typeface="Arial"/>
              <a:buChar char="⚬"/>
            </a:pPr>
            <a:r>
              <a:rPr lang="en-US" sz="2812">
                <a:solidFill>
                  <a:srgbClr val="000000"/>
                </a:solidFill>
                <a:latin typeface="Calibri (MS)"/>
                <a:ea typeface="Calibri (MS)"/>
                <a:cs typeface="Calibri (MS)"/>
                <a:sym typeface="Calibri (MS)"/>
              </a:rPr>
              <a:t>Cairo</a:t>
            </a:r>
          </a:p>
          <a:p>
            <a:pPr algn="l" marL="642908" indent="-214303" lvl="2">
              <a:lnSpc>
                <a:spcPts val="3372"/>
              </a:lnSpc>
              <a:buFont typeface="Arial"/>
              <a:buChar char="⚬"/>
            </a:pPr>
            <a:r>
              <a:rPr lang="en-US" sz="2812">
                <a:solidFill>
                  <a:srgbClr val="000000"/>
                </a:solidFill>
                <a:latin typeface="Calibri (MS)"/>
                <a:ea typeface="Calibri (MS)"/>
                <a:cs typeface="Calibri (MS)"/>
                <a:sym typeface="Calibri (MS)"/>
              </a:rPr>
              <a:t>Giza</a:t>
            </a:r>
          </a:p>
          <a:p>
            <a:pPr algn="l" marL="642908" indent="-214303" lvl="2">
              <a:lnSpc>
                <a:spcPts val="3372"/>
              </a:lnSpc>
              <a:buFont typeface="Arial"/>
              <a:buChar char="⚬"/>
            </a:pPr>
            <a:r>
              <a:rPr lang="en-US" sz="2812">
                <a:solidFill>
                  <a:srgbClr val="000000"/>
                </a:solidFill>
                <a:latin typeface="Calibri (MS)"/>
                <a:ea typeface="Calibri (MS)"/>
                <a:cs typeface="Calibri (MS)"/>
                <a:sym typeface="Calibri (MS)"/>
              </a:rPr>
              <a:t>Aswan</a:t>
            </a:r>
          </a:p>
          <a:p>
            <a:pPr algn="l" marL="642908" indent="-214303" lvl="2">
              <a:lnSpc>
                <a:spcPts val="3372"/>
              </a:lnSpc>
              <a:buFont typeface="Arial"/>
              <a:buChar char="⚬"/>
            </a:pPr>
            <a:r>
              <a:rPr lang="en-US" sz="2812">
                <a:solidFill>
                  <a:srgbClr val="000000"/>
                </a:solidFill>
                <a:latin typeface="Calibri (MS)"/>
                <a:ea typeface="Calibri (MS)"/>
                <a:cs typeface="Calibri (MS)"/>
                <a:sym typeface="Calibri (MS)"/>
              </a:rPr>
              <a:t>Mansoura</a:t>
            </a:r>
          </a:p>
          <a:p>
            <a:pPr algn="l">
              <a:lnSpc>
                <a:spcPts val="3374"/>
              </a:lnSpc>
            </a:pPr>
          </a:p>
          <a:p>
            <a:pPr algn="l">
              <a:lnSpc>
                <a:spcPts val="3372"/>
              </a:lnSpc>
            </a:pPr>
            <a:r>
              <a:rPr lang="en-US" b="true" sz="2812">
                <a:solidFill>
                  <a:srgbClr val="000000"/>
                </a:solidFill>
                <a:latin typeface="Calibri (MS) Bold"/>
                <a:ea typeface="Calibri (MS) Bold"/>
                <a:cs typeface="Calibri (MS) Bold"/>
                <a:sym typeface="Calibri (MS) Bold"/>
              </a:rPr>
              <a:t>Air Quality Sensors :</a:t>
            </a:r>
          </a:p>
          <a:p>
            <a:pPr algn="l" marL="542423" indent="-271211" lvl="1">
              <a:lnSpc>
                <a:spcPts val="3012"/>
              </a:lnSpc>
              <a:buFont typeface="Arial"/>
              <a:buChar char="•"/>
            </a:pPr>
            <a:r>
              <a:rPr lang="en-US" sz="2512">
                <a:solidFill>
                  <a:srgbClr val="000000"/>
                </a:solidFill>
                <a:latin typeface="Calibri (MS)"/>
                <a:ea typeface="Calibri (MS)"/>
                <a:cs typeface="Calibri (MS)"/>
                <a:sym typeface="Calibri (MS)"/>
              </a:rPr>
              <a:t>PM2.5/PM10: µg/m³.</a:t>
            </a:r>
          </a:p>
          <a:p>
            <a:pPr algn="l" marL="542423" indent="-271211" lvl="1">
              <a:lnSpc>
                <a:spcPts val="3012"/>
              </a:lnSpc>
              <a:buFont typeface="Arial"/>
              <a:buChar char="•"/>
            </a:pPr>
            <a:r>
              <a:rPr lang="en-US" sz="2512">
                <a:solidFill>
                  <a:srgbClr val="000000"/>
                </a:solidFill>
                <a:latin typeface="Calibri (MS)"/>
                <a:ea typeface="Calibri (MS)"/>
                <a:cs typeface="Calibri (MS)"/>
                <a:sym typeface="Calibri (MS)"/>
              </a:rPr>
              <a:t>NO2: ppb.</a:t>
            </a:r>
          </a:p>
          <a:p>
            <a:pPr algn="l" marL="542423" indent="-271211" lvl="1">
              <a:lnSpc>
                <a:spcPts val="3012"/>
              </a:lnSpc>
              <a:buFont typeface="Arial"/>
              <a:buChar char="•"/>
            </a:pPr>
            <a:r>
              <a:rPr lang="en-US" sz="2512">
                <a:solidFill>
                  <a:srgbClr val="000000"/>
                </a:solidFill>
                <a:latin typeface="Calibri (MS)"/>
                <a:ea typeface="Calibri (MS)"/>
                <a:cs typeface="Calibri (MS)"/>
                <a:sym typeface="Calibri (MS)"/>
              </a:rPr>
              <a:t>CO/O3: ppm/ppb.</a:t>
            </a:r>
          </a:p>
          <a:p>
            <a:pPr algn="l" marL="542423" indent="-271211" lvl="1">
              <a:lnSpc>
                <a:spcPts val="3014"/>
              </a:lnSpc>
              <a:buFont typeface="Arial"/>
              <a:buChar char="•"/>
            </a:pPr>
            <a:r>
              <a:rPr lang="en-US" sz="2512">
                <a:solidFill>
                  <a:srgbClr val="000000"/>
                </a:solidFill>
                <a:latin typeface="Calibri (MS)"/>
                <a:ea typeface="Calibri (MS)"/>
                <a:cs typeface="Calibri (MS)"/>
                <a:sym typeface="Calibri (MS)"/>
              </a:rPr>
              <a:t>AQI: Index (0-500, EPA formula, unhealthy &gt;150).</a:t>
            </a:r>
          </a:p>
          <a:p>
            <a:pPr algn="l" marL="642913" indent="-214304" lvl="2">
              <a:lnSpc>
                <a:spcPts val="3374"/>
              </a:lnSpc>
            </a:pPr>
          </a:p>
          <a:p>
            <a:pPr algn="l" marL="642913" indent="-214304" lvl="2">
              <a:lnSpc>
                <a:spcPts val="3374"/>
              </a:lnSpc>
            </a:pPr>
          </a:p>
        </p:txBody>
      </p:sp>
      <p:sp>
        <p:nvSpPr>
          <p:cNvPr name="TextBox 7" id="7"/>
          <p:cNvSpPr txBox="true"/>
          <p:nvPr/>
        </p:nvSpPr>
        <p:spPr>
          <a:xfrm rot="0">
            <a:off x="526602" y="2919451"/>
            <a:ext cx="7549854" cy="5636260"/>
          </a:xfrm>
          <a:prstGeom prst="rect">
            <a:avLst/>
          </a:prstGeom>
        </p:spPr>
        <p:txBody>
          <a:bodyPr anchor="t" rtlCol="false" tIns="0" lIns="0" bIns="0" rIns="0">
            <a:spAutoFit/>
          </a:bodyPr>
          <a:lstStyle/>
          <a:p>
            <a:pPr algn="l">
              <a:lnSpc>
                <a:spcPts val="3659"/>
              </a:lnSpc>
            </a:pPr>
            <a:r>
              <a:rPr lang="en-US" sz="3049" b="true">
                <a:solidFill>
                  <a:srgbClr val="000000"/>
                </a:solidFill>
                <a:latin typeface="Calibri (MS) Bold"/>
                <a:ea typeface="Calibri (MS) Bold"/>
                <a:cs typeface="Calibri (MS) Bold"/>
                <a:sym typeface="Calibri (MS) Bold"/>
              </a:rPr>
              <a:t>Data Sources</a:t>
            </a:r>
          </a:p>
          <a:p>
            <a:pPr algn="l">
              <a:lnSpc>
                <a:spcPts val="3300"/>
              </a:lnSpc>
            </a:pPr>
            <a:r>
              <a:rPr lang="en-US" sz="2750">
                <a:solidFill>
                  <a:srgbClr val="000000"/>
                </a:solidFill>
                <a:latin typeface="Calibri (MS)"/>
                <a:ea typeface="Calibri (MS)"/>
                <a:cs typeface="Calibri (MS)"/>
                <a:sym typeface="Calibri (MS)"/>
              </a:rPr>
              <a:t>Python producer streams merged traffic + air data every 5 seconds</a:t>
            </a:r>
            <a:r>
              <a:rPr lang="en-US" sz="2750">
                <a:solidFill>
                  <a:srgbClr val="000000"/>
                </a:solidFill>
                <a:latin typeface="Calibri (MS)"/>
                <a:ea typeface="Calibri (MS)"/>
                <a:cs typeface="Calibri (MS)"/>
                <a:sym typeface="Calibri (MS)"/>
              </a:rPr>
              <a:t> to Event Hub,  Random variation for natural fluctuations 12k events/hour total.</a:t>
            </a:r>
          </a:p>
          <a:p>
            <a:pPr algn="l">
              <a:lnSpc>
                <a:spcPts val="3300"/>
              </a:lnSpc>
            </a:pPr>
          </a:p>
          <a:p>
            <a:pPr algn="l">
              <a:lnSpc>
                <a:spcPts val="3300"/>
              </a:lnSpc>
            </a:pPr>
          </a:p>
          <a:p>
            <a:pPr algn="l">
              <a:lnSpc>
                <a:spcPts val="3300"/>
              </a:lnSpc>
            </a:pPr>
          </a:p>
          <a:p>
            <a:pPr algn="l">
              <a:lnSpc>
                <a:spcPts val="3850"/>
              </a:lnSpc>
            </a:pPr>
            <a:r>
              <a:rPr lang="en-US" sz="2750" b="true">
                <a:solidFill>
                  <a:srgbClr val="000000"/>
                </a:solidFill>
                <a:latin typeface="Calibri (MS) Bold"/>
                <a:ea typeface="Calibri (MS) Bold"/>
                <a:cs typeface="Calibri (MS) Bold"/>
                <a:sym typeface="Calibri (MS) Bold"/>
              </a:rPr>
              <a:t>Tr</a:t>
            </a:r>
            <a:r>
              <a:rPr lang="en-US" sz="2750" b="true">
                <a:solidFill>
                  <a:srgbClr val="000000"/>
                </a:solidFill>
                <a:latin typeface="Calibri (MS) Bold"/>
                <a:ea typeface="Calibri (MS) Bold"/>
                <a:cs typeface="Calibri (MS) Bold"/>
                <a:sym typeface="Calibri (MS) Bold"/>
              </a:rPr>
              <a:t>affic Sensors :</a:t>
            </a:r>
          </a:p>
          <a:p>
            <a:pPr algn="just" marL="528957" indent="-264479" lvl="1">
              <a:lnSpc>
                <a:spcPts val="3430"/>
              </a:lnSpc>
              <a:buFont typeface="Arial"/>
              <a:buChar char="•"/>
            </a:pPr>
            <a:r>
              <a:rPr lang="en-US" sz="2450">
                <a:solidFill>
                  <a:srgbClr val="000000"/>
                </a:solidFill>
                <a:latin typeface="Calibri (MS)"/>
                <a:ea typeface="Calibri (MS)"/>
                <a:cs typeface="Calibri (MS)"/>
                <a:sym typeface="Calibri (MS)"/>
              </a:rPr>
              <a:t>Congestion Level: % road usage.</a:t>
            </a:r>
          </a:p>
          <a:p>
            <a:pPr algn="just" marL="528957" indent="-264479" lvl="1">
              <a:lnSpc>
                <a:spcPts val="3430"/>
              </a:lnSpc>
              <a:buFont typeface="Arial"/>
              <a:buChar char="•"/>
            </a:pPr>
            <a:r>
              <a:rPr lang="en-US" sz="2450">
                <a:solidFill>
                  <a:srgbClr val="000000"/>
                </a:solidFill>
                <a:latin typeface="Calibri (MS)"/>
                <a:ea typeface="Calibri (MS)"/>
                <a:cs typeface="Calibri (MS)"/>
                <a:sym typeface="Calibri (MS)"/>
              </a:rPr>
              <a:t>Average Speed: km/h.</a:t>
            </a:r>
          </a:p>
          <a:p>
            <a:pPr algn="just" marL="528957" indent="-264479" lvl="1">
              <a:lnSpc>
                <a:spcPts val="3430"/>
              </a:lnSpc>
              <a:buFont typeface="Arial"/>
              <a:buChar char="•"/>
            </a:pPr>
            <a:r>
              <a:rPr lang="en-US" sz="2450">
                <a:solidFill>
                  <a:srgbClr val="000000"/>
                </a:solidFill>
                <a:latin typeface="Calibri (MS)"/>
                <a:ea typeface="Calibri (MS)"/>
                <a:cs typeface="Calibri (MS)"/>
                <a:sym typeface="Calibri (MS)"/>
              </a:rPr>
              <a:t>Vehicle Count: Number/hour.</a:t>
            </a:r>
          </a:p>
          <a:p>
            <a:pPr algn="just" marL="528957" indent="-264479" lvl="1">
              <a:lnSpc>
                <a:spcPts val="3430"/>
              </a:lnSpc>
              <a:buFont typeface="Arial"/>
              <a:buChar char="•"/>
            </a:pPr>
            <a:r>
              <a:rPr lang="en-US" sz="2450">
                <a:solidFill>
                  <a:srgbClr val="000000"/>
                </a:solidFill>
                <a:latin typeface="Calibri (MS)"/>
                <a:ea typeface="Calibri (MS)"/>
                <a:cs typeface="Calibri (MS)"/>
                <a:sym typeface="Calibri (MS)"/>
              </a:rPr>
              <a:t>Accident Rate: % risk.</a:t>
            </a:r>
          </a:p>
          <a:p>
            <a:pPr algn="just" marL="528957" indent="-264479" lvl="1">
              <a:lnSpc>
                <a:spcPts val="3430"/>
              </a:lnSpc>
              <a:buFont typeface="Arial"/>
              <a:buChar char="•"/>
            </a:pPr>
            <a:r>
              <a:rPr lang="en-US" sz="2450">
                <a:solidFill>
                  <a:srgbClr val="000000"/>
                </a:solidFill>
                <a:latin typeface="Calibri (MS)"/>
                <a:ea typeface="Calibri (MS)"/>
                <a:cs typeface="Calibri (MS)"/>
                <a:sym typeface="Calibri (MS)"/>
              </a:rPr>
              <a:t>Emissions Estimate: CO2 kg/hour.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2246769"/>
            <a:chOff x="0" y="0"/>
            <a:chExt cx="24396700" cy="2995692"/>
          </a:xfrm>
        </p:grpSpPr>
        <p:sp>
          <p:nvSpPr>
            <p:cNvPr name="Freeform 3" id="3"/>
            <p:cNvSpPr/>
            <p:nvPr/>
          </p:nvSpPr>
          <p:spPr>
            <a:xfrm flipH="false" flipV="false" rot="0">
              <a:off x="8509" y="6137"/>
              <a:ext cx="24384001" cy="2986533"/>
            </a:xfrm>
            <a:custGeom>
              <a:avLst/>
              <a:gdLst/>
              <a:ahLst/>
              <a:cxnLst/>
              <a:rect r="r" b="b" t="t" l="l"/>
              <a:pathLst>
                <a:path h="2986533" w="24384001">
                  <a:moveTo>
                    <a:pt x="0" y="0"/>
                  </a:moveTo>
                  <a:lnTo>
                    <a:pt x="24384001" y="0"/>
                  </a:lnTo>
                  <a:lnTo>
                    <a:pt x="24384001" y="2986533"/>
                  </a:lnTo>
                  <a:lnTo>
                    <a:pt x="0" y="2986533"/>
                  </a:lnTo>
                  <a:close/>
                </a:path>
              </a:pathLst>
            </a:custGeom>
            <a:solidFill>
              <a:srgbClr val="1F497D"/>
            </a:solidFill>
            <a:ln w="12700">
              <a:solidFill>
                <a:srgbClr val="000000"/>
              </a:solidFill>
            </a:ln>
          </p:spPr>
        </p:sp>
        <p:sp>
          <p:nvSpPr>
            <p:cNvPr name="Freeform 4" id="4"/>
            <p:cNvSpPr/>
            <p:nvPr/>
          </p:nvSpPr>
          <p:spPr>
            <a:xfrm flipH="false" flipV="false" rot="0">
              <a:off x="0" y="0"/>
              <a:ext cx="24401018" cy="3000010"/>
            </a:xfrm>
            <a:custGeom>
              <a:avLst/>
              <a:gdLst/>
              <a:ahLst/>
              <a:cxnLst/>
              <a:rect r="r" b="b" t="t" l="l"/>
              <a:pathLst>
                <a:path h="3000010" w="24401018">
                  <a:moveTo>
                    <a:pt x="8509" y="0"/>
                  </a:moveTo>
                  <a:lnTo>
                    <a:pt x="24392510" y="0"/>
                  </a:lnTo>
                  <a:cubicBezTo>
                    <a:pt x="24397208" y="0"/>
                    <a:pt x="24401018" y="2748"/>
                    <a:pt x="24401018" y="6137"/>
                  </a:cubicBezTo>
                  <a:lnTo>
                    <a:pt x="24401018" y="2992670"/>
                  </a:lnTo>
                  <a:cubicBezTo>
                    <a:pt x="24401018" y="2996200"/>
                    <a:pt x="24397208" y="3000010"/>
                    <a:pt x="24392510" y="3000010"/>
                  </a:cubicBezTo>
                  <a:lnTo>
                    <a:pt x="8509" y="3000010"/>
                  </a:lnTo>
                  <a:cubicBezTo>
                    <a:pt x="3810" y="3000010"/>
                    <a:pt x="0" y="2996200"/>
                    <a:pt x="0" y="2992670"/>
                  </a:cubicBezTo>
                  <a:lnTo>
                    <a:pt x="0" y="6137"/>
                  </a:lnTo>
                  <a:cubicBezTo>
                    <a:pt x="0" y="2748"/>
                    <a:pt x="3810" y="0"/>
                    <a:pt x="8509" y="0"/>
                  </a:cubicBezTo>
                  <a:moveTo>
                    <a:pt x="8509" y="12182"/>
                  </a:moveTo>
                  <a:lnTo>
                    <a:pt x="8509" y="6137"/>
                  </a:lnTo>
                  <a:lnTo>
                    <a:pt x="17018" y="6137"/>
                  </a:lnTo>
                  <a:lnTo>
                    <a:pt x="17018" y="2992670"/>
                  </a:lnTo>
                  <a:lnTo>
                    <a:pt x="8509" y="2992670"/>
                  </a:lnTo>
                  <a:lnTo>
                    <a:pt x="8509" y="2986533"/>
                  </a:lnTo>
                  <a:lnTo>
                    <a:pt x="24392510" y="2986533"/>
                  </a:lnTo>
                  <a:lnTo>
                    <a:pt x="24392510" y="2992670"/>
                  </a:lnTo>
                  <a:lnTo>
                    <a:pt x="24384000" y="2992670"/>
                  </a:lnTo>
                  <a:lnTo>
                    <a:pt x="24384000" y="6137"/>
                  </a:lnTo>
                  <a:lnTo>
                    <a:pt x="24392510" y="6137"/>
                  </a:lnTo>
                  <a:lnTo>
                    <a:pt x="24392510" y="12273"/>
                  </a:lnTo>
                  <a:lnTo>
                    <a:pt x="8509" y="12273"/>
                  </a:lnTo>
                  <a:close/>
                </a:path>
              </a:pathLst>
            </a:custGeom>
            <a:solidFill>
              <a:srgbClr val="000000"/>
            </a:solidFill>
            <a:ln w="12700">
              <a:solidFill>
                <a:srgbClr val="000000"/>
              </a:solidFill>
            </a:ln>
          </p:spPr>
        </p:sp>
      </p:grpSp>
      <p:sp>
        <p:nvSpPr>
          <p:cNvPr name="Freeform 5" id="5"/>
          <p:cNvSpPr/>
          <p:nvPr/>
        </p:nvSpPr>
        <p:spPr>
          <a:xfrm flipH="false" flipV="false" rot="0">
            <a:off x="2112139" y="2242007"/>
            <a:ext cx="14063722" cy="8044993"/>
          </a:xfrm>
          <a:custGeom>
            <a:avLst/>
            <a:gdLst/>
            <a:ahLst/>
            <a:cxnLst/>
            <a:rect r="r" b="b" t="t" l="l"/>
            <a:pathLst>
              <a:path h="8044993" w="14063722">
                <a:moveTo>
                  <a:pt x="0" y="0"/>
                </a:moveTo>
                <a:lnTo>
                  <a:pt x="14063722" y="0"/>
                </a:lnTo>
                <a:lnTo>
                  <a:pt x="14063722" y="8044993"/>
                </a:lnTo>
                <a:lnTo>
                  <a:pt x="0" y="8044993"/>
                </a:lnTo>
                <a:lnTo>
                  <a:pt x="0" y="0"/>
                </a:lnTo>
                <a:close/>
              </a:path>
            </a:pathLst>
          </a:custGeom>
          <a:blipFill>
            <a:blip r:embed="rId2"/>
            <a:stretch>
              <a:fillRect l="-511" t="0" r="-511" b="0"/>
            </a:stretch>
          </a:blipFill>
        </p:spPr>
      </p:sp>
      <p:sp>
        <p:nvSpPr>
          <p:cNvPr name="TextBox 6" id="6"/>
          <p:cNvSpPr txBox="true"/>
          <p:nvPr/>
        </p:nvSpPr>
        <p:spPr>
          <a:xfrm rot="0">
            <a:off x="2112139" y="499077"/>
            <a:ext cx="14982727" cy="1096215"/>
          </a:xfrm>
          <a:prstGeom prst="rect">
            <a:avLst/>
          </a:prstGeom>
        </p:spPr>
        <p:txBody>
          <a:bodyPr anchor="t" rtlCol="false" tIns="0" lIns="0" bIns="0" rIns="0">
            <a:spAutoFit/>
          </a:bodyPr>
          <a:lstStyle/>
          <a:p>
            <a:pPr algn="l">
              <a:lnSpc>
                <a:spcPts val="7600"/>
              </a:lnSpc>
            </a:pPr>
            <a:r>
              <a:rPr lang="en-US" sz="6333" b="true">
                <a:solidFill>
                  <a:srgbClr val="FFFFFF"/>
                </a:solidFill>
                <a:latin typeface="Calibri (MS) Bold"/>
                <a:ea typeface="Calibri (MS) Bold"/>
                <a:cs typeface="Calibri (MS) Bold"/>
                <a:sym typeface="Calibri (MS) Bold"/>
              </a:rPr>
              <a:t>Real-Time Data Ingestion v</a:t>
            </a:r>
            <a:r>
              <a:rPr lang="en-US" sz="6333" b="true">
                <a:solidFill>
                  <a:srgbClr val="FFFFFF"/>
                </a:solidFill>
                <a:latin typeface="Calibri (MS) Bold"/>
                <a:ea typeface="Calibri (MS) Bold"/>
                <a:cs typeface="Calibri (MS) Bold"/>
                <a:sym typeface="Calibri (MS) Bold"/>
              </a:rPr>
              <a:t>ia Event Hub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 y="0"/>
            <a:ext cx="18283431" cy="2689536"/>
            <a:chOff x="0" y="0"/>
            <a:chExt cx="24377908" cy="3586048"/>
          </a:xfrm>
        </p:grpSpPr>
        <p:sp>
          <p:nvSpPr>
            <p:cNvPr name="Freeform 3" id="3"/>
            <p:cNvSpPr/>
            <p:nvPr/>
          </p:nvSpPr>
          <p:spPr>
            <a:xfrm flipH="false" flipV="false" rot="0">
              <a:off x="0" y="0"/>
              <a:ext cx="24377904" cy="3586094"/>
            </a:xfrm>
            <a:custGeom>
              <a:avLst/>
              <a:gdLst/>
              <a:ahLst/>
              <a:cxnLst/>
              <a:rect r="r" b="b" t="t" l="l"/>
              <a:pathLst>
                <a:path h="3586094" w="24377904">
                  <a:moveTo>
                    <a:pt x="0" y="0"/>
                  </a:moveTo>
                  <a:lnTo>
                    <a:pt x="24377904" y="0"/>
                  </a:lnTo>
                  <a:lnTo>
                    <a:pt x="24377904" y="3586094"/>
                  </a:lnTo>
                  <a:lnTo>
                    <a:pt x="0" y="3586094"/>
                  </a:lnTo>
                  <a:close/>
                </a:path>
              </a:pathLst>
            </a:custGeom>
            <a:solidFill>
              <a:srgbClr val="1F497D"/>
            </a:solidFill>
            <a:ln w="12700">
              <a:solidFill>
                <a:srgbClr val="000000"/>
              </a:solidFill>
            </a:ln>
          </p:spPr>
        </p:sp>
      </p:grpSp>
      <p:sp>
        <p:nvSpPr>
          <p:cNvPr name="Freeform 4" id="4"/>
          <p:cNvSpPr/>
          <p:nvPr/>
        </p:nvSpPr>
        <p:spPr>
          <a:xfrm flipH="false" flipV="false" rot="0">
            <a:off x="10783482" y="3379913"/>
            <a:ext cx="7039901" cy="5192158"/>
          </a:xfrm>
          <a:custGeom>
            <a:avLst/>
            <a:gdLst/>
            <a:ahLst/>
            <a:cxnLst/>
            <a:rect r="r" b="b" t="t" l="l"/>
            <a:pathLst>
              <a:path h="5192158" w="7039901">
                <a:moveTo>
                  <a:pt x="0" y="0"/>
                </a:moveTo>
                <a:lnTo>
                  <a:pt x="7039902" y="0"/>
                </a:lnTo>
                <a:lnTo>
                  <a:pt x="7039902" y="5192159"/>
                </a:lnTo>
                <a:lnTo>
                  <a:pt x="0" y="5192159"/>
                </a:lnTo>
                <a:lnTo>
                  <a:pt x="0" y="0"/>
                </a:lnTo>
                <a:close/>
              </a:path>
            </a:pathLst>
          </a:custGeom>
          <a:blipFill>
            <a:blip r:embed="rId2"/>
            <a:stretch>
              <a:fillRect l="0" t="0" r="0" b="0"/>
            </a:stretch>
          </a:blipFill>
        </p:spPr>
      </p:sp>
      <p:sp>
        <p:nvSpPr>
          <p:cNvPr name="TextBox 5" id="5"/>
          <p:cNvSpPr txBox="true"/>
          <p:nvPr/>
        </p:nvSpPr>
        <p:spPr>
          <a:xfrm rot="0">
            <a:off x="1499989" y="600404"/>
            <a:ext cx="15797610" cy="1433195"/>
          </a:xfrm>
          <a:prstGeom prst="rect">
            <a:avLst/>
          </a:prstGeom>
        </p:spPr>
        <p:txBody>
          <a:bodyPr anchor="t" rtlCol="false" tIns="0" lIns="0" bIns="0" rIns="0">
            <a:spAutoFit/>
          </a:bodyPr>
          <a:lstStyle/>
          <a:p>
            <a:pPr algn="l">
              <a:lnSpc>
                <a:spcPts val="8679"/>
              </a:lnSpc>
            </a:pPr>
            <a:r>
              <a:rPr lang="en-US" sz="6199" b="true">
                <a:solidFill>
                  <a:srgbClr val="FFFFFF"/>
                </a:solidFill>
                <a:latin typeface="Calibri (MS) Bold"/>
                <a:ea typeface="Calibri (MS) Bold"/>
                <a:cs typeface="Calibri (MS) Bold"/>
                <a:sym typeface="Calibri (MS) Bold"/>
              </a:rPr>
              <a:t>Real-Time Processing via Azure Stream Analytics</a:t>
            </a:r>
          </a:p>
        </p:txBody>
      </p:sp>
      <p:sp>
        <p:nvSpPr>
          <p:cNvPr name="TextBox 6" id="6"/>
          <p:cNvSpPr txBox="true"/>
          <p:nvPr/>
        </p:nvSpPr>
        <p:spPr>
          <a:xfrm rot="0">
            <a:off x="518233" y="3370388"/>
            <a:ext cx="9908145" cy="4301515"/>
          </a:xfrm>
          <a:prstGeom prst="rect">
            <a:avLst/>
          </a:prstGeom>
        </p:spPr>
        <p:txBody>
          <a:bodyPr anchor="t" rtlCol="false" tIns="0" lIns="0" bIns="0" rIns="0">
            <a:spAutoFit/>
          </a:bodyPr>
          <a:lstStyle/>
          <a:p>
            <a:pPr algn="l">
              <a:lnSpc>
                <a:spcPts val="3382"/>
              </a:lnSpc>
            </a:pPr>
            <a:r>
              <a:rPr lang="en-US" sz="2856" b="true">
                <a:solidFill>
                  <a:srgbClr val="000000"/>
                </a:solidFill>
                <a:latin typeface="Arial Bold"/>
                <a:ea typeface="Arial Bold"/>
                <a:cs typeface="Arial Bold"/>
                <a:sym typeface="Arial Bold"/>
              </a:rPr>
              <a:t>Data Ingestion &amp; Alert Classification:</a:t>
            </a:r>
          </a:p>
          <a:p>
            <a:pPr algn="l" marL="652942" indent="-217647" lvl="2">
              <a:lnSpc>
                <a:spcPts val="3382"/>
              </a:lnSpc>
              <a:buFont typeface="Arial"/>
              <a:buChar char="⚬"/>
            </a:pPr>
            <a:r>
              <a:rPr lang="en-US" sz="2856">
                <a:solidFill>
                  <a:srgbClr val="000000"/>
                </a:solidFill>
                <a:latin typeface="Arial"/>
                <a:ea typeface="Arial"/>
                <a:cs typeface="Arial"/>
                <a:sym typeface="Arial"/>
              </a:rPr>
              <a:t>Ingests raw sensor data from Event Hub every 5 seconds.</a:t>
            </a:r>
          </a:p>
          <a:p>
            <a:pPr algn="l" marL="652882" indent="-217627" lvl="2">
              <a:lnSpc>
                <a:spcPts val="3381"/>
              </a:lnSpc>
              <a:buFont typeface="Arial"/>
              <a:buChar char="⚬"/>
            </a:pPr>
            <a:r>
              <a:rPr lang="en-US" sz="2856">
                <a:solidFill>
                  <a:srgbClr val="000000"/>
                </a:solidFill>
                <a:latin typeface="Arial"/>
                <a:ea typeface="Arial"/>
                <a:cs typeface="Arial"/>
                <a:sym typeface="Arial"/>
              </a:rPr>
              <a:t>Applies unified SQL query to detect/classify alerts </a:t>
            </a:r>
          </a:p>
          <a:p>
            <a:pPr algn="l" marL="652942" indent="-217647" lvl="2">
              <a:lnSpc>
                <a:spcPts val="3382"/>
              </a:lnSpc>
            </a:pPr>
          </a:p>
          <a:p>
            <a:pPr algn="l">
              <a:lnSpc>
                <a:spcPts val="3381"/>
              </a:lnSpc>
            </a:pPr>
          </a:p>
          <a:p>
            <a:pPr algn="l">
              <a:lnSpc>
                <a:spcPts val="3382"/>
              </a:lnSpc>
            </a:pPr>
            <a:r>
              <a:rPr lang="en-US" b="true" sz="2856">
                <a:solidFill>
                  <a:srgbClr val="000000"/>
                </a:solidFill>
                <a:latin typeface="Arial Bold"/>
                <a:ea typeface="Arial Bold"/>
                <a:cs typeface="Arial Bold"/>
                <a:sym typeface="Arial Bold"/>
              </a:rPr>
              <a:t>Multi-Output Routing:</a:t>
            </a:r>
          </a:p>
          <a:p>
            <a:pPr algn="l" marL="652942" indent="-217647" lvl="2">
              <a:lnSpc>
                <a:spcPts val="3382"/>
              </a:lnSpc>
              <a:buFont typeface="Arial"/>
              <a:buChar char="⚬"/>
            </a:pPr>
            <a:r>
              <a:rPr lang="en-US" sz="2856">
                <a:solidFill>
                  <a:srgbClr val="000000"/>
                </a:solidFill>
                <a:latin typeface="Arial"/>
                <a:ea typeface="Arial"/>
                <a:cs typeface="Arial"/>
                <a:sym typeface="Arial"/>
              </a:rPr>
              <a:t>Event Hub: Triggers notifications (Logic Apps for emails).</a:t>
            </a:r>
          </a:p>
          <a:p>
            <a:pPr algn="l" marL="652942" indent="-217647" lvl="2">
              <a:lnSpc>
                <a:spcPts val="3382"/>
              </a:lnSpc>
              <a:buFont typeface="Arial"/>
              <a:buChar char="⚬"/>
            </a:pPr>
            <a:r>
              <a:rPr lang="en-US" sz="2856">
                <a:solidFill>
                  <a:srgbClr val="000000"/>
                </a:solidFill>
                <a:latin typeface="Arial"/>
                <a:ea typeface="Arial"/>
                <a:cs typeface="Arial"/>
                <a:sym typeface="Arial"/>
              </a:rPr>
              <a:t>Blob Storage: Long-term archiving.</a:t>
            </a:r>
          </a:p>
          <a:p>
            <a:pPr algn="l" marL="652942" indent="-217647" lvl="2">
              <a:lnSpc>
                <a:spcPts val="3382"/>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2299597"/>
            <a:chOff x="0" y="0"/>
            <a:chExt cx="24396700" cy="3066129"/>
          </a:xfrm>
        </p:grpSpPr>
        <p:sp>
          <p:nvSpPr>
            <p:cNvPr name="Freeform 3" id="3"/>
            <p:cNvSpPr/>
            <p:nvPr/>
          </p:nvSpPr>
          <p:spPr>
            <a:xfrm flipH="false" flipV="false" rot="0">
              <a:off x="8509" y="7571"/>
              <a:ext cx="24384001" cy="3054741"/>
            </a:xfrm>
            <a:custGeom>
              <a:avLst/>
              <a:gdLst/>
              <a:ahLst/>
              <a:cxnLst/>
              <a:rect r="r" b="b" t="t" l="l"/>
              <a:pathLst>
                <a:path h="3054741" w="24384001">
                  <a:moveTo>
                    <a:pt x="0" y="0"/>
                  </a:moveTo>
                  <a:lnTo>
                    <a:pt x="24384001" y="0"/>
                  </a:lnTo>
                  <a:lnTo>
                    <a:pt x="24384001" y="3054741"/>
                  </a:lnTo>
                  <a:lnTo>
                    <a:pt x="0" y="3054741"/>
                  </a:lnTo>
                  <a:close/>
                </a:path>
              </a:pathLst>
            </a:custGeom>
            <a:solidFill>
              <a:srgbClr val="1F497D"/>
            </a:solidFill>
            <a:ln w="12700">
              <a:solidFill>
                <a:srgbClr val="000000"/>
              </a:solidFill>
            </a:ln>
          </p:spPr>
        </p:sp>
        <p:sp>
          <p:nvSpPr>
            <p:cNvPr name="Freeform 4" id="4"/>
            <p:cNvSpPr/>
            <p:nvPr/>
          </p:nvSpPr>
          <p:spPr>
            <a:xfrm flipH="false" flipV="false" rot="0">
              <a:off x="0" y="0"/>
              <a:ext cx="24401018" cy="3070349"/>
            </a:xfrm>
            <a:custGeom>
              <a:avLst/>
              <a:gdLst/>
              <a:ahLst/>
              <a:cxnLst/>
              <a:rect r="r" b="b" t="t" l="l"/>
              <a:pathLst>
                <a:path h="3070349" w="24401018">
                  <a:moveTo>
                    <a:pt x="8509" y="0"/>
                  </a:moveTo>
                  <a:lnTo>
                    <a:pt x="24392510" y="0"/>
                  </a:lnTo>
                  <a:cubicBezTo>
                    <a:pt x="24397208" y="0"/>
                    <a:pt x="24401018" y="3390"/>
                    <a:pt x="24401018" y="7571"/>
                  </a:cubicBezTo>
                  <a:lnTo>
                    <a:pt x="24401018" y="3062312"/>
                  </a:lnTo>
                  <a:cubicBezTo>
                    <a:pt x="24401018" y="3066538"/>
                    <a:pt x="24397208" y="3070349"/>
                    <a:pt x="24392510" y="3070349"/>
                  </a:cubicBezTo>
                  <a:lnTo>
                    <a:pt x="8509" y="3070349"/>
                  </a:lnTo>
                  <a:cubicBezTo>
                    <a:pt x="3810" y="3070349"/>
                    <a:pt x="0" y="3066538"/>
                    <a:pt x="0" y="3062312"/>
                  </a:cubicBezTo>
                  <a:lnTo>
                    <a:pt x="0" y="7571"/>
                  </a:lnTo>
                  <a:cubicBezTo>
                    <a:pt x="0" y="3390"/>
                    <a:pt x="3810" y="0"/>
                    <a:pt x="8509" y="0"/>
                  </a:cubicBezTo>
                  <a:moveTo>
                    <a:pt x="8509" y="15030"/>
                  </a:moveTo>
                  <a:lnTo>
                    <a:pt x="8509" y="7571"/>
                  </a:lnTo>
                  <a:lnTo>
                    <a:pt x="17018" y="7571"/>
                  </a:lnTo>
                  <a:lnTo>
                    <a:pt x="17018" y="3062312"/>
                  </a:lnTo>
                  <a:lnTo>
                    <a:pt x="8509" y="3062312"/>
                  </a:lnTo>
                  <a:lnTo>
                    <a:pt x="8509" y="3054741"/>
                  </a:lnTo>
                  <a:lnTo>
                    <a:pt x="24392510" y="3054741"/>
                  </a:lnTo>
                  <a:lnTo>
                    <a:pt x="24392510" y="3062312"/>
                  </a:lnTo>
                  <a:lnTo>
                    <a:pt x="24384000" y="3062312"/>
                  </a:lnTo>
                  <a:lnTo>
                    <a:pt x="24384000" y="7571"/>
                  </a:lnTo>
                  <a:lnTo>
                    <a:pt x="24392510" y="7571"/>
                  </a:lnTo>
                  <a:lnTo>
                    <a:pt x="24392510" y="15143"/>
                  </a:lnTo>
                  <a:lnTo>
                    <a:pt x="8509" y="15143"/>
                  </a:lnTo>
                  <a:close/>
                </a:path>
              </a:pathLst>
            </a:custGeom>
            <a:solidFill>
              <a:srgbClr val="000000"/>
            </a:solidFill>
            <a:ln w="12700">
              <a:solidFill>
                <a:srgbClr val="000000"/>
              </a:solidFill>
            </a:ln>
          </p:spPr>
        </p:sp>
      </p:grpSp>
      <p:sp>
        <p:nvSpPr>
          <p:cNvPr name="Freeform 5" id="5"/>
          <p:cNvSpPr/>
          <p:nvPr/>
        </p:nvSpPr>
        <p:spPr>
          <a:xfrm flipH="false" flipV="false" rot="0">
            <a:off x="5485522" y="2273960"/>
            <a:ext cx="7316958" cy="8013040"/>
          </a:xfrm>
          <a:custGeom>
            <a:avLst/>
            <a:gdLst/>
            <a:ahLst/>
            <a:cxnLst/>
            <a:rect r="r" b="b" t="t" l="l"/>
            <a:pathLst>
              <a:path h="8013040" w="7316958">
                <a:moveTo>
                  <a:pt x="0" y="0"/>
                </a:moveTo>
                <a:lnTo>
                  <a:pt x="7316958" y="0"/>
                </a:lnTo>
                <a:lnTo>
                  <a:pt x="7316958" y="8013040"/>
                </a:lnTo>
                <a:lnTo>
                  <a:pt x="0" y="8013040"/>
                </a:lnTo>
                <a:lnTo>
                  <a:pt x="0" y="0"/>
                </a:lnTo>
                <a:close/>
              </a:path>
            </a:pathLst>
          </a:custGeom>
          <a:blipFill>
            <a:blip r:embed="rId2"/>
            <a:stretch>
              <a:fillRect l="0" t="0" r="0" b="0"/>
            </a:stretch>
          </a:blipFill>
        </p:spPr>
      </p:sp>
      <p:sp>
        <p:nvSpPr>
          <p:cNvPr name="TextBox 6" id="6"/>
          <p:cNvSpPr txBox="true"/>
          <p:nvPr/>
        </p:nvSpPr>
        <p:spPr>
          <a:xfrm rot="0">
            <a:off x="1028700" y="506381"/>
            <a:ext cx="9683204" cy="1304925"/>
          </a:xfrm>
          <a:prstGeom prst="rect">
            <a:avLst/>
          </a:prstGeom>
        </p:spPr>
        <p:txBody>
          <a:bodyPr anchor="t" rtlCol="false" tIns="0" lIns="0" bIns="0" rIns="0">
            <a:spAutoFit/>
          </a:bodyPr>
          <a:lstStyle/>
          <a:p>
            <a:pPr algn="l">
              <a:lnSpc>
                <a:spcPts val="8038"/>
              </a:lnSpc>
            </a:pPr>
            <a:r>
              <a:rPr lang="en-US" sz="6698" b="true">
                <a:solidFill>
                  <a:srgbClr val="FFFFFF"/>
                </a:solidFill>
                <a:latin typeface="Calibri (MS) Bold"/>
                <a:ea typeface="Calibri (MS) Bold"/>
                <a:cs typeface="Calibri (MS) Bold"/>
                <a:sym typeface="Calibri (MS) Bold"/>
              </a:rPr>
              <a:t>Stream Analytics Data Flow</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2365320"/>
            <a:chOff x="0" y="0"/>
            <a:chExt cx="24396700" cy="3153760"/>
          </a:xfrm>
        </p:grpSpPr>
        <p:sp>
          <p:nvSpPr>
            <p:cNvPr name="Freeform 3" id="3"/>
            <p:cNvSpPr/>
            <p:nvPr/>
          </p:nvSpPr>
          <p:spPr>
            <a:xfrm flipH="false" flipV="false" rot="0">
              <a:off x="8509" y="7788"/>
              <a:ext cx="24384001" cy="3142046"/>
            </a:xfrm>
            <a:custGeom>
              <a:avLst/>
              <a:gdLst/>
              <a:ahLst/>
              <a:cxnLst/>
              <a:rect r="r" b="b" t="t" l="l"/>
              <a:pathLst>
                <a:path h="3142046" w="24384001">
                  <a:moveTo>
                    <a:pt x="0" y="0"/>
                  </a:moveTo>
                  <a:lnTo>
                    <a:pt x="24384001" y="0"/>
                  </a:lnTo>
                  <a:lnTo>
                    <a:pt x="24384001" y="3142046"/>
                  </a:lnTo>
                  <a:lnTo>
                    <a:pt x="0" y="3142046"/>
                  </a:lnTo>
                  <a:close/>
                </a:path>
              </a:pathLst>
            </a:custGeom>
            <a:solidFill>
              <a:srgbClr val="1F497D"/>
            </a:solidFill>
            <a:ln w="12700">
              <a:solidFill>
                <a:srgbClr val="000000"/>
              </a:solidFill>
            </a:ln>
          </p:spPr>
        </p:sp>
        <p:sp>
          <p:nvSpPr>
            <p:cNvPr name="Freeform 4" id="4"/>
            <p:cNvSpPr/>
            <p:nvPr/>
          </p:nvSpPr>
          <p:spPr>
            <a:xfrm flipH="false" flipV="false" rot="0">
              <a:off x="0" y="0"/>
              <a:ext cx="24401018" cy="3157979"/>
            </a:xfrm>
            <a:custGeom>
              <a:avLst/>
              <a:gdLst/>
              <a:ahLst/>
              <a:cxnLst/>
              <a:rect r="r" b="b" t="t" l="l"/>
              <a:pathLst>
                <a:path h="3157979" w="24401018">
                  <a:moveTo>
                    <a:pt x="8509" y="0"/>
                  </a:moveTo>
                  <a:lnTo>
                    <a:pt x="24392510" y="0"/>
                  </a:lnTo>
                  <a:cubicBezTo>
                    <a:pt x="24397208" y="0"/>
                    <a:pt x="24401018" y="3487"/>
                    <a:pt x="24401018" y="7788"/>
                  </a:cubicBezTo>
                  <a:lnTo>
                    <a:pt x="24401018" y="3149834"/>
                  </a:lnTo>
                  <a:cubicBezTo>
                    <a:pt x="24401018" y="3154169"/>
                    <a:pt x="24397208" y="3157979"/>
                    <a:pt x="24392510" y="3157979"/>
                  </a:cubicBezTo>
                  <a:lnTo>
                    <a:pt x="8509" y="3157979"/>
                  </a:lnTo>
                  <a:cubicBezTo>
                    <a:pt x="3810" y="3157979"/>
                    <a:pt x="0" y="3154169"/>
                    <a:pt x="0" y="3149834"/>
                  </a:cubicBezTo>
                  <a:lnTo>
                    <a:pt x="0" y="7788"/>
                  </a:lnTo>
                  <a:cubicBezTo>
                    <a:pt x="0" y="3487"/>
                    <a:pt x="3810" y="0"/>
                    <a:pt x="8509" y="0"/>
                  </a:cubicBezTo>
                  <a:moveTo>
                    <a:pt x="8509" y="15459"/>
                  </a:moveTo>
                  <a:lnTo>
                    <a:pt x="8509" y="7788"/>
                  </a:lnTo>
                  <a:lnTo>
                    <a:pt x="17018" y="7788"/>
                  </a:lnTo>
                  <a:lnTo>
                    <a:pt x="17018" y="3149834"/>
                  </a:lnTo>
                  <a:lnTo>
                    <a:pt x="8509" y="3149834"/>
                  </a:lnTo>
                  <a:lnTo>
                    <a:pt x="8509" y="3142046"/>
                  </a:lnTo>
                  <a:lnTo>
                    <a:pt x="24392510" y="3142046"/>
                  </a:lnTo>
                  <a:lnTo>
                    <a:pt x="24392510" y="3149834"/>
                  </a:lnTo>
                  <a:lnTo>
                    <a:pt x="24384000" y="3149834"/>
                  </a:lnTo>
                  <a:lnTo>
                    <a:pt x="24384000" y="7788"/>
                  </a:lnTo>
                  <a:lnTo>
                    <a:pt x="24392510" y="7788"/>
                  </a:lnTo>
                  <a:lnTo>
                    <a:pt x="24392510" y="15575"/>
                  </a:lnTo>
                  <a:lnTo>
                    <a:pt x="8509" y="15575"/>
                  </a:lnTo>
                  <a:close/>
                </a:path>
              </a:pathLst>
            </a:custGeom>
            <a:solidFill>
              <a:srgbClr val="000000"/>
            </a:solidFill>
            <a:ln w="12700">
              <a:solidFill>
                <a:srgbClr val="000000"/>
              </a:solidFill>
            </a:ln>
          </p:spPr>
        </p:sp>
      </p:grpSp>
      <p:sp>
        <p:nvSpPr>
          <p:cNvPr name="Freeform 5" id="5"/>
          <p:cNvSpPr/>
          <p:nvPr/>
        </p:nvSpPr>
        <p:spPr>
          <a:xfrm flipH="false" flipV="false" rot="0">
            <a:off x="10612900" y="2579634"/>
            <a:ext cx="7675100" cy="7555686"/>
          </a:xfrm>
          <a:custGeom>
            <a:avLst/>
            <a:gdLst/>
            <a:ahLst/>
            <a:cxnLst/>
            <a:rect r="r" b="b" t="t" l="l"/>
            <a:pathLst>
              <a:path h="7555686" w="7675100">
                <a:moveTo>
                  <a:pt x="0" y="0"/>
                </a:moveTo>
                <a:lnTo>
                  <a:pt x="7675100" y="0"/>
                </a:lnTo>
                <a:lnTo>
                  <a:pt x="7675100" y="7555686"/>
                </a:lnTo>
                <a:lnTo>
                  <a:pt x="0" y="7555686"/>
                </a:lnTo>
                <a:lnTo>
                  <a:pt x="0" y="0"/>
                </a:lnTo>
                <a:close/>
              </a:path>
            </a:pathLst>
          </a:custGeom>
          <a:blipFill>
            <a:blip r:embed="rId2"/>
            <a:stretch>
              <a:fillRect l="0" t="0" r="0" b="0"/>
            </a:stretch>
          </a:blipFill>
        </p:spPr>
      </p:sp>
      <p:sp>
        <p:nvSpPr>
          <p:cNvPr name="TextBox 6" id="6"/>
          <p:cNvSpPr txBox="true"/>
          <p:nvPr/>
        </p:nvSpPr>
        <p:spPr>
          <a:xfrm rot="0">
            <a:off x="1444946" y="820720"/>
            <a:ext cx="14019752" cy="828656"/>
          </a:xfrm>
          <a:prstGeom prst="rect">
            <a:avLst/>
          </a:prstGeom>
        </p:spPr>
        <p:txBody>
          <a:bodyPr anchor="t" rtlCol="false" tIns="0" lIns="0" bIns="0" rIns="0">
            <a:spAutoFit/>
          </a:bodyPr>
          <a:lstStyle/>
          <a:p>
            <a:pPr algn="l">
              <a:lnSpc>
                <a:spcPts val="5758"/>
              </a:lnSpc>
            </a:pPr>
            <a:r>
              <a:rPr lang="en-US" sz="4799" b="true">
                <a:solidFill>
                  <a:srgbClr val="FFFFFF"/>
                </a:solidFill>
                <a:latin typeface="Calibri (MS) Bold"/>
                <a:ea typeface="Calibri (MS) Bold"/>
                <a:cs typeface="Calibri (MS) Bold"/>
                <a:sym typeface="Calibri (MS) Bold"/>
              </a:rPr>
              <a:t>Logic App Workflow for </a:t>
            </a:r>
            <a:r>
              <a:rPr lang="en-US" sz="4799" b="true">
                <a:solidFill>
                  <a:srgbClr val="FFFFFF"/>
                </a:solidFill>
                <a:latin typeface="Calibri (MS) Bold"/>
                <a:ea typeface="Calibri (MS) Bold"/>
                <a:cs typeface="Calibri (MS) Bold"/>
                <a:sym typeface="Calibri (MS) Bold"/>
              </a:rPr>
              <a:t>Real-Time Alert Notifications</a:t>
            </a:r>
          </a:p>
        </p:txBody>
      </p:sp>
      <p:sp>
        <p:nvSpPr>
          <p:cNvPr name="TextBox 7" id="7"/>
          <p:cNvSpPr txBox="true"/>
          <p:nvPr/>
        </p:nvSpPr>
        <p:spPr>
          <a:xfrm rot="0">
            <a:off x="509749" y="3262951"/>
            <a:ext cx="9814424" cy="6496024"/>
          </a:xfrm>
          <a:prstGeom prst="rect">
            <a:avLst/>
          </a:prstGeom>
        </p:spPr>
        <p:txBody>
          <a:bodyPr anchor="t" rtlCol="false" tIns="0" lIns="0" bIns="0" rIns="0">
            <a:spAutoFit/>
          </a:bodyPr>
          <a:lstStyle/>
          <a:p>
            <a:pPr algn="l">
              <a:lnSpc>
                <a:spcPts val="3007"/>
              </a:lnSpc>
            </a:pPr>
            <a:r>
              <a:rPr lang="en-US" sz="2506" b="true">
                <a:solidFill>
                  <a:srgbClr val="000000"/>
                </a:solidFill>
                <a:latin typeface="Arial Bold"/>
                <a:ea typeface="Arial Bold"/>
                <a:cs typeface="Arial Bold"/>
                <a:sym typeface="Arial Bold"/>
              </a:rPr>
              <a:t>Event-Driven Trigger:</a:t>
            </a:r>
          </a:p>
          <a:p>
            <a:pPr algn="l" marL="541105" indent="-270552" lvl="1">
              <a:lnSpc>
                <a:spcPts val="3007"/>
              </a:lnSpc>
              <a:buFont typeface="Arial"/>
              <a:buChar char="•"/>
            </a:pPr>
            <a:r>
              <a:rPr lang="en-US" sz="2506">
                <a:solidFill>
                  <a:srgbClr val="000000"/>
                </a:solidFill>
                <a:latin typeface="Arial"/>
                <a:ea typeface="Arial"/>
                <a:cs typeface="Arial"/>
                <a:sym typeface="Arial"/>
              </a:rPr>
              <a:t>Listens to Event Hub </a:t>
            </a:r>
          </a:p>
          <a:p>
            <a:pPr algn="l" marL="541105" indent="-270552" lvl="1">
              <a:lnSpc>
                <a:spcPts val="3007"/>
              </a:lnSpc>
              <a:buFont typeface="Arial"/>
              <a:buChar char="•"/>
            </a:pPr>
            <a:r>
              <a:rPr lang="en-US" sz="2506">
                <a:solidFill>
                  <a:srgbClr val="000000"/>
                </a:solidFill>
                <a:latin typeface="Arial"/>
                <a:ea typeface="Arial"/>
                <a:cs typeface="Arial"/>
                <a:sym typeface="Arial"/>
              </a:rPr>
              <a:t>Parses JSON Payload: Extracts key fields like alert_type, severity, audience, city, and alert_message for conditional routing.</a:t>
            </a:r>
          </a:p>
          <a:p>
            <a:pPr algn="l">
              <a:lnSpc>
                <a:spcPts val="3007"/>
              </a:lnSpc>
            </a:pPr>
          </a:p>
          <a:p>
            <a:pPr algn="l">
              <a:lnSpc>
                <a:spcPts val="3007"/>
              </a:lnSpc>
            </a:pPr>
            <a:r>
              <a:rPr lang="en-US" b="true" sz="2506">
                <a:solidFill>
                  <a:srgbClr val="000000"/>
                </a:solidFill>
                <a:latin typeface="Arial Bold"/>
                <a:ea typeface="Arial Bold"/>
                <a:cs typeface="Arial Bold"/>
                <a:sym typeface="Arial Bold"/>
              </a:rPr>
              <a:t>Critical Alert Filtering:</a:t>
            </a:r>
          </a:p>
          <a:p>
            <a:pPr algn="l" marL="541105" indent="-270552" lvl="1">
              <a:lnSpc>
                <a:spcPts val="3007"/>
              </a:lnSpc>
              <a:buFont typeface="Arial"/>
              <a:buChar char="•"/>
            </a:pPr>
            <a:r>
              <a:rPr lang="en-US" sz="2506">
                <a:solidFill>
                  <a:srgbClr val="000000"/>
                </a:solidFill>
                <a:latin typeface="Arial"/>
                <a:ea typeface="Arial"/>
                <a:cs typeface="Arial"/>
                <a:sym typeface="Arial"/>
              </a:rPr>
              <a:t>Condition Check: Evaluates if audience == 'citizen'.</a:t>
            </a:r>
          </a:p>
          <a:p>
            <a:pPr algn="l" marL="1082210" indent="-360737" lvl="2">
              <a:lnSpc>
                <a:spcPts val="3007"/>
              </a:lnSpc>
              <a:buFont typeface="Arial"/>
              <a:buChar char="⚬"/>
            </a:pPr>
            <a:r>
              <a:rPr lang="en-US" sz="2506">
                <a:solidFill>
                  <a:srgbClr val="000000"/>
                </a:solidFill>
                <a:latin typeface="Arial"/>
                <a:ea typeface="Arial"/>
                <a:cs typeface="Arial"/>
                <a:sym typeface="Arial"/>
              </a:rPr>
              <a:t>True Branch: Routes to citizen-focused email </a:t>
            </a:r>
          </a:p>
          <a:p>
            <a:pPr algn="l" marL="1082210" indent="-360737" lvl="2">
              <a:lnSpc>
                <a:spcPts val="3007"/>
              </a:lnSpc>
              <a:buFont typeface="Arial"/>
              <a:buChar char="⚬"/>
            </a:pPr>
            <a:r>
              <a:rPr lang="en-US" sz="2506">
                <a:solidFill>
                  <a:srgbClr val="000000"/>
                </a:solidFill>
                <a:latin typeface="Arial"/>
                <a:ea typeface="Arial"/>
                <a:cs typeface="Arial"/>
                <a:sym typeface="Arial"/>
              </a:rPr>
              <a:t>False Branch: Routes to government template </a:t>
            </a:r>
          </a:p>
          <a:p>
            <a:pPr algn="l">
              <a:lnSpc>
                <a:spcPts val="3007"/>
              </a:lnSpc>
            </a:pPr>
          </a:p>
          <a:p>
            <a:pPr algn="l">
              <a:lnSpc>
                <a:spcPts val="3007"/>
              </a:lnSpc>
            </a:pPr>
            <a:r>
              <a:rPr lang="en-US" b="true" sz="2506">
                <a:solidFill>
                  <a:srgbClr val="000000"/>
                </a:solidFill>
                <a:latin typeface="Arial Bold"/>
                <a:ea typeface="Arial Bold"/>
                <a:cs typeface="Arial Bold"/>
                <a:sym typeface="Arial Bold"/>
              </a:rPr>
              <a:t>Email Notification:</a:t>
            </a:r>
          </a:p>
          <a:p>
            <a:pPr algn="l" marL="541105" indent="-270552" lvl="1">
              <a:lnSpc>
                <a:spcPts val="3007"/>
              </a:lnSpc>
              <a:buFont typeface="Arial"/>
              <a:buChar char="•"/>
            </a:pPr>
            <a:r>
              <a:rPr lang="en-US" sz="2506">
                <a:solidFill>
                  <a:srgbClr val="000000"/>
                </a:solidFill>
                <a:latin typeface="Arial"/>
                <a:ea typeface="Arial"/>
                <a:cs typeface="Arial"/>
                <a:sym typeface="Arial"/>
              </a:rPr>
              <a:t>H</a:t>
            </a:r>
            <a:r>
              <a:rPr lang="en-US" sz="2506">
                <a:solidFill>
                  <a:srgbClr val="000000"/>
                </a:solidFill>
                <a:latin typeface="Arial"/>
                <a:ea typeface="Arial"/>
                <a:cs typeface="Arial"/>
                <a:sym typeface="Arial"/>
              </a:rPr>
              <a:t>igh-Priority Delivery: Uses Office 365 connector to send HTML-formatted emails with dynamic content </a:t>
            </a:r>
          </a:p>
          <a:p>
            <a:pPr algn="l" marL="541105" indent="-270552" lvl="1">
              <a:lnSpc>
                <a:spcPts val="3007"/>
              </a:lnSpc>
              <a:buFont typeface="Arial"/>
              <a:buChar char="•"/>
            </a:pPr>
            <a:r>
              <a:rPr lang="en-US" sz="2506">
                <a:solidFill>
                  <a:srgbClr val="000000"/>
                </a:solidFill>
                <a:latin typeface="Arial"/>
                <a:ea typeface="Arial"/>
                <a:cs typeface="Arial"/>
                <a:sym typeface="Arial"/>
              </a:rPr>
              <a:t>Key Benefit: Decouples real-time alerts from batch processing, enabling immediate human intervention for safety.</a:t>
            </a:r>
          </a:p>
          <a:p>
            <a:pPr algn="l">
              <a:lnSpc>
                <a:spcPts val="3007"/>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2255781"/>
            <a:chOff x="0" y="0"/>
            <a:chExt cx="24396700" cy="3007708"/>
          </a:xfrm>
        </p:grpSpPr>
        <p:sp>
          <p:nvSpPr>
            <p:cNvPr name="Freeform 3" id="3"/>
            <p:cNvSpPr/>
            <p:nvPr/>
          </p:nvSpPr>
          <p:spPr>
            <a:xfrm flipH="false" flipV="false" rot="0">
              <a:off x="8509" y="7427"/>
              <a:ext cx="24384001" cy="2996537"/>
            </a:xfrm>
            <a:custGeom>
              <a:avLst/>
              <a:gdLst/>
              <a:ahLst/>
              <a:cxnLst/>
              <a:rect r="r" b="b" t="t" l="l"/>
              <a:pathLst>
                <a:path h="2996537" w="24384001">
                  <a:moveTo>
                    <a:pt x="0" y="0"/>
                  </a:moveTo>
                  <a:lnTo>
                    <a:pt x="24384001" y="0"/>
                  </a:lnTo>
                  <a:lnTo>
                    <a:pt x="24384001" y="2996537"/>
                  </a:lnTo>
                  <a:lnTo>
                    <a:pt x="0" y="2996537"/>
                  </a:lnTo>
                  <a:close/>
                </a:path>
              </a:pathLst>
            </a:custGeom>
            <a:solidFill>
              <a:srgbClr val="1F497D"/>
            </a:solidFill>
            <a:ln w="12700">
              <a:solidFill>
                <a:srgbClr val="000000"/>
              </a:solidFill>
            </a:ln>
          </p:spPr>
        </p:sp>
        <p:sp>
          <p:nvSpPr>
            <p:cNvPr name="Freeform 4" id="4"/>
            <p:cNvSpPr/>
            <p:nvPr/>
          </p:nvSpPr>
          <p:spPr>
            <a:xfrm flipH="false" flipV="false" rot="0">
              <a:off x="0" y="0"/>
              <a:ext cx="24401018" cy="3011928"/>
            </a:xfrm>
            <a:custGeom>
              <a:avLst/>
              <a:gdLst/>
              <a:ahLst/>
              <a:cxnLst/>
              <a:rect r="r" b="b" t="t" l="l"/>
              <a:pathLst>
                <a:path h="3011928" w="24401018">
                  <a:moveTo>
                    <a:pt x="8509" y="0"/>
                  </a:moveTo>
                  <a:lnTo>
                    <a:pt x="24392510" y="0"/>
                  </a:lnTo>
                  <a:cubicBezTo>
                    <a:pt x="24397208" y="0"/>
                    <a:pt x="24401018" y="3326"/>
                    <a:pt x="24401018" y="7427"/>
                  </a:cubicBezTo>
                  <a:lnTo>
                    <a:pt x="24401018" y="3003964"/>
                  </a:lnTo>
                  <a:cubicBezTo>
                    <a:pt x="24401018" y="3008118"/>
                    <a:pt x="24397208" y="3011928"/>
                    <a:pt x="24392510" y="3011928"/>
                  </a:cubicBezTo>
                  <a:lnTo>
                    <a:pt x="8509" y="3011928"/>
                  </a:lnTo>
                  <a:cubicBezTo>
                    <a:pt x="3810" y="3011928"/>
                    <a:pt x="0" y="3008118"/>
                    <a:pt x="0" y="3003964"/>
                  </a:cubicBezTo>
                  <a:lnTo>
                    <a:pt x="0" y="7427"/>
                  </a:lnTo>
                  <a:cubicBezTo>
                    <a:pt x="0" y="3326"/>
                    <a:pt x="3810" y="0"/>
                    <a:pt x="8509" y="0"/>
                  </a:cubicBezTo>
                  <a:moveTo>
                    <a:pt x="8509" y="14743"/>
                  </a:moveTo>
                  <a:lnTo>
                    <a:pt x="8509" y="7427"/>
                  </a:lnTo>
                  <a:lnTo>
                    <a:pt x="17018" y="7427"/>
                  </a:lnTo>
                  <a:lnTo>
                    <a:pt x="17018" y="3003964"/>
                  </a:lnTo>
                  <a:lnTo>
                    <a:pt x="8509" y="3003964"/>
                  </a:lnTo>
                  <a:lnTo>
                    <a:pt x="8509" y="2996537"/>
                  </a:lnTo>
                  <a:lnTo>
                    <a:pt x="24392510" y="2996537"/>
                  </a:lnTo>
                  <a:lnTo>
                    <a:pt x="24392510" y="3003964"/>
                  </a:lnTo>
                  <a:lnTo>
                    <a:pt x="24384000" y="3003964"/>
                  </a:lnTo>
                  <a:lnTo>
                    <a:pt x="24384000" y="7427"/>
                  </a:lnTo>
                  <a:lnTo>
                    <a:pt x="24392510" y="7427"/>
                  </a:lnTo>
                  <a:lnTo>
                    <a:pt x="24392510" y="14854"/>
                  </a:lnTo>
                  <a:lnTo>
                    <a:pt x="8509" y="14854"/>
                  </a:lnTo>
                  <a:close/>
                </a:path>
              </a:pathLst>
            </a:custGeom>
            <a:solidFill>
              <a:srgbClr val="000000"/>
            </a:solidFill>
            <a:ln w="12700">
              <a:solidFill>
                <a:srgbClr val="000000"/>
              </a:solidFill>
            </a:ln>
          </p:spPr>
        </p:sp>
      </p:grpSp>
      <p:sp>
        <p:nvSpPr>
          <p:cNvPr name="Freeform 5" id="5"/>
          <p:cNvSpPr/>
          <p:nvPr/>
        </p:nvSpPr>
        <p:spPr>
          <a:xfrm flipH="false" flipV="false" rot="0">
            <a:off x="2847039" y="2251019"/>
            <a:ext cx="12261420" cy="8035981"/>
          </a:xfrm>
          <a:custGeom>
            <a:avLst/>
            <a:gdLst/>
            <a:ahLst/>
            <a:cxnLst/>
            <a:rect r="r" b="b" t="t" l="l"/>
            <a:pathLst>
              <a:path h="8035981" w="12261420">
                <a:moveTo>
                  <a:pt x="0" y="0"/>
                </a:moveTo>
                <a:lnTo>
                  <a:pt x="12261420" y="0"/>
                </a:lnTo>
                <a:lnTo>
                  <a:pt x="12261420" y="8035981"/>
                </a:lnTo>
                <a:lnTo>
                  <a:pt x="0" y="8035981"/>
                </a:lnTo>
                <a:lnTo>
                  <a:pt x="0" y="0"/>
                </a:lnTo>
                <a:close/>
              </a:path>
            </a:pathLst>
          </a:custGeom>
          <a:blipFill>
            <a:blip r:embed="rId2"/>
            <a:stretch>
              <a:fillRect l="0" t="-354" r="0" b="-15035"/>
            </a:stretch>
          </a:blipFill>
        </p:spPr>
      </p:sp>
      <p:sp>
        <p:nvSpPr>
          <p:cNvPr name="TextBox 6" id="6"/>
          <p:cNvSpPr txBox="true"/>
          <p:nvPr/>
        </p:nvSpPr>
        <p:spPr>
          <a:xfrm rot="0">
            <a:off x="3760714" y="515906"/>
            <a:ext cx="10766574" cy="1257300"/>
          </a:xfrm>
          <a:prstGeom prst="rect">
            <a:avLst/>
          </a:prstGeom>
        </p:spPr>
        <p:txBody>
          <a:bodyPr anchor="t" rtlCol="false" tIns="0" lIns="0" bIns="0" rIns="0">
            <a:spAutoFit/>
          </a:bodyPr>
          <a:lstStyle/>
          <a:p>
            <a:pPr algn="l">
              <a:lnSpc>
                <a:spcPts val="7678"/>
              </a:lnSpc>
            </a:pPr>
            <a:r>
              <a:rPr lang="en-US" sz="6398" b="true">
                <a:solidFill>
                  <a:srgbClr val="FFFFFF"/>
                </a:solidFill>
                <a:latin typeface="Calibri (MS) Bold"/>
                <a:ea typeface="Calibri (MS) Bold"/>
                <a:cs typeface="Calibri (MS) Bold"/>
                <a:sym typeface="Calibri (MS) Bold"/>
              </a:rPr>
              <a:t>Real-Time Notifications via Mail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2255781"/>
            <a:chOff x="0" y="0"/>
            <a:chExt cx="24396700" cy="3007708"/>
          </a:xfrm>
        </p:grpSpPr>
        <p:sp>
          <p:nvSpPr>
            <p:cNvPr name="Freeform 3" id="3"/>
            <p:cNvSpPr/>
            <p:nvPr/>
          </p:nvSpPr>
          <p:spPr>
            <a:xfrm flipH="false" flipV="false" rot="0">
              <a:off x="8509" y="7427"/>
              <a:ext cx="24384001" cy="2996537"/>
            </a:xfrm>
            <a:custGeom>
              <a:avLst/>
              <a:gdLst/>
              <a:ahLst/>
              <a:cxnLst/>
              <a:rect r="r" b="b" t="t" l="l"/>
              <a:pathLst>
                <a:path h="2996537" w="24384001">
                  <a:moveTo>
                    <a:pt x="0" y="0"/>
                  </a:moveTo>
                  <a:lnTo>
                    <a:pt x="24384001" y="0"/>
                  </a:lnTo>
                  <a:lnTo>
                    <a:pt x="24384001" y="2996537"/>
                  </a:lnTo>
                  <a:lnTo>
                    <a:pt x="0" y="2996537"/>
                  </a:lnTo>
                  <a:close/>
                </a:path>
              </a:pathLst>
            </a:custGeom>
            <a:solidFill>
              <a:srgbClr val="1F497D"/>
            </a:solidFill>
            <a:ln w="12700">
              <a:solidFill>
                <a:srgbClr val="000000"/>
              </a:solidFill>
            </a:ln>
          </p:spPr>
        </p:sp>
        <p:sp>
          <p:nvSpPr>
            <p:cNvPr name="Freeform 4" id="4"/>
            <p:cNvSpPr/>
            <p:nvPr/>
          </p:nvSpPr>
          <p:spPr>
            <a:xfrm flipH="false" flipV="false" rot="0">
              <a:off x="0" y="0"/>
              <a:ext cx="24401018" cy="3011928"/>
            </a:xfrm>
            <a:custGeom>
              <a:avLst/>
              <a:gdLst/>
              <a:ahLst/>
              <a:cxnLst/>
              <a:rect r="r" b="b" t="t" l="l"/>
              <a:pathLst>
                <a:path h="3011928" w="24401018">
                  <a:moveTo>
                    <a:pt x="8509" y="0"/>
                  </a:moveTo>
                  <a:lnTo>
                    <a:pt x="24392510" y="0"/>
                  </a:lnTo>
                  <a:cubicBezTo>
                    <a:pt x="24397208" y="0"/>
                    <a:pt x="24401018" y="3326"/>
                    <a:pt x="24401018" y="7427"/>
                  </a:cubicBezTo>
                  <a:lnTo>
                    <a:pt x="24401018" y="3003964"/>
                  </a:lnTo>
                  <a:cubicBezTo>
                    <a:pt x="24401018" y="3008118"/>
                    <a:pt x="24397208" y="3011928"/>
                    <a:pt x="24392510" y="3011928"/>
                  </a:cubicBezTo>
                  <a:lnTo>
                    <a:pt x="8509" y="3011928"/>
                  </a:lnTo>
                  <a:cubicBezTo>
                    <a:pt x="3810" y="3011928"/>
                    <a:pt x="0" y="3008118"/>
                    <a:pt x="0" y="3003964"/>
                  </a:cubicBezTo>
                  <a:lnTo>
                    <a:pt x="0" y="7427"/>
                  </a:lnTo>
                  <a:cubicBezTo>
                    <a:pt x="0" y="3326"/>
                    <a:pt x="3810" y="0"/>
                    <a:pt x="8509" y="0"/>
                  </a:cubicBezTo>
                  <a:moveTo>
                    <a:pt x="8509" y="14743"/>
                  </a:moveTo>
                  <a:lnTo>
                    <a:pt x="8509" y="7427"/>
                  </a:lnTo>
                  <a:lnTo>
                    <a:pt x="17018" y="7427"/>
                  </a:lnTo>
                  <a:lnTo>
                    <a:pt x="17018" y="3003964"/>
                  </a:lnTo>
                  <a:lnTo>
                    <a:pt x="8509" y="3003964"/>
                  </a:lnTo>
                  <a:lnTo>
                    <a:pt x="8509" y="2996537"/>
                  </a:lnTo>
                  <a:lnTo>
                    <a:pt x="24392510" y="2996537"/>
                  </a:lnTo>
                  <a:lnTo>
                    <a:pt x="24392510" y="3003964"/>
                  </a:lnTo>
                  <a:lnTo>
                    <a:pt x="24384000" y="3003964"/>
                  </a:lnTo>
                  <a:lnTo>
                    <a:pt x="24384000" y="7427"/>
                  </a:lnTo>
                  <a:lnTo>
                    <a:pt x="24392510" y="7427"/>
                  </a:lnTo>
                  <a:lnTo>
                    <a:pt x="24392510" y="14854"/>
                  </a:lnTo>
                  <a:lnTo>
                    <a:pt x="8509" y="14854"/>
                  </a:lnTo>
                  <a:close/>
                </a:path>
              </a:pathLst>
            </a:custGeom>
            <a:solidFill>
              <a:srgbClr val="000000"/>
            </a:solidFill>
            <a:ln w="12700">
              <a:solidFill>
                <a:srgbClr val="000000"/>
              </a:solidFill>
            </a:ln>
          </p:spPr>
        </p:sp>
      </p:grpSp>
      <p:sp>
        <p:nvSpPr>
          <p:cNvPr name="Freeform 5" id="5"/>
          <p:cNvSpPr/>
          <p:nvPr/>
        </p:nvSpPr>
        <p:spPr>
          <a:xfrm flipH="false" flipV="false" rot="0">
            <a:off x="4010142" y="2251019"/>
            <a:ext cx="10674509" cy="8139313"/>
          </a:xfrm>
          <a:custGeom>
            <a:avLst/>
            <a:gdLst/>
            <a:ahLst/>
            <a:cxnLst/>
            <a:rect r="r" b="b" t="t" l="l"/>
            <a:pathLst>
              <a:path h="8139313" w="10674509">
                <a:moveTo>
                  <a:pt x="0" y="0"/>
                </a:moveTo>
                <a:lnTo>
                  <a:pt x="10674508" y="0"/>
                </a:lnTo>
                <a:lnTo>
                  <a:pt x="10674508" y="8139313"/>
                </a:lnTo>
                <a:lnTo>
                  <a:pt x="0" y="8139313"/>
                </a:lnTo>
                <a:lnTo>
                  <a:pt x="0" y="0"/>
                </a:lnTo>
                <a:close/>
              </a:path>
            </a:pathLst>
          </a:custGeom>
          <a:blipFill>
            <a:blip r:embed="rId2"/>
            <a:stretch>
              <a:fillRect l="0" t="0" r="0" b="0"/>
            </a:stretch>
          </a:blipFill>
        </p:spPr>
      </p:sp>
      <p:sp>
        <p:nvSpPr>
          <p:cNvPr name="TextBox 6" id="6"/>
          <p:cNvSpPr txBox="true"/>
          <p:nvPr/>
        </p:nvSpPr>
        <p:spPr>
          <a:xfrm rot="0">
            <a:off x="3760714" y="515906"/>
            <a:ext cx="10766574" cy="1257300"/>
          </a:xfrm>
          <a:prstGeom prst="rect">
            <a:avLst/>
          </a:prstGeom>
        </p:spPr>
        <p:txBody>
          <a:bodyPr anchor="t" rtlCol="false" tIns="0" lIns="0" bIns="0" rIns="0">
            <a:spAutoFit/>
          </a:bodyPr>
          <a:lstStyle/>
          <a:p>
            <a:pPr algn="l">
              <a:lnSpc>
                <a:spcPts val="7678"/>
              </a:lnSpc>
            </a:pPr>
            <a:r>
              <a:rPr lang="en-US" sz="6398" b="true">
                <a:solidFill>
                  <a:srgbClr val="FFFFFF"/>
                </a:solidFill>
                <a:latin typeface="Calibri (MS) Bold"/>
                <a:ea typeface="Calibri (MS) Bold"/>
                <a:cs typeface="Calibri (MS) Bold"/>
                <a:sym typeface="Calibri (MS) Bold"/>
              </a:rPr>
              <a:t>Real-Time Notifications via Mail</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3431" cy="2711443"/>
            <a:chOff x="0" y="0"/>
            <a:chExt cx="24377908" cy="3615258"/>
          </a:xfrm>
        </p:grpSpPr>
        <p:sp>
          <p:nvSpPr>
            <p:cNvPr name="Freeform 3" id="3"/>
            <p:cNvSpPr/>
            <p:nvPr/>
          </p:nvSpPr>
          <p:spPr>
            <a:xfrm flipH="false" flipV="false" rot="0">
              <a:off x="0" y="0"/>
              <a:ext cx="24377904" cy="3615305"/>
            </a:xfrm>
            <a:custGeom>
              <a:avLst/>
              <a:gdLst/>
              <a:ahLst/>
              <a:cxnLst/>
              <a:rect r="r" b="b" t="t" l="l"/>
              <a:pathLst>
                <a:path h="3615305" w="24377904">
                  <a:moveTo>
                    <a:pt x="0" y="0"/>
                  </a:moveTo>
                  <a:lnTo>
                    <a:pt x="24377904" y="0"/>
                  </a:lnTo>
                  <a:lnTo>
                    <a:pt x="24377904" y="3615305"/>
                  </a:lnTo>
                  <a:lnTo>
                    <a:pt x="0" y="3615305"/>
                  </a:lnTo>
                  <a:close/>
                </a:path>
              </a:pathLst>
            </a:custGeom>
            <a:solidFill>
              <a:srgbClr val="1F497D"/>
            </a:solidFill>
            <a:ln w="12700">
              <a:solidFill>
                <a:srgbClr val="000000"/>
              </a:solidFill>
            </a:ln>
          </p:spPr>
        </p:sp>
      </p:grpSp>
      <p:sp>
        <p:nvSpPr>
          <p:cNvPr name="TextBox 4" id="4"/>
          <p:cNvSpPr txBox="true"/>
          <p:nvPr/>
        </p:nvSpPr>
        <p:spPr>
          <a:xfrm rot="0">
            <a:off x="1607923" y="534046"/>
            <a:ext cx="15072153" cy="1504315"/>
          </a:xfrm>
          <a:prstGeom prst="rect">
            <a:avLst/>
          </a:prstGeom>
        </p:spPr>
        <p:txBody>
          <a:bodyPr anchor="t" rtlCol="false" tIns="0" lIns="0" bIns="0" rIns="0">
            <a:spAutoFit/>
          </a:bodyPr>
          <a:lstStyle/>
          <a:p>
            <a:pPr algn="l">
              <a:lnSpc>
                <a:spcPts val="8958"/>
              </a:lnSpc>
            </a:pPr>
            <a:r>
              <a:rPr lang="en-US" sz="6398" b="true">
                <a:solidFill>
                  <a:srgbClr val="FFFFFF"/>
                </a:solidFill>
                <a:latin typeface="Calibri (MS) Bold"/>
                <a:ea typeface="Calibri (MS) Bold"/>
                <a:cs typeface="Calibri (MS) Bold"/>
                <a:sym typeface="Calibri (MS) Bold"/>
              </a:rPr>
              <a:t>Cold Path: Historical Data Archiving in ADLS</a:t>
            </a:r>
          </a:p>
        </p:txBody>
      </p:sp>
      <p:sp>
        <p:nvSpPr>
          <p:cNvPr name="TextBox 5" id="5"/>
          <p:cNvSpPr txBox="true"/>
          <p:nvPr/>
        </p:nvSpPr>
        <p:spPr>
          <a:xfrm rot="0">
            <a:off x="976016" y="3391485"/>
            <a:ext cx="16331398" cy="5409982"/>
          </a:xfrm>
          <a:prstGeom prst="rect">
            <a:avLst/>
          </a:prstGeom>
        </p:spPr>
        <p:txBody>
          <a:bodyPr anchor="t" rtlCol="false" tIns="0" lIns="0" bIns="0" rIns="0">
            <a:spAutoFit/>
          </a:bodyPr>
          <a:lstStyle/>
          <a:p>
            <a:pPr algn="l" marL="638984" indent="-212995" lvl="2">
              <a:lnSpc>
                <a:spcPts val="3309"/>
              </a:lnSpc>
              <a:buFont typeface="Arial"/>
              <a:buChar char="⚬"/>
            </a:pPr>
            <a:r>
              <a:rPr lang="en-US" b="true" sz="2795">
                <a:solidFill>
                  <a:srgbClr val="000000"/>
                </a:solidFill>
                <a:latin typeface="Arial Bold"/>
                <a:ea typeface="Arial Bold"/>
                <a:cs typeface="Arial Bold"/>
                <a:sym typeface="Arial Bold"/>
              </a:rPr>
              <a:t>Efficient Data Partitioning:</a:t>
            </a:r>
          </a:p>
          <a:p>
            <a:pPr algn="l" marL="1141926" indent="-285481" lvl="3">
              <a:lnSpc>
                <a:spcPts val="3309"/>
              </a:lnSpc>
              <a:buFont typeface="Arial"/>
              <a:buChar char="￭"/>
            </a:pPr>
            <a:r>
              <a:rPr lang="en-US" sz="2795">
                <a:solidFill>
                  <a:srgbClr val="000000"/>
                </a:solidFill>
                <a:latin typeface="Arial"/>
                <a:ea typeface="Arial"/>
                <a:cs typeface="Arial"/>
                <a:sym typeface="Arial"/>
              </a:rPr>
              <a:t>Stream Analytics automatically writes raw data to Blob Storage using time-based partitioning. This ensures efficient organization and fast retrieval without overwriting any existing files.</a:t>
            </a:r>
          </a:p>
          <a:p>
            <a:pPr algn="l" marL="1141926" indent="-285481" lvl="3">
              <a:lnSpc>
                <a:spcPts val="3309"/>
              </a:lnSpc>
            </a:pPr>
          </a:p>
          <a:p>
            <a:pPr algn="l" marL="638984" indent="-212995" lvl="2">
              <a:lnSpc>
                <a:spcPts val="3309"/>
              </a:lnSpc>
              <a:buFont typeface="Arial"/>
              <a:buChar char="⚬"/>
            </a:pPr>
            <a:r>
              <a:rPr lang="en-US" b="true" sz="2795">
                <a:solidFill>
                  <a:srgbClr val="000000"/>
                </a:solidFill>
                <a:latin typeface="Arial Bold"/>
                <a:ea typeface="Arial Bold"/>
                <a:cs typeface="Arial Bold"/>
                <a:sym typeface="Arial Bold"/>
              </a:rPr>
              <a:t>Data Preservation &amp; Compliance:</a:t>
            </a:r>
          </a:p>
          <a:p>
            <a:pPr algn="l" marL="1141926" indent="-285481" lvl="3">
              <a:lnSpc>
                <a:spcPts val="3309"/>
              </a:lnSpc>
              <a:buFont typeface="Arial"/>
              <a:buChar char="￭"/>
            </a:pPr>
            <a:r>
              <a:rPr lang="en-US" sz="2795">
                <a:solidFill>
                  <a:srgbClr val="000000"/>
                </a:solidFill>
                <a:latin typeface="Arial"/>
                <a:ea typeface="Arial"/>
                <a:cs typeface="Arial"/>
                <a:sym typeface="Arial"/>
              </a:rPr>
              <a:t>Retains full historical records (timestamps, alerts, metrics) for long-term storage </a:t>
            </a:r>
          </a:p>
          <a:p>
            <a:pPr algn="l" marL="1141926" indent="-285481" lvl="3">
              <a:lnSpc>
                <a:spcPts val="3309"/>
              </a:lnSpc>
              <a:buFont typeface="Arial"/>
              <a:buChar char="￭"/>
            </a:pPr>
            <a:r>
              <a:rPr lang="en-US" sz="2795">
                <a:solidFill>
                  <a:srgbClr val="000000"/>
                </a:solidFill>
                <a:latin typeface="Arial"/>
                <a:ea typeface="Arial"/>
                <a:cs typeface="Arial"/>
                <a:sym typeface="Arial"/>
              </a:rPr>
              <a:t>Prevents data loss; supports auditing, trend analysis, and regulatory compliance.</a:t>
            </a:r>
          </a:p>
          <a:p>
            <a:pPr algn="l" marL="1141926" indent="-285481" lvl="3">
              <a:lnSpc>
                <a:spcPts val="3309"/>
              </a:lnSpc>
            </a:pPr>
          </a:p>
          <a:p>
            <a:pPr algn="l" marL="638984" indent="-212995" lvl="2">
              <a:lnSpc>
                <a:spcPts val="3309"/>
              </a:lnSpc>
              <a:buFont typeface="Arial"/>
              <a:buChar char="⚬"/>
            </a:pPr>
            <a:r>
              <a:rPr lang="en-US" b="true" sz="2795">
                <a:solidFill>
                  <a:srgbClr val="000000"/>
                </a:solidFill>
                <a:latin typeface="Arial Bold"/>
                <a:ea typeface="Arial Bold"/>
                <a:cs typeface="Arial Bold"/>
                <a:sym typeface="Arial Bold"/>
              </a:rPr>
              <a:t>Cost-Effective Integration &amp; Access:</a:t>
            </a:r>
          </a:p>
          <a:p>
            <a:pPr algn="l" marL="1141926" indent="-285481" lvl="3">
              <a:lnSpc>
                <a:spcPts val="3309"/>
              </a:lnSpc>
              <a:buFont typeface="Arial"/>
              <a:buChar char="￭"/>
            </a:pPr>
            <a:r>
              <a:rPr lang="en-US" sz="2795">
                <a:solidFill>
                  <a:srgbClr val="000000"/>
                </a:solidFill>
                <a:latin typeface="Arial"/>
                <a:ea typeface="Arial"/>
                <a:cs typeface="Arial"/>
                <a:sym typeface="Arial"/>
              </a:rPr>
              <a:t>Seamless with Azure ecosystem (query via Databricks or export to Power BI for historical reports).</a:t>
            </a:r>
          </a:p>
          <a:p>
            <a:pPr algn="l" marL="1141926" indent="-285481" lvl="3">
              <a:lnSpc>
                <a:spcPts val="3309"/>
              </a:lnSpc>
              <a:buFont typeface="Arial"/>
              <a:buChar char="￭"/>
            </a:pPr>
            <a:r>
              <a:rPr lang="en-US" sz="2795">
                <a:solidFill>
                  <a:srgbClr val="000000"/>
                </a:solidFill>
                <a:latin typeface="Arial"/>
                <a:ea typeface="Arial"/>
                <a:cs typeface="Arial"/>
                <a:sym typeface="Arial"/>
              </a:rPr>
              <a:t>Cost-effective (pay-per-GB stored, no processing fees).</a:t>
            </a:r>
          </a:p>
          <a:p>
            <a:pPr algn="l" marL="1141926" indent="-285481" lvl="3">
              <a:lnSpc>
                <a:spcPts val="3309"/>
              </a:lnSpc>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 y="0"/>
            <a:ext cx="18283431" cy="2492366"/>
            <a:chOff x="0" y="0"/>
            <a:chExt cx="24377908" cy="3323155"/>
          </a:xfrm>
        </p:grpSpPr>
        <p:sp>
          <p:nvSpPr>
            <p:cNvPr name="Freeform 3" id="3"/>
            <p:cNvSpPr/>
            <p:nvPr/>
          </p:nvSpPr>
          <p:spPr>
            <a:xfrm flipH="false" flipV="false" rot="0">
              <a:off x="0" y="0"/>
              <a:ext cx="24377904" cy="3323202"/>
            </a:xfrm>
            <a:custGeom>
              <a:avLst/>
              <a:gdLst/>
              <a:ahLst/>
              <a:cxnLst/>
              <a:rect r="r" b="b" t="t" l="l"/>
              <a:pathLst>
                <a:path h="3323202" w="24377904">
                  <a:moveTo>
                    <a:pt x="0" y="0"/>
                  </a:moveTo>
                  <a:lnTo>
                    <a:pt x="24377904" y="0"/>
                  </a:lnTo>
                  <a:lnTo>
                    <a:pt x="24377904" y="3323202"/>
                  </a:lnTo>
                  <a:lnTo>
                    <a:pt x="0" y="3323202"/>
                  </a:lnTo>
                  <a:close/>
                </a:path>
              </a:pathLst>
            </a:custGeom>
            <a:solidFill>
              <a:srgbClr val="1F497D"/>
            </a:solidFill>
            <a:ln w="12700">
              <a:solidFill>
                <a:srgbClr val="000000"/>
              </a:solidFill>
            </a:ln>
          </p:spPr>
        </p:sp>
      </p:grpSp>
      <p:sp>
        <p:nvSpPr>
          <p:cNvPr name="TextBox 4" id="4"/>
          <p:cNvSpPr txBox="true"/>
          <p:nvPr/>
        </p:nvSpPr>
        <p:spPr>
          <a:xfrm rot="0">
            <a:off x="2284" y="534046"/>
            <a:ext cx="18283431" cy="1237590"/>
          </a:xfrm>
          <a:prstGeom prst="rect">
            <a:avLst/>
          </a:prstGeom>
        </p:spPr>
        <p:txBody>
          <a:bodyPr anchor="t" rtlCol="false" tIns="0" lIns="0" bIns="0" rIns="0">
            <a:spAutoFit/>
          </a:bodyPr>
          <a:lstStyle/>
          <a:p>
            <a:pPr algn="ctr">
              <a:lnSpc>
                <a:spcPts val="8958"/>
              </a:lnSpc>
            </a:pPr>
            <a:r>
              <a:rPr lang="en-US" sz="6398" b="true">
                <a:solidFill>
                  <a:srgbClr val="FFFFFF"/>
                </a:solidFill>
                <a:latin typeface="Calibri (MS) Bold"/>
                <a:ea typeface="Calibri (MS) Bold"/>
                <a:cs typeface="Calibri (MS) Bold"/>
                <a:sym typeface="Calibri (MS) Bold"/>
              </a:rPr>
              <a:t>Bronze Layer (Raw Data Ingestion)</a:t>
            </a:r>
          </a:p>
        </p:txBody>
      </p:sp>
      <p:sp>
        <p:nvSpPr>
          <p:cNvPr name="TextBox 5" id="5"/>
          <p:cNvSpPr txBox="true"/>
          <p:nvPr/>
        </p:nvSpPr>
        <p:spPr>
          <a:xfrm rot="0">
            <a:off x="341513" y="3233928"/>
            <a:ext cx="16676802" cy="5159014"/>
          </a:xfrm>
          <a:prstGeom prst="rect">
            <a:avLst/>
          </a:prstGeom>
        </p:spPr>
        <p:txBody>
          <a:bodyPr anchor="t" rtlCol="false" tIns="0" lIns="0" bIns="0" rIns="0">
            <a:spAutoFit/>
          </a:bodyPr>
          <a:lstStyle/>
          <a:p>
            <a:pPr algn="l" marL="616178" indent="-308089" lvl="1">
              <a:lnSpc>
                <a:spcPts val="3376"/>
              </a:lnSpc>
              <a:buFont typeface="Arial"/>
              <a:buChar char="•"/>
            </a:pPr>
            <a:r>
              <a:rPr lang="en-US" b="true" sz="2853">
                <a:solidFill>
                  <a:srgbClr val="000000"/>
                </a:solidFill>
                <a:latin typeface="Arial Bold"/>
                <a:ea typeface="Arial Bold"/>
                <a:cs typeface="Arial Bold"/>
                <a:sym typeface="Arial Bold"/>
              </a:rPr>
              <a:t>Purpo</a:t>
            </a:r>
            <a:r>
              <a:rPr lang="en-US" b="true" sz="2853">
                <a:solidFill>
                  <a:srgbClr val="000000"/>
                </a:solidFill>
                <a:latin typeface="Arial Bold"/>
                <a:ea typeface="Arial Bold"/>
                <a:cs typeface="Arial Bold"/>
                <a:sym typeface="Arial Bold"/>
              </a:rPr>
              <a:t>se</a:t>
            </a:r>
            <a:r>
              <a:rPr lang="en-US" sz="2853">
                <a:solidFill>
                  <a:srgbClr val="000000"/>
                </a:solidFill>
                <a:latin typeface="Arial"/>
                <a:ea typeface="Arial"/>
                <a:cs typeface="Arial"/>
                <a:sym typeface="Arial"/>
              </a:rPr>
              <a:t>: Landing zon</a:t>
            </a:r>
            <a:r>
              <a:rPr lang="en-US" sz="2853">
                <a:solidFill>
                  <a:srgbClr val="000000"/>
                </a:solidFill>
                <a:latin typeface="Arial"/>
                <a:ea typeface="Arial"/>
                <a:cs typeface="Arial"/>
                <a:sym typeface="Arial"/>
              </a:rPr>
              <a:t>e for raw daily CSV from Stream Analytics; preserves original format for audits.</a:t>
            </a:r>
          </a:p>
          <a:p>
            <a:pPr algn="l">
              <a:lnSpc>
                <a:spcPts val="3376"/>
              </a:lnSpc>
            </a:pPr>
          </a:p>
          <a:p>
            <a:pPr algn="l" marL="616178" indent="-308089" lvl="1">
              <a:lnSpc>
                <a:spcPts val="3376"/>
              </a:lnSpc>
              <a:buFont typeface="Arial"/>
              <a:buChar char="•"/>
            </a:pPr>
            <a:r>
              <a:rPr lang="en-US" sz="2853">
                <a:solidFill>
                  <a:srgbClr val="000000"/>
                </a:solidFill>
                <a:latin typeface="Arial"/>
                <a:ea typeface="Arial"/>
                <a:cs typeface="Arial"/>
                <a:sym typeface="Arial"/>
              </a:rPr>
              <a:t>Ingest &amp; Enrich</a:t>
            </a:r>
          </a:p>
          <a:p>
            <a:pPr algn="l">
              <a:lnSpc>
                <a:spcPts val="3376"/>
              </a:lnSpc>
            </a:pPr>
          </a:p>
          <a:p>
            <a:pPr algn="l" marL="616178" indent="-308089" lvl="1">
              <a:lnSpc>
                <a:spcPts val="3376"/>
              </a:lnSpc>
              <a:buFont typeface="Arial"/>
              <a:buChar char="•"/>
            </a:pPr>
            <a:r>
              <a:rPr lang="en-US" sz="2853">
                <a:solidFill>
                  <a:srgbClr val="000000"/>
                </a:solidFill>
                <a:latin typeface="Arial"/>
                <a:ea typeface="Arial"/>
                <a:cs typeface="Arial"/>
                <a:sym typeface="Arial"/>
              </a:rPr>
              <a:t>Auto-schema inference + metadata (timestamp, source file).</a:t>
            </a:r>
          </a:p>
          <a:p>
            <a:pPr algn="l">
              <a:lnSpc>
                <a:spcPts val="3378"/>
              </a:lnSpc>
            </a:pPr>
          </a:p>
          <a:p>
            <a:pPr algn="l" marL="616178" indent="-308089" lvl="1">
              <a:lnSpc>
                <a:spcPts val="3376"/>
              </a:lnSpc>
              <a:buFont typeface="Arial"/>
              <a:buChar char="•"/>
            </a:pPr>
            <a:r>
              <a:rPr lang="en-US" sz="2853">
                <a:solidFill>
                  <a:srgbClr val="000000"/>
                </a:solidFill>
                <a:latin typeface="Arial"/>
                <a:ea typeface="Arial"/>
                <a:cs typeface="Arial"/>
                <a:sym typeface="Arial"/>
              </a:rPr>
              <a:t>S</a:t>
            </a:r>
            <a:r>
              <a:rPr lang="en-US" sz="2853">
                <a:solidFill>
                  <a:srgbClr val="000000"/>
                </a:solidFill>
                <a:latin typeface="Arial"/>
                <a:ea typeface="Arial"/>
                <a:cs typeface="Arial"/>
                <a:sym typeface="Arial"/>
              </a:rPr>
              <a:t>tore as Delta</a:t>
            </a:r>
          </a:p>
          <a:p>
            <a:pPr algn="l">
              <a:lnSpc>
                <a:spcPts val="3376"/>
              </a:lnSpc>
            </a:pPr>
          </a:p>
          <a:p>
            <a:pPr algn="l" marL="616178" indent="-308089" lvl="1">
              <a:lnSpc>
                <a:spcPts val="3376"/>
              </a:lnSpc>
              <a:buFont typeface="Arial"/>
              <a:buChar char="•"/>
            </a:pPr>
            <a:r>
              <a:rPr lang="en-US" sz="2853">
                <a:solidFill>
                  <a:srgbClr val="000000"/>
                </a:solidFill>
                <a:latin typeface="Arial"/>
                <a:ea typeface="Arial"/>
                <a:cs typeface="Arial"/>
                <a:sym typeface="Arial"/>
              </a:rPr>
              <a:t>ACID s</a:t>
            </a:r>
            <a:r>
              <a:rPr lang="en-US" sz="2853">
                <a:solidFill>
                  <a:srgbClr val="000000"/>
                </a:solidFill>
                <a:latin typeface="Arial"/>
                <a:ea typeface="Arial"/>
                <a:cs typeface="Arial"/>
                <a:sym typeface="Arial"/>
              </a:rPr>
              <a:t>upport via Unity</a:t>
            </a:r>
            <a:r>
              <a:rPr lang="en-US" sz="2853">
                <a:solidFill>
                  <a:srgbClr val="000000"/>
                </a:solidFill>
                <a:latin typeface="Arial"/>
                <a:ea typeface="Arial"/>
                <a:cs typeface="Arial"/>
                <a:sym typeface="Arial"/>
              </a:rPr>
              <a:t> Cat</a:t>
            </a:r>
            <a:r>
              <a:rPr lang="en-US" sz="2853">
                <a:solidFill>
                  <a:srgbClr val="000000"/>
                </a:solidFill>
                <a:latin typeface="Arial"/>
                <a:ea typeface="Arial"/>
                <a:cs typeface="Arial"/>
                <a:sym typeface="Arial"/>
              </a:rPr>
              <a:t>alog enables time travel.</a:t>
            </a:r>
          </a:p>
          <a:p>
            <a:pPr algn="l">
              <a:lnSpc>
                <a:spcPts val="3378"/>
              </a:lnSpc>
            </a:pPr>
          </a:p>
          <a:p>
            <a:pPr algn="l" marL="652483" indent="-217494" lvl="2">
              <a:lnSpc>
                <a:spcPts val="3379"/>
              </a:lnSpc>
            </a:pP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 y="0"/>
            <a:ext cx="18283431" cy="2645720"/>
            <a:chOff x="0" y="0"/>
            <a:chExt cx="24377908" cy="3527627"/>
          </a:xfrm>
        </p:grpSpPr>
        <p:sp>
          <p:nvSpPr>
            <p:cNvPr name="Freeform 3" id="3"/>
            <p:cNvSpPr/>
            <p:nvPr/>
          </p:nvSpPr>
          <p:spPr>
            <a:xfrm flipH="false" flipV="false" rot="0">
              <a:off x="0" y="0"/>
              <a:ext cx="24377904" cy="3527673"/>
            </a:xfrm>
            <a:custGeom>
              <a:avLst/>
              <a:gdLst/>
              <a:ahLst/>
              <a:cxnLst/>
              <a:rect r="r" b="b" t="t" l="l"/>
              <a:pathLst>
                <a:path h="3527673" w="24377904">
                  <a:moveTo>
                    <a:pt x="0" y="0"/>
                  </a:moveTo>
                  <a:lnTo>
                    <a:pt x="24377904" y="0"/>
                  </a:lnTo>
                  <a:lnTo>
                    <a:pt x="24377904" y="3527673"/>
                  </a:lnTo>
                  <a:lnTo>
                    <a:pt x="0" y="3527673"/>
                  </a:lnTo>
                  <a:close/>
                </a:path>
              </a:pathLst>
            </a:custGeom>
            <a:solidFill>
              <a:srgbClr val="1F497D"/>
            </a:solidFill>
            <a:ln w="12700">
              <a:solidFill>
                <a:srgbClr val="000000"/>
              </a:solidFill>
            </a:ln>
          </p:spPr>
        </p:sp>
      </p:grpSp>
      <p:sp>
        <p:nvSpPr>
          <p:cNvPr name="TextBox 4" id="4"/>
          <p:cNvSpPr txBox="true"/>
          <p:nvPr/>
        </p:nvSpPr>
        <p:spPr>
          <a:xfrm rot="0">
            <a:off x="1962683" y="635801"/>
            <a:ext cx="17259299" cy="1135993"/>
          </a:xfrm>
          <a:prstGeom prst="rect">
            <a:avLst/>
          </a:prstGeom>
        </p:spPr>
        <p:txBody>
          <a:bodyPr anchor="t" rtlCol="false" tIns="0" lIns="0" bIns="0" rIns="0">
            <a:spAutoFit/>
          </a:bodyPr>
          <a:lstStyle/>
          <a:p>
            <a:pPr algn="l">
              <a:lnSpc>
                <a:spcPts val="8258"/>
              </a:lnSpc>
            </a:pPr>
            <a:r>
              <a:rPr lang="en-US" sz="5899" b="true">
                <a:solidFill>
                  <a:srgbClr val="FFFFFF"/>
                </a:solidFill>
                <a:latin typeface="Calibri (MS) Bold"/>
                <a:ea typeface="Calibri (MS) Bold"/>
                <a:cs typeface="Calibri (MS) Bold"/>
                <a:sym typeface="Calibri (MS) Bold"/>
              </a:rPr>
              <a:t>Silver Layer - Cleansed Data Preparation </a:t>
            </a:r>
          </a:p>
        </p:txBody>
      </p:sp>
      <p:sp>
        <p:nvSpPr>
          <p:cNvPr name="TextBox 5" id="5"/>
          <p:cNvSpPr txBox="true"/>
          <p:nvPr/>
        </p:nvSpPr>
        <p:spPr>
          <a:xfrm rot="0">
            <a:off x="582498" y="3387282"/>
            <a:ext cx="16234349" cy="5159014"/>
          </a:xfrm>
          <a:prstGeom prst="rect">
            <a:avLst/>
          </a:prstGeom>
        </p:spPr>
        <p:txBody>
          <a:bodyPr anchor="t" rtlCol="false" tIns="0" lIns="0" bIns="0" rIns="0">
            <a:spAutoFit/>
          </a:bodyPr>
          <a:lstStyle/>
          <a:p>
            <a:pPr algn="l">
              <a:lnSpc>
                <a:spcPts val="3376"/>
              </a:lnSpc>
            </a:pPr>
            <a:r>
              <a:rPr lang="en-US" sz="2853" b="true">
                <a:solidFill>
                  <a:srgbClr val="000000"/>
                </a:solidFill>
                <a:latin typeface="Arial Bold"/>
                <a:ea typeface="Arial Bold"/>
                <a:cs typeface="Arial Bold"/>
                <a:sym typeface="Arial Bold"/>
              </a:rPr>
              <a:t>Purpo</a:t>
            </a:r>
            <a:r>
              <a:rPr lang="en-US" sz="2853" b="true">
                <a:solidFill>
                  <a:srgbClr val="000000"/>
                </a:solidFill>
                <a:latin typeface="Arial Bold"/>
                <a:ea typeface="Arial Bold"/>
                <a:cs typeface="Arial Bold"/>
                <a:sym typeface="Arial Bold"/>
              </a:rPr>
              <a:t>se</a:t>
            </a:r>
            <a:r>
              <a:rPr lang="en-US" sz="2853">
                <a:solidFill>
                  <a:srgbClr val="000000"/>
                </a:solidFill>
                <a:latin typeface="Arial"/>
                <a:ea typeface="Arial"/>
                <a:cs typeface="Arial"/>
                <a:sym typeface="Arial"/>
              </a:rPr>
              <a:t>: T</a:t>
            </a:r>
            <a:r>
              <a:rPr lang="en-US" sz="2853">
                <a:solidFill>
                  <a:srgbClr val="000000"/>
                </a:solidFill>
                <a:latin typeface="Arial"/>
                <a:ea typeface="Arial"/>
                <a:cs typeface="Arial"/>
                <a:sym typeface="Arial"/>
              </a:rPr>
              <a:t>ransforms raw Bronze data into reliable, cleaned version; removes duplicates and nulls to ensure data quality for analytics.</a:t>
            </a:r>
          </a:p>
          <a:p>
            <a:pPr algn="l">
              <a:lnSpc>
                <a:spcPts val="3376"/>
              </a:lnSpc>
            </a:pPr>
          </a:p>
          <a:p>
            <a:pPr algn="l">
              <a:lnSpc>
                <a:spcPts val="3378"/>
              </a:lnSpc>
            </a:pPr>
            <a:r>
              <a:rPr lang="en-US" sz="2853" b="true">
                <a:solidFill>
                  <a:srgbClr val="000000"/>
                </a:solidFill>
                <a:latin typeface="Arial Bold"/>
                <a:ea typeface="Arial Bold"/>
                <a:cs typeface="Arial Bold"/>
                <a:sym typeface="Arial Bold"/>
              </a:rPr>
              <a:t>Key Tr</a:t>
            </a:r>
            <a:r>
              <a:rPr lang="en-US" sz="2853" b="true">
                <a:solidFill>
                  <a:srgbClr val="000000"/>
                </a:solidFill>
                <a:latin typeface="Arial Bold"/>
                <a:ea typeface="Arial Bold"/>
                <a:cs typeface="Arial Bold"/>
                <a:sym typeface="Arial Bold"/>
              </a:rPr>
              <a:t>ansformations:</a:t>
            </a:r>
          </a:p>
          <a:p>
            <a:pPr algn="l" marL="616178" indent="-308089" lvl="1">
              <a:lnSpc>
                <a:spcPts val="3376"/>
              </a:lnSpc>
              <a:buFont typeface="Arial"/>
              <a:buChar char="•"/>
            </a:pPr>
            <a:r>
              <a:rPr lang="en-US" sz="2853">
                <a:solidFill>
                  <a:srgbClr val="000000"/>
                </a:solidFill>
                <a:latin typeface="Arial"/>
                <a:ea typeface="Arial"/>
                <a:cs typeface="Arial"/>
                <a:sym typeface="Arial"/>
              </a:rPr>
              <a:t>D</a:t>
            </a:r>
            <a:r>
              <a:rPr lang="en-US" sz="2853">
                <a:solidFill>
                  <a:srgbClr val="000000"/>
                </a:solidFill>
                <a:latin typeface="Arial"/>
                <a:ea typeface="Arial"/>
                <a:cs typeface="Arial"/>
                <a:sym typeface="Arial"/>
              </a:rPr>
              <a:t>e</a:t>
            </a:r>
            <a:r>
              <a:rPr lang="en-US" sz="2853">
                <a:solidFill>
                  <a:srgbClr val="000000"/>
                </a:solidFill>
                <a:latin typeface="Arial"/>
                <a:ea typeface="Arial"/>
                <a:cs typeface="Arial"/>
                <a:sym typeface="Arial"/>
              </a:rPr>
              <a:t>duplicate records based on unique keys.</a:t>
            </a:r>
          </a:p>
          <a:p>
            <a:pPr algn="l" marL="616178" indent="-308089" lvl="1">
              <a:lnSpc>
                <a:spcPts val="3376"/>
              </a:lnSpc>
              <a:buFont typeface="Arial"/>
              <a:buChar char="•"/>
            </a:pPr>
            <a:r>
              <a:rPr lang="en-US" sz="2853">
                <a:solidFill>
                  <a:srgbClr val="000000"/>
                </a:solidFill>
                <a:latin typeface="Arial"/>
                <a:ea typeface="Arial"/>
                <a:cs typeface="Arial"/>
                <a:sym typeface="Arial"/>
              </a:rPr>
              <a:t>Drop rows w</a:t>
            </a:r>
            <a:r>
              <a:rPr lang="en-US" sz="2853">
                <a:solidFill>
                  <a:srgbClr val="000000"/>
                </a:solidFill>
                <a:latin typeface="Arial"/>
                <a:ea typeface="Arial"/>
                <a:cs typeface="Arial"/>
                <a:sym typeface="Arial"/>
              </a:rPr>
              <a:t>ith missing critical fields.</a:t>
            </a:r>
          </a:p>
          <a:p>
            <a:pPr algn="l" marL="616178" indent="-308089" lvl="1">
              <a:lnSpc>
                <a:spcPts val="3376"/>
              </a:lnSpc>
              <a:buFont typeface="Arial"/>
              <a:buChar char="•"/>
            </a:pPr>
            <a:r>
              <a:rPr lang="en-US" sz="2853">
                <a:solidFill>
                  <a:srgbClr val="000000"/>
                </a:solidFill>
                <a:latin typeface="Arial"/>
                <a:ea typeface="Arial"/>
                <a:cs typeface="Arial"/>
                <a:sym typeface="Arial"/>
              </a:rPr>
              <a:t>Cast data types.</a:t>
            </a:r>
          </a:p>
          <a:p>
            <a:pPr algn="l">
              <a:lnSpc>
                <a:spcPts val="3376"/>
              </a:lnSpc>
            </a:pPr>
            <a:r>
              <a:rPr lang="en-US" sz="2853" b="true">
                <a:solidFill>
                  <a:srgbClr val="000000"/>
                </a:solidFill>
                <a:latin typeface="Arial Bold"/>
                <a:ea typeface="Arial Bold"/>
                <a:cs typeface="Arial Bold"/>
                <a:sym typeface="Arial Bold"/>
              </a:rPr>
              <a:t>Storage</a:t>
            </a:r>
            <a:r>
              <a:rPr lang="en-US" sz="2853">
                <a:solidFill>
                  <a:srgbClr val="000000"/>
                </a:solidFill>
                <a:latin typeface="Arial"/>
                <a:ea typeface="Arial"/>
                <a:cs typeface="Arial"/>
                <a:sym typeface="Arial"/>
              </a:rPr>
              <a:t>: </a:t>
            </a:r>
          </a:p>
          <a:p>
            <a:pPr algn="l" marL="616178" indent="-308089" lvl="1">
              <a:lnSpc>
                <a:spcPts val="3376"/>
              </a:lnSpc>
              <a:buFont typeface="Arial"/>
              <a:buChar char="•"/>
            </a:pPr>
            <a:r>
              <a:rPr lang="en-US" sz="2853">
                <a:solidFill>
                  <a:srgbClr val="000000"/>
                </a:solidFill>
                <a:latin typeface="Arial"/>
                <a:ea typeface="Arial"/>
                <a:cs typeface="Arial"/>
                <a:sym typeface="Arial"/>
              </a:rPr>
              <a:t>Writes to Delta table in Unity Catalog schema silver,</a:t>
            </a:r>
          </a:p>
          <a:p>
            <a:pPr algn="l" marL="616178" indent="-308089" lvl="1">
              <a:lnSpc>
                <a:spcPts val="3376"/>
              </a:lnSpc>
              <a:buFont typeface="Arial"/>
              <a:buChar char="•"/>
            </a:pPr>
            <a:r>
              <a:rPr lang="en-US" sz="2853">
                <a:solidFill>
                  <a:srgbClr val="000000"/>
                </a:solidFill>
                <a:latin typeface="Arial"/>
                <a:ea typeface="Arial"/>
                <a:cs typeface="Arial"/>
                <a:sym typeface="Arial"/>
              </a:rPr>
              <a:t> supports ACID transactions for safe updates.</a:t>
            </a:r>
          </a:p>
          <a:p>
            <a:pPr algn="l">
              <a:lnSpc>
                <a:spcPts val="3378"/>
              </a:lnSpc>
            </a:pPr>
          </a:p>
          <a:p>
            <a:pPr algn="l" marL="652483" indent="-217494" lvl="2">
              <a:lnSpc>
                <a:spcPts val="337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69" y="-1372892"/>
            <a:ext cx="18283431" cy="3653474"/>
            <a:chOff x="0" y="0"/>
            <a:chExt cx="24377908" cy="4871299"/>
          </a:xfrm>
        </p:grpSpPr>
        <p:sp>
          <p:nvSpPr>
            <p:cNvPr name="Freeform 3" id="3"/>
            <p:cNvSpPr/>
            <p:nvPr/>
          </p:nvSpPr>
          <p:spPr>
            <a:xfrm flipH="false" flipV="false" rot="0">
              <a:off x="0" y="0"/>
              <a:ext cx="24377904" cy="4871346"/>
            </a:xfrm>
            <a:custGeom>
              <a:avLst/>
              <a:gdLst/>
              <a:ahLst/>
              <a:cxnLst/>
              <a:rect r="r" b="b" t="t" l="l"/>
              <a:pathLst>
                <a:path h="4871346" w="24377904">
                  <a:moveTo>
                    <a:pt x="0" y="0"/>
                  </a:moveTo>
                  <a:lnTo>
                    <a:pt x="24377904" y="0"/>
                  </a:lnTo>
                  <a:lnTo>
                    <a:pt x="24377904" y="4871346"/>
                  </a:lnTo>
                  <a:lnTo>
                    <a:pt x="0" y="4871346"/>
                  </a:lnTo>
                  <a:close/>
                </a:path>
              </a:pathLst>
            </a:custGeom>
            <a:solidFill>
              <a:srgbClr val="1F497D"/>
            </a:solidFill>
            <a:ln w="12700">
              <a:solidFill>
                <a:srgbClr val="000000"/>
              </a:solidFill>
            </a:ln>
          </p:spPr>
        </p:sp>
      </p:grpSp>
      <p:sp>
        <p:nvSpPr>
          <p:cNvPr name="Freeform 4" id="4"/>
          <p:cNvSpPr/>
          <p:nvPr/>
        </p:nvSpPr>
        <p:spPr>
          <a:xfrm flipH="false" flipV="false" rot="0">
            <a:off x="1653543" y="2280582"/>
            <a:ext cx="14349074" cy="10100044"/>
          </a:xfrm>
          <a:custGeom>
            <a:avLst/>
            <a:gdLst/>
            <a:ahLst/>
            <a:cxnLst/>
            <a:rect r="r" b="b" t="t" l="l"/>
            <a:pathLst>
              <a:path h="10100044" w="14349074">
                <a:moveTo>
                  <a:pt x="0" y="0"/>
                </a:moveTo>
                <a:lnTo>
                  <a:pt x="14349074" y="0"/>
                </a:lnTo>
                <a:lnTo>
                  <a:pt x="14349074" y="10100044"/>
                </a:lnTo>
                <a:lnTo>
                  <a:pt x="0" y="10100044"/>
                </a:lnTo>
                <a:lnTo>
                  <a:pt x="0" y="0"/>
                </a:lnTo>
                <a:close/>
              </a:path>
            </a:pathLst>
          </a:custGeom>
          <a:blipFill>
            <a:blip r:embed="rId2"/>
            <a:stretch>
              <a:fillRect l="0" t="-5813" r="0" b="-30890"/>
            </a:stretch>
          </a:blipFill>
        </p:spPr>
      </p:sp>
      <p:sp>
        <p:nvSpPr>
          <p:cNvPr name="TextBox 5" id="5"/>
          <p:cNvSpPr txBox="true"/>
          <p:nvPr/>
        </p:nvSpPr>
        <p:spPr>
          <a:xfrm rot="0">
            <a:off x="1028700" y="455790"/>
            <a:ext cx="16961308" cy="1237590"/>
          </a:xfrm>
          <a:prstGeom prst="rect">
            <a:avLst/>
          </a:prstGeom>
        </p:spPr>
        <p:txBody>
          <a:bodyPr anchor="t" rtlCol="false" tIns="0" lIns="0" bIns="0" rIns="0">
            <a:spAutoFit/>
          </a:bodyPr>
          <a:lstStyle/>
          <a:p>
            <a:pPr algn="l">
              <a:lnSpc>
                <a:spcPts val="8958"/>
              </a:lnSpc>
            </a:pPr>
            <a:r>
              <a:rPr lang="en-US" sz="6398" b="true">
                <a:solidFill>
                  <a:srgbClr val="FFFFFF"/>
                </a:solidFill>
                <a:latin typeface="Calibri (MS) Bold"/>
                <a:ea typeface="Calibri (MS) Bold"/>
                <a:cs typeface="Calibri (MS) Bold"/>
                <a:sym typeface="Calibri (MS) Bold"/>
              </a:rPr>
              <a:t>Gold Layer: Dimensional Model for Analytics</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 y="0"/>
            <a:ext cx="18283431" cy="2623813"/>
            <a:chOff x="0" y="0"/>
            <a:chExt cx="24377908" cy="3498417"/>
          </a:xfrm>
        </p:grpSpPr>
        <p:sp>
          <p:nvSpPr>
            <p:cNvPr name="Freeform 3" id="3"/>
            <p:cNvSpPr/>
            <p:nvPr/>
          </p:nvSpPr>
          <p:spPr>
            <a:xfrm flipH="false" flipV="false" rot="0">
              <a:off x="0" y="0"/>
              <a:ext cx="24377904" cy="3498463"/>
            </a:xfrm>
            <a:custGeom>
              <a:avLst/>
              <a:gdLst/>
              <a:ahLst/>
              <a:cxnLst/>
              <a:rect r="r" b="b" t="t" l="l"/>
              <a:pathLst>
                <a:path h="3498463" w="24377904">
                  <a:moveTo>
                    <a:pt x="0" y="0"/>
                  </a:moveTo>
                  <a:lnTo>
                    <a:pt x="24377904" y="0"/>
                  </a:lnTo>
                  <a:lnTo>
                    <a:pt x="24377904" y="3498463"/>
                  </a:lnTo>
                  <a:lnTo>
                    <a:pt x="0" y="3498463"/>
                  </a:lnTo>
                  <a:close/>
                </a:path>
              </a:pathLst>
            </a:custGeom>
            <a:solidFill>
              <a:srgbClr val="1F497D"/>
            </a:solidFill>
            <a:ln w="12700">
              <a:solidFill>
                <a:srgbClr val="000000"/>
              </a:solidFill>
            </a:ln>
          </p:spPr>
        </p:sp>
      </p:grpSp>
      <p:sp>
        <p:nvSpPr>
          <p:cNvPr name="TextBox 4" id="4"/>
          <p:cNvSpPr txBox="true"/>
          <p:nvPr/>
        </p:nvSpPr>
        <p:spPr>
          <a:xfrm rot="0">
            <a:off x="1537335" y="790575"/>
            <a:ext cx="15213330" cy="1132635"/>
          </a:xfrm>
          <a:prstGeom prst="rect">
            <a:avLst/>
          </a:prstGeom>
        </p:spPr>
        <p:txBody>
          <a:bodyPr anchor="t" rtlCol="false" tIns="0" lIns="0" bIns="0" rIns="0">
            <a:spAutoFit/>
          </a:bodyPr>
          <a:lstStyle/>
          <a:p>
            <a:pPr algn="l">
              <a:lnSpc>
                <a:spcPts val="8279"/>
              </a:lnSpc>
            </a:pPr>
            <a:r>
              <a:rPr lang="en-US" sz="5914" b="true">
                <a:solidFill>
                  <a:srgbClr val="FFFFFF"/>
                </a:solidFill>
                <a:latin typeface="Calibri (MS) Bold"/>
                <a:ea typeface="Calibri (MS) Bold"/>
                <a:cs typeface="Calibri (MS) Bold"/>
                <a:sym typeface="Calibri (MS) Bold"/>
              </a:rPr>
              <a:t> </a:t>
            </a:r>
            <a:r>
              <a:rPr lang="en-US" sz="5914" b="true">
                <a:solidFill>
                  <a:srgbClr val="FFFFFF"/>
                </a:solidFill>
                <a:latin typeface="Calibri (MS) Bold"/>
                <a:ea typeface="Calibri (MS) Bold"/>
                <a:cs typeface="Calibri (MS) Bold"/>
                <a:sym typeface="Calibri (MS) Bold"/>
              </a:rPr>
              <a:t>Gold Layer: Business KPIs &amp; Analytics Modeling</a:t>
            </a:r>
          </a:p>
        </p:txBody>
      </p:sp>
      <p:sp>
        <p:nvSpPr>
          <p:cNvPr name="TextBox 5" id="5"/>
          <p:cNvSpPr txBox="true"/>
          <p:nvPr/>
        </p:nvSpPr>
        <p:spPr>
          <a:xfrm rot="0">
            <a:off x="352852" y="3058028"/>
            <a:ext cx="16397813" cy="5944072"/>
          </a:xfrm>
          <a:prstGeom prst="rect">
            <a:avLst/>
          </a:prstGeom>
        </p:spPr>
        <p:txBody>
          <a:bodyPr anchor="t" rtlCol="false" tIns="0" lIns="0" bIns="0" rIns="0">
            <a:spAutoFit/>
          </a:bodyPr>
          <a:lstStyle/>
          <a:p>
            <a:pPr algn="l">
              <a:lnSpc>
                <a:spcPts val="4698"/>
              </a:lnSpc>
            </a:pPr>
            <a:r>
              <a:rPr lang="en-US" sz="3356" b="true">
                <a:solidFill>
                  <a:srgbClr val="000000"/>
                </a:solidFill>
                <a:latin typeface="Calibri (MS) Bold"/>
                <a:ea typeface="Calibri (MS) Bold"/>
                <a:cs typeface="Calibri (MS) Bold"/>
                <a:sym typeface="Calibri (MS) Bold"/>
              </a:rPr>
              <a:t>Purpose</a:t>
            </a:r>
            <a:r>
              <a:rPr lang="en-US" sz="3356">
                <a:solidFill>
                  <a:srgbClr val="000000"/>
                </a:solidFill>
                <a:latin typeface="Calibri (MS)"/>
                <a:ea typeface="Calibri (MS)"/>
                <a:cs typeface="Calibri (MS)"/>
                <a:sym typeface="Calibri (MS)"/>
              </a:rPr>
              <a:t>:</a:t>
            </a:r>
          </a:p>
          <a:p>
            <a:pPr algn="l" marL="724650" indent="-362325" lvl="1">
              <a:lnSpc>
                <a:spcPts val="4698"/>
              </a:lnSpc>
              <a:buFont typeface="Arial"/>
              <a:buChar char="•"/>
            </a:pPr>
            <a:r>
              <a:rPr lang="en-US" sz="3356">
                <a:solidFill>
                  <a:srgbClr val="000000"/>
                </a:solidFill>
                <a:latin typeface="Calibri (MS)"/>
                <a:ea typeface="Calibri (MS)"/>
                <a:cs typeface="Calibri (MS)"/>
                <a:sym typeface="Calibri (MS)"/>
              </a:rPr>
              <a:t> Builds business-ready data </a:t>
            </a:r>
            <a:r>
              <a:rPr lang="en-US" sz="3356">
                <a:solidFill>
                  <a:srgbClr val="000000"/>
                </a:solidFill>
                <a:latin typeface="Calibri (MS)"/>
                <a:ea typeface="Calibri (MS)"/>
                <a:cs typeface="Calibri (MS)"/>
                <a:sym typeface="Calibri (MS)"/>
              </a:rPr>
              <a:t>from Silver, creates dimensional models (star schema) for analytics, KPIs, and AI-ready features like peak hours and compliance rates.</a:t>
            </a:r>
          </a:p>
          <a:p>
            <a:pPr algn="l">
              <a:lnSpc>
                <a:spcPts val="4698"/>
              </a:lnSpc>
            </a:pPr>
            <a:r>
              <a:rPr lang="en-US" sz="3356" b="true">
                <a:solidFill>
                  <a:srgbClr val="000000"/>
                </a:solidFill>
                <a:latin typeface="Calibri (MS) Bold"/>
                <a:ea typeface="Calibri (MS) Bold"/>
                <a:cs typeface="Calibri (MS) Bold"/>
                <a:sym typeface="Calibri (MS) Bold"/>
              </a:rPr>
              <a:t>Key Components:</a:t>
            </a:r>
          </a:p>
          <a:p>
            <a:pPr algn="l" marL="724650" indent="-362325" lvl="1">
              <a:lnSpc>
                <a:spcPts val="4698"/>
              </a:lnSpc>
              <a:buFont typeface="Arial"/>
              <a:buChar char="•"/>
            </a:pPr>
            <a:r>
              <a:rPr lang="en-US" sz="3356">
                <a:solidFill>
                  <a:srgbClr val="000000"/>
                </a:solidFill>
                <a:latin typeface="Calibri (MS)"/>
                <a:ea typeface="Calibri (MS)"/>
                <a:cs typeface="Calibri (MS)"/>
                <a:sym typeface="Calibri (MS)"/>
              </a:rPr>
              <a:t>Dimensions: Time</a:t>
            </a:r>
            <a:r>
              <a:rPr lang="en-US" sz="3356">
                <a:solidFill>
                  <a:srgbClr val="000000"/>
                </a:solidFill>
                <a:latin typeface="Calibri (MS)"/>
                <a:ea typeface="Calibri (MS)"/>
                <a:cs typeface="Calibri (MS)"/>
                <a:sym typeface="Calibri (MS)"/>
              </a:rPr>
              <a:t>, Location, Sensor.</a:t>
            </a:r>
          </a:p>
          <a:p>
            <a:pPr algn="l" marL="724650" indent="-362325" lvl="1">
              <a:lnSpc>
                <a:spcPts val="4698"/>
              </a:lnSpc>
              <a:buFont typeface="Arial"/>
              <a:buChar char="•"/>
            </a:pPr>
            <a:r>
              <a:rPr lang="en-US" sz="3356">
                <a:solidFill>
                  <a:srgbClr val="000000"/>
                </a:solidFill>
                <a:latin typeface="Calibri (MS)"/>
                <a:ea typeface="Calibri (MS)"/>
                <a:cs typeface="Calibri (MS)"/>
                <a:sym typeface="Calibri (MS)"/>
              </a:rPr>
              <a:t>Fact Table: fact_traffic_air – Core metrics (speed, vehicles, AQI, emissions).</a:t>
            </a:r>
          </a:p>
          <a:p>
            <a:pPr algn="l" marL="724650" indent="-362325" lvl="1">
              <a:lnSpc>
                <a:spcPts val="4698"/>
              </a:lnSpc>
              <a:buFont typeface="Arial"/>
              <a:buChar char="•"/>
            </a:pPr>
            <a:r>
              <a:rPr lang="en-US" sz="3356">
                <a:solidFill>
                  <a:srgbClr val="000000"/>
                </a:solidFill>
                <a:latin typeface="Calibri (MS)"/>
                <a:ea typeface="Calibri (MS)"/>
                <a:cs typeface="Calibri (MS)"/>
                <a:sym typeface="Calibri (MS)"/>
              </a:rPr>
              <a:t>Aggregations &amp; KPIs: Hourly/city summaries in kpi_city_hour </a:t>
            </a:r>
          </a:p>
          <a:p>
            <a:pPr algn="l" marL="724650" indent="-362325" lvl="1">
              <a:lnSpc>
                <a:spcPts val="4698"/>
              </a:lnSpc>
              <a:buAutoNum type="arabicPeriod" startAt="1"/>
            </a:pPr>
            <a:r>
              <a:rPr lang="en-US" sz="3356">
                <a:solidFill>
                  <a:srgbClr val="000000"/>
                </a:solidFill>
                <a:latin typeface="Calibri (MS)"/>
                <a:ea typeface="Calibri (MS)"/>
                <a:cs typeface="Calibri (MS)"/>
                <a:sym typeface="Calibri (MS)"/>
              </a:rPr>
              <a:t> Averages (AQI, speed, congestion),</a:t>
            </a:r>
          </a:p>
          <a:p>
            <a:pPr algn="l" marL="724650" indent="-362325" lvl="1">
              <a:lnSpc>
                <a:spcPts val="4698"/>
              </a:lnSpc>
              <a:buAutoNum type="arabicPeriod" startAt="1"/>
            </a:pPr>
            <a:r>
              <a:rPr lang="en-US" sz="3356">
                <a:solidFill>
                  <a:srgbClr val="000000"/>
                </a:solidFill>
                <a:latin typeface="Calibri (MS)"/>
                <a:ea typeface="Calibri (MS)"/>
                <a:cs typeface="Calibri (MS)"/>
                <a:sym typeface="Calibri (MS)"/>
              </a:rPr>
              <a:t> counts (pollution peaks, vehicles/km),</a:t>
            </a:r>
          </a:p>
          <a:p>
            <a:pPr algn="l" marL="724650" indent="-362325" lvl="1">
              <a:lnSpc>
                <a:spcPts val="4698"/>
              </a:lnSpc>
              <a:buAutoNum type="arabicPeriod" startAt="1"/>
            </a:pPr>
            <a:r>
              <a:rPr lang="en-US" sz="3356">
                <a:solidFill>
                  <a:srgbClr val="000000"/>
                </a:solidFill>
                <a:latin typeface="Calibri (MS)"/>
                <a:ea typeface="Calibri (MS)"/>
                <a:cs typeface="Calibri (MS)"/>
                <a:sym typeface="Calibri (MS)"/>
              </a:rPr>
              <a:t> rates (air compliance %, emissions/100 vehicles).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 y="-376085"/>
            <a:ext cx="18283431" cy="2886705"/>
            <a:chOff x="0" y="0"/>
            <a:chExt cx="24377908" cy="3848940"/>
          </a:xfrm>
        </p:grpSpPr>
        <p:sp>
          <p:nvSpPr>
            <p:cNvPr name="Freeform 3" id="3"/>
            <p:cNvSpPr/>
            <p:nvPr/>
          </p:nvSpPr>
          <p:spPr>
            <a:xfrm flipH="false" flipV="false" rot="0">
              <a:off x="0" y="0"/>
              <a:ext cx="24377904" cy="3848986"/>
            </a:xfrm>
            <a:custGeom>
              <a:avLst/>
              <a:gdLst/>
              <a:ahLst/>
              <a:cxnLst/>
              <a:rect r="r" b="b" t="t" l="l"/>
              <a:pathLst>
                <a:path h="3848986" w="24377904">
                  <a:moveTo>
                    <a:pt x="0" y="0"/>
                  </a:moveTo>
                  <a:lnTo>
                    <a:pt x="24377904" y="0"/>
                  </a:lnTo>
                  <a:lnTo>
                    <a:pt x="24377904" y="3848986"/>
                  </a:lnTo>
                  <a:lnTo>
                    <a:pt x="0" y="3848986"/>
                  </a:lnTo>
                  <a:close/>
                </a:path>
              </a:pathLst>
            </a:custGeom>
            <a:solidFill>
              <a:srgbClr val="1F497D"/>
            </a:solidFill>
            <a:ln w="12700">
              <a:solidFill>
                <a:srgbClr val="000000"/>
              </a:solidFill>
            </a:ln>
          </p:spPr>
        </p:sp>
      </p:grpSp>
      <p:sp>
        <p:nvSpPr>
          <p:cNvPr name="TextBox 4" id="4"/>
          <p:cNvSpPr txBox="true"/>
          <p:nvPr/>
        </p:nvSpPr>
        <p:spPr>
          <a:xfrm rot="0">
            <a:off x="226993" y="2882994"/>
            <a:ext cx="11408944" cy="4493236"/>
          </a:xfrm>
          <a:prstGeom prst="rect">
            <a:avLst/>
          </a:prstGeom>
        </p:spPr>
        <p:txBody>
          <a:bodyPr anchor="t" rtlCol="false" tIns="0" lIns="0" bIns="0" rIns="0">
            <a:spAutoFit/>
          </a:bodyPr>
          <a:lstStyle/>
          <a:p>
            <a:pPr algn="l">
              <a:lnSpc>
                <a:spcPts val="4261"/>
              </a:lnSpc>
            </a:pPr>
            <a:r>
              <a:rPr lang="en-US" sz="3599" b="true">
                <a:solidFill>
                  <a:srgbClr val="000000"/>
                </a:solidFill>
                <a:latin typeface="Arial Bold"/>
                <a:ea typeface="Arial Bold"/>
                <a:cs typeface="Arial Bold"/>
                <a:sym typeface="Arial Bold"/>
              </a:rPr>
              <a:t>End-to-End ETL Pipeline:</a:t>
            </a:r>
          </a:p>
          <a:p>
            <a:pPr algn="l">
              <a:lnSpc>
                <a:spcPts val="4218"/>
              </a:lnSpc>
            </a:pPr>
          </a:p>
          <a:p>
            <a:pPr algn="l" marL="747142" indent="-249047" lvl="2">
              <a:lnSpc>
                <a:spcPts val="3869"/>
              </a:lnSpc>
              <a:buFont typeface="Arial"/>
              <a:buChar char="⚬"/>
            </a:pPr>
            <a:r>
              <a:rPr lang="en-US" sz="3268">
                <a:solidFill>
                  <a:srgbClr val="000000"/>
                </a:solidFill>
                <a:latin typeface="Arial"/>
                <a:ea typeface="Arial"/>
                <a:cs typeface="Arial"/>
                <a:sym typeface="Arial"/>
              </a:rPr>
              <a:t>O</a:t>
            </a:r>
            <a:r>
              <a:rPr lang="en-US" sz="3268">
                <a:solidFill>
                  <a:srgbClr val="000000"/>
                </a:solidFill>
                <a:latin typeface="Arial"/>
                <a:ea typeface="Arial"/>
                <a:cs typeface="Arial"/>
                <a:sym typeface="Arial"/>
              </a:rPr>
              <a:t>rchestration: Hourly DataBricks jobs via Unity Catalog; enables scalable ETL from real-time EventHub inputs to actionable insights.</a:t>
            </a:r>
          </a:p>
          <a:p>
            <a:pPr algn="l" marL="747066" indent="-249022" lvl="2">
              <a:lnSpc>
                <a:spcPts val="3869"/>
              </a:lnSpc>
              <a:buFont typeface="Arial"/>
              <a:buChar char="⚬"/>
            </a:pPr>
            <a:r>
              <a:rPr lang="en-US" sz="3268">
                <a:solidFill>
                  <a:srgbClr val="000000"/>
                </a:solidFill>
                <a:latin typeface="Arial"/>
                <a:ea typeface="Arial"/>
                <a:cs typeface="Arial"/>
                <a:sym typeface="Arial"/>
              </a:rPr>
              <a:t>End-to-End Value: Supports Genie AI for anomaly detection; full traceability from raw events to executive reports.</a:t>
            </a:r>
          </a:p>
          <a:p>
            <a:pPr algn="l" marL="747142" indent="-249047" lvl="2">
              <a:lnSpc>
                <a:spcPts val="3869"/>
              </a:lnSpc>
            </a:pPr>
          </a:p>
        </p:txBody>
      </p:sp>
      <p:sp>
        <p:nvSpPr>
          <p:cNvPr name="Freeform 5" id="5"/>
          <p:cNvSpPr/>
          <p:nvPr/>
        </p:nvSpPr>
        <p:spPr>
          <a:xfrm flipH="false" flipV="false" rot="0">
            <a:off x="811699" y="7367516"/>
            <a:ext cx="16963855" cy="2374940"/>
          </a:xfrm>
          <a:custGeom>
            <a:avLst/>
            <a:gdLst/>
            <a:ahLst/>
            <a:cxnLst/>
            <a:rect r="r" b="b" t="t" l="l"/>
            <a:pathLst>
              <a:path h="2374940" w="16963855">
                <a:moveTo>
                  <a:pt x="0" y="0"/>
                </a:moveTo>
                <a:lnTo>
                  <a:pt x="16963855" y="0"/>
                </a:lnTo>
                <a:lnTo>
                  <a:pt x="16963855" y="2374940"/>
                </a:lnTo>
                <a:lnTo>
                  <a:pt x="0" y="2374940"/>
                </a:lnTo>
                <a:lnTo>
                  <a:pt x="0" y="0"/>
                </a:lnTo>
                <a:close/>
              </a:path>
            </a:pathLst>
          </a:custGeom>
          <a:blipFill>
            <a:blip r:embed="rId2"/>
            <a:stretch>
              <a:fillRect l="0" t="0" r="0" b="0"/>
            </a:stretch>
          </a:blipFill>
        </p:spPr>
      </p:sp>
      <p:sp>
        <p:nvSpPr>
          <p:cNvPr name="Freeform 6" id="6"/>
          <p:cNvSpPr/>
          <p:nvPr/>
        </p:nvSpPr>
        <p:spPr>
          <a:xfrm flipH="false" flipV="false" rot="0">
            <a:off x="11793131" y="4830966"/>
            <a:ext cx="6494869" cy="2385284"/>
          </a:xfrm>
          <a:custGeom>
            <a:avLst/>
            <a:gdLst/>
            <a:ahLst/>
            <a:cxnLst/>
            <a:rect r="r" b="b" t="t" l="l"/>
            <a:pathLst>
              <a:path h="2385284" w="6494869">
                <a:moveTo>
                  <a:pt x="0" y="0"/>
                </a:moveTo>
                <a:lnTo>
                  <a:pt x="6494869" y="0"/>
                </a:lnTo>
                <a:lnTo>
                  <a:pt x="6494869" y="2385283"/>
                </a:lnTo>
                <a:lnTo>
                  <a:pt x="0" y="2385283"/>
                </a:lnTo>
                <a:lnTo>
                  <a:pt x="0" y="0"/>
                </a:lnTo>
                <a:close/>
              </a:path>
            </a:pathLst>
          </a:custGeom>
          <a:blipFill>
            <a:blip r:embed="rId3"/>
            <a:stretch>
              <a:fillRect l="0" t="0" r="0" b="0"/>
            </a:stretch>
          </a:blipFill>
        </p:spPr>
      </p:sp>
      <p:sp>
        <p:nvSpPr>
          <p:cNvPr name="TextBox 7" id="7"/>
          <p:cNvSpPr txBox="true"/>
          <p:nvPr/>
        </p:nvSpPr>
        <p:spPr>
          <a:xfrm rot="0">
            <a:off x="3203815" y="485775"/>
            <a:ext cx="14703185" cy="1287122"/>
          </a:xfrm>
          <a:prstGeom prst="rect">
            <a:avLst/>
          </a:prstGeom>
        </p:spPr>
        <p:txBody>
          <a:bodyPr anchor="t" rtlCol="false" tIns="0" lIns="0" bIns="0" rIns="0">
            <a:spAutoFit/>
          </a:bodyPr>
          <a:lstStyle/>
          <a:p>
            <a:pPr algn="l">
              <a:lnSpc>
                <a:spcPts val="9378"/>
              </a:lnSpc>
            </a:pPr>
            <a:r>
              <a:rPr lang="en-US" sz="6699" b="true">
                <a:solidFill>
                  <a:srgbClr val="FFFFFF"/>
                </a:solidFill>
                <a:latin typeface="Calibri (MS) Bold"/>
                <a:ea typeface="Calibri (MS) Bold"/>
                <a:cs typeface="Calibri (MS) Bold"/>
                <a:sym typeface="Calibri (MS) Bold"/>
              </a:rPr>
              <a:t>Automated Databricks Pipeline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 y="-524204"/>
            <a:ext cx="18283431" cy="2864797"/>
            <a:chOff x="0" y="0"/>
            <a:chExt cx="24377908" cy="3819730"/>
          </a:xfrm>
        </p:grpSpPr>
        <p:sp>
          <p:nvSpPr>
            <p:cNvPr name="Freeform 3" id="3"/>
            <p:cNvSpPr/>
            <p:nvPr/>
          </p:nvSpPr>
          <p:spPr>
            <a:xfrm flipH="false" flipV="false" rot="0">
              <a:off x="0" y="0"/>
              <a:ext cx="24377904" cy="3819776"/>
            </a:xfrm>
            <a:custGeom>
              <a:avLst/>
              <a:gdLst/>
              <a:ahLst/>
              <a:cxnLst/>
              <a:rect r="r" b="b" t="t" l="l"/>
              <a:pathLst>
                <a:path h="3819776" w="24377904">
                  <a:moveTo>
                    <a:pt x="0" y="0"/>
                  </a:moveTo>
                  <a:lnTo>
                    <a:pt x="24377904" y="0"/>
                  </a:lnTo>
                  <a:lnTo>
                    <a:pt x="24377904" y="3819776"/>
                  </a:lnTo>
                  <a:lnTo>
                    <a:pt x="0" y="3819776"/>
                  </a:lnTo>
                  <a:close/>
                </a:path>
              </a:pathLst>
            </a:custGeom>
            <a:solidFill>
              <a:srgbClr val="1F497D"/>
            </a:solidFill>
            <a:ln w="12700">
              <a:solidFill>
                <a:srgbClr val="000000"/>
              </a:solidFill>
            </a:ln>
          </p:spPr>
        </p:sp>
      </p:grpSp>
      <p:sp>
        <p:nvSpPr>
          <p:cNvPr name="Freeform 4" id="4"/>
          <p:cNvSpPr/>
          <p:nvPr/>
        </p:nvSpPr>
        <p:spPr>
          <a:xfrm flipH="false" flipV="false" rot="0">
            <a:off x="10029718" y="2340593"/>
            <a:ext cx="8417693" cy="7946407"/>
          </a:xfrm>
          <a:custGeom>
            <a:avLst/>
            <a:gdLst/>
            <a:ahLst/>
            <a:cxnLst/>
            <a:rect r="r" b="b" t="t" l="l"/>
            <a:pathLst>
              <a:path h="7946407" w="8417693">
                <a:moveTo>
                  <a:pt x="0" y="0"/>
                </a:moveTo>
                <a:lnTo>
                  <a:pt x="8417693" y="0"/>
                </a:lnTo>
                <a:lnTo>
                  <a:pt x="8417693" y="7946407"/>
                </a:lnTo>
                <a:lnTo>
                  <a:pt x="0" y="7946407"/>
                </a:lnTo>
                <a:lnTo>
                  <a:pt x="0" y="0"/>
                </a:lnTo>
                <a:close/>
              </a:path>
            </a:pathLst>
          </a:custGeom>
          <a:blipFill>
            <a:blip r:embed="rId2"/>
            <a:stretch>
              <a:fillRect l="0" t="0" r="0" b="0"/>
            </a:stretch>
          </a:blipFill>
        </p:spPr>
      </p:sp>
      <p:sp>
        <p:nvSpPr>
          <p:cNvPr name="TextBox 5" id="5"/>
          <p:cNvSpPr txBox="true"/>
          <p:nvPr/>
        </p:nvSpPr>
        <p:spPr>
          <a:xfrm rot="0">
            <a:off x="136687" y="2770531"/>
            <a:ext cx="7904653" cy="6883987"/>
          </a:xfrm>
          <a:prstGeom prst="rect">
            <a:avLst/>
          </a:prstGeom>
        </p:spPr>
        <p:txBody>
          <a:bodyPr anchor="t" rtlCol="false" tIns="0" lIns="0" bIns="0" rIns="0">
            <a:spAutoFit/>
          </a:bodyPr>
          <a:lstStyle/>
          <a:p>
            <a:pPr algn="l">
              <a:lnSpc>
                <a:spcPts val="4505"/>
              </a:lnSpc>
            </a:pPr>
            <a:r>
              <a:rPr lang="en-US" sz="3804">
                <a:solidFill>
                  <a:srgbClr val="000000"/>
                </a:solidFill>
                <a:latin typeface="Arial"/>
                <a:ea typeface="Arial"/>
                <a:cs typeface="Arial"/>
                <a:sym typeface="Arial"/>
              </a:rPr>
              <a:t>We dev</a:t>
            </a:r>
            <a:r>
              <a:rPr lang="en-US" sz="3804">
                <a:solidFill>
                  <a:srgbClr val="000000"/>
                </a:solidFill>
                <a:latin typeface="Arial"/>
                <a:ea typeface="Arial"/>
                <a:cs typeface="Arial"/>
                <a:sym typeface="Arial"/>
              </a:rPr>
              <a:t>eloped a GenAI-pow</a:t>
            </a:r>
            <a:r>
              <a:rPr lang="en-US" sz="3804">
                <a:solidFill>
                  <a:srgbClr val="000000"/>
                </a:solidFill>
                <a:latin typeface="Arial"/>
                <a:ea typeface="Arial"/>
                <a:cs typeface="Arial"/>
                <a:sym typeface="Arial"/>
              </a:rPr>
              <a:t>ered chatbot inside Databricks that understands our Smart City data arch</a:t>
            </a:r>
            <a:r>
              <a:rPr lang="en-US" sz="3804">
                <a:solidFill>
                  <a:srgbClr val="000000"/>
                </a:solidFill>
                <a:latin typeface="Arial"/>
                <a:ea typeface="Arial"/>
                <a:cs typeface="Arial"/>
                <a:sym typeface="Arial"/>
              </a:rPr>
              <a:t>itecture</a:t>
            </a:r>
            <a:r>
              <a:rPr lang="en-US" sz="3804">
                <a:solidFill>
                  <a:srgbClr val="000000"/>
                </a:solidFill>
                <a:latin typeface="Arial"/>
                <a:ea typeface="Arial"/>
                <a:cs typeface="Arial"/>
                <a:sym typeface="Arial"/>
              </a:rPr>
              <a:t> and generates real SQL queries on demand.</a:t>
            </a:r>
          </a:p>
          <a:p>
            <a:pPr algn="l">
              <a:lnSpc>
                <a:spcPts val="4505"/>
              </a:lnSpc>
            </a:pPr>
          </a:p>
          <a:p>
            <a:pPr algn="l">
              <a:lnSpc>
                <a:spcPts val="4506"/>
              </a:lnSpc>
            </a:pPr>
            <a:r>
              <a:rPr lang="en-US" sz="3804">
                <a:solidFill>
                  <a:srgbClr val="000000"/>
                </a:solidFill>
                <a:latin typeface="Arial"/>
                <a:ea typeface="Arial"/>
                <a:cs typeface="Arial"/>
                <a:sym typeface="Arial"/>
              </a:rPr>
              <a:t>It assists with transforming data, creating new KPI tables, and explaining traffic &amp; air-quality metrics at city and hourly levels  all while following strict project rules and schemas.</a:t>
            </a:r>
          </a:p>
        </p:txBody>
      </p:sp>
      <p:sp>
        <p:nvSpPr>
          <p:cNvPr name="TextBox 6" id="6"/>
          <p:cNvSpPr txBox="true"/>
          <p:nvPr/>
        </p:nvSpPr>
        <p:spPr>
          <a:xfrm rot="0">
            <a:off x="3297281" y="495300"/>
            <a:ext cx="14703185" cy="1504315"/>
          </a:xfrm>
          <a:prstGeom prst="rect">
            <a:avLst/>
          </a:prstGeom>
        </p:spPr>
        <p:txBody>
          <a:bodyPr anchor="t" rtlCol="false" tIns="0" lIns="0" bIns="0" rIns="0">
            <a:spAutoFit/>
          </a:bodyPr>
          <a:lstStyle/>
          <a:p>
            <a:pPr algn="l">
              <a:lnSpc>
                <a:spcPts val="8958"/>
              </a:lnSpc>
            </a:pPr>
            <a:r>
              <a:rPr lang="en-US" sz="6398" b="true">
                <a:solidFill>
                  <a:srgbClr val="FFFFFF"/>
                </a:solidFill>
                <a:latin typeface="Calibri (MS) Bold"/>
                <a:ea typeface="Calibri (MS) Bold"/>
                <a:cs typeface="Calibri (MS) Bold"/>
                <a:sym typeface="Calibri (MS) Bold"/>
              </a:rPr>
              <a:t>GenAI-Powered Data Assistant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82" y="-524204"/>
            <a:ext cx="18283431" cy="2864797"/>
            <a:chOff x="0" y="0"/>
            <a:chExt cx="24377908" cy="3819730"/>
          </a:xfrm>
        </p:grpSpPr>
        <p:sp>
          <p:nvSpPr>
            <p:cNvPr name="Freeform 3" id="3"/>
            <p:cNvSpPr/>
            <p:nvPr/>
          </p:nvSpPr>
          <p:spPr>
            <a:xfrm flipH="false" flipV="false" rot="0">
              <a:off x="0" y="0"/>
              <a:ext cx="24377904" cy="3819776"/>
            </a:xfrm>
            <a:custGeom>
              <a:avLst/>
              <a:gdLst/>
              <a:ahLst/>
              <a:cxnLst/>
              <a:rect r="r" b="b" t="t" l="l"/>
              <a:pathLst>
                <a:path h="3819776" w="24377904">
                  <a:moveTo>
                    <a:pt x="0" y="0"/>
                  </a:moveTo>
                  <a:lnTo>
                    <a:pt x="24377904" y="0"/>
                  </a:lnTo>
                  <a:lnTo>
                    <a:pt x="24377904" y="3819776"/>
                  </a:lnTo>
                  <a:lnTo>
                    <a:pt x="0" y="3819776"/>
                  </a:lnTo>
                  <a:close/>
                </a:path>
              </a:pathLst>
            </a:custGeom>
            <a:solidFill>
              <a:srgbClr val="1F497D"/>
            </a:solidFill>
            <a:ln w="12700">
              <a:solidFill>
                <a:srgbClr val="000000"/>
              </a:solidFill>
            </a:ln>
          </p:spPr>
        </p:sp>
      </p:grpSp>
      <p:sp>
        <p:nvSpPr>
          <p:cNvPr name="Freeform 4" id="4"/>
          <p:cNvSpPr/>
          <p:nvPr/>
        </p:nvSpPr>
        <p:spPr>
          <a:xfrm flipH="false" flipV="false" rot="0">
            <a:off x="1464404" y="2340593"/>
            <a:ext cx="15359192" cy="3417420"/>
          </a:xfrm>
          <a:custGeom>
            <a:avLst/>
            <a:gdLst/>
            <a:ahLst/>
            <a:cxnLst/>
            <a:rect r="r" b="b" t="t" l="l"/>
            <a:pathLst>
              <a:path h="3417420" w="15359192">
                <a:moveTo>
                  <a:pt x="0" y="0"/>
                </a:moveTo>
                <a:lnTo>
                  <a:pt x="15359192" y="0"/>
                </a:lnTo>
                <a:lnTo>
                  <a:pt x="15359192" y="3417421"/>
                </a:lnTo>
                <a:lnTo>
                  <a:pt x="0" y="3417421"/>
                </a:lnTo>
                <a:lnTo>
                  <a:pt x="0" y="0"/>
                </a:lnTo>
                <a:close/>
              </a:path>
            </a:pathLst>
          </a:custGeom>
          <a:blipFill>
            <a:blip r:embed="rId2"/>
            <a:stretch>
              <a:fillRect l="0" t="0" r="0" b="0"/>
            </a:stretch>
          </a:blipFill>
        </p:spPr>
      </p:sp>
      <p:sp>
        <p:nvSpPr>
          <p:cNvPr name="Freeform 5" id="5"/>
          <p:cNvSpPr/>
          <p:nvPr/>
        </p:nvSpPr>
        <p:spPr>
          <a:xfrm flipH="false" flipV="false" rot="0">
            <a:off x="1560129" y="5462030"/>
            <a:ext cx="15172337" cy="6125831"/>
          </a:xfrm>
          <a:custGeom>
            <a:avLst/>
            <a:gdLst/>
            <a:ahLst/>
            <a:cxnLst/>
            <a:rect r="r" b="b" t="t" l="l"/>
            <a:pathLst>
              <a:path h="6125831" w="15172337">
                <a:moveTo>
                  <a:pt x="0" y="0"/>
                </a:moveTo>
                <a:lnTo>
                  <a:pt x="15172337" y="0"/>
                </a:lnTo>
                <a:lnTo>
                  <a:pt x="15172337" y="6125832"/>
                </a:lnTo>
                <a:lnTo>
                  <a:pt x="0" y="6125832"/>
                </a:lnTo>
                <a:lnTo>
                  <a:pt x="0" y="0"/>
                </a:lnTo>
                <a:close/>
              </a:path>
            </a:pathLst>
          </a:custGeom>
          <a:blipFill>
            <a:blip r:embed="rId3"/>
            <a:stretch>
              <a:fillRect l="0" t="0" r="0" b="0"/>
            </a:stretch>
          </a:blipFill>
        </p:spPr>
      </p:sp>
      <p:sp>
        <p:nvSpPr>
          <p:cNvPr name="TextBox 6" id="6"/>
          <p:cNvSpPr txBox="true"/>
          <p:nvPr/>
        </p:nvSpPr>
        <p:spPr>
          <a:xfrm rot="0">
            <a:off x="3297281" y="495300"/>
            <a:ext cx="14703185" cy="1504315"/>
          </a:xfrm>
          <a:prstGeom prst="rect">
            <a:avLst/>
          </a:prstGeom>
        </p:spPr>
        <p:txBody>
          <a:bodyPr anchor="t" rtlCol="false" tIns="0" lIns="0" bIns="0" rIns="0">
            <a:spAutoFit/>
          </a:bodyPr>
          <a:lstStyle/>
          <a:p>
            <a:pPr algn="l">
              <a:lnSpc>
                <a:spcPts val="8958"/>
              </a:lnSpc>
            </a:pPr>
            <a:r>
              <a:rPr lang="en-US" sz="6398" b="true">
                <a:solidFill>
                  <a:srgbClr val="FFFFFF"/>
                </a:solidFill>
                <a:latin typeface="Calibri (MS) Bold"/>
                <a:ea typeface="Calibri (MS) Bold"/>
                <a:cs typeface="Calibri (MS) Bold"/>
                <a:sym typeface="Calibri (MS) Bold"/>
              </a:rPr>
              <a:t>GenAI-Powered Data Assistant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0"/>
            <a:ext cx="16558551" cy="10287000"/>
          </a:xfrm>
          <a:custGeom>
            <a:avLst/>
            <a:gdLst/>
            <a:ahLst/>
            <a:cxnLst/>
            <a:rect r="r" b="b" t="t" l="l"/>
            <a:pathLst>
              <a:path h="10287000" w="16558551">
                <a:moveTo>
                  <a:pt x="0" y="0"/>
                </a:moveTo>
                <a:lnTo>
                  <a:pt x="16558551" y="0"/>
                </a:lnTo>
                <a:lnTo>
                  <a:pt x="16558551" y="10287000"/>
                </a:lnTo>
                <a:lnTo>
                  <a:pt x="0" y="10287000"/>
                </a:lnTo>
                <a:lnTo>
                  <a:pt x="0" y="0"/>
                </a:lnTo>
                <a:close/>
              </a:path>
            </a:pathLst>
          </a:custGeom>
          <a:blipFill>
            <a:blip r:embed="rId2"/>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p:cSld>
    <p:bg>
      <p:bgPr>
        <a:solidFill>
          <a:srgbClr val="1F497D"/>
        </a:solidFill>
      </p:bgPr>
    </p:bg>
    <p:spTree>
      <p:nvGrpSpPr>
        <p:cNvPr id="1" name=""/>
        <p:cNvGrpSpPr/>
        <p:nvPr/>
      </p:nvGrpSpPr>
      <p:grpSpPr>
        <a:xfrm>
          <a:off x="0" y="0"/>
          <a:ext cx="0" cy="0"/>
          <a:chOff x="0" y="0"/>
          <a:chExt cx="0" cy="0"/>
        </a:xfrm>
      </p:grpSpPr>
      <p:grpSp>
        <p:nvGrpSpPr>
          <p:cNvPr name="Group 2" id="2"/>
          <p:cNvGrpSpPr/>
          <p:nvPr/>
        </p:nvGrpSpPr>
        <p:grpSpPr>
          <a:xfrm rot="0">
            <a:off x="1773645" y="3574021"/>
            <a:ext cx="9144670" cy="3138959"/>
            <a:chOff x="0" y="0"/>
            <a:chExt cx="11096493" cy="3808933"/>
          </a:xfrm>
        </p:grpSpPr>
        <p:sp>
          <p:nvSpPr>
            <p:cNvPr name="Freeform 3" id="3"/>
            <p:cNvSpPr/>
            <p:nvPr/>
          </p:nvSpPr>
          <p:spPr>
            <a:xfrm flipH="false" flipV="false" rot="0">
              <a:off x="0" y="0"/>
              <a:ext cx="11096493" cy="3808933"/>
            </a:xfrm>
            <a:custGeom>
              <a:avLst/>
              <a:gdLst/>
              <a:ahLst/>
              <a:cxnLst/>
              <a:rect r="r" b="b" t="t" l="l"/>
              <a:pathLst>
                <a:path h="3808933" w="11096493">
                  <a:moveTo>
                    <a:pt x="0" y="0"/>
                  </a:moveTo>
                  <a:lnTo>
                    <a:pt x="11096493" y="0"/>
                  </a:lnTo>
                  <a:lnTo>
                    <a:pt x="11096493" y="3808933"/>
                  </a:lnTo>
                  <a:lnTo>
                    <a:pt x="0" y="3808933"/>
                  </a:lnTo>
                  <a:close/>
                </a:path>
              </a:pathLst>
            </a:custGeom>
            <a:solidFill>
              <a:srgbClr val="000000">
                <a:alpha val="0"/>
              </a:srgbClr>
            </a:solidFill>
          </p:spPr>
        </p:sp>
        <p:sp>
          <p:nvSpPr>
            <p:cNvPr name="TextBox 4" id="4"/>
            <p:cNvSpPr txBox="true"/>
            <p:nvPr/>
          </p:nvSpPr>
          <p:spPr>
            <a:xfrm>
              <a:off x="0" y="-171450"/>
              <a:ext cx="11096493" cy="3980383"/>
            </a:xfrm>
            <a:prstGeom prst="rect">
              <a:avLst/>
            </a:prstGeom>
          </p:spPr>
          <p:txBody>
            <a:bodyPr anchor="ctr" rtlCol="false" tIns="0" lIns="0" bIns="0" rIns="0"/>
            <a:lstStyle/>
            <a:p>
              <a:pPr algn="ctr">
                <a:lnSpc>
                  <a:spcPts val="9718"/>
                </a:lnSpc>
              </a:pPr>
              <a:r>
                <a:rPr lang="en-US" sz="8098" b="true">
                  <a:solidFill>
                    <a:srgbClr val="FFFFFF"/>
                  </a:solidFill>
                  <a:latin typeface="Calibri (MS) Bold"/>
                  <a:ea typeface="Calibri (MS) Bold"/>
                  <a:cs typeface="Calibri (MS) Bold"/>
                  <a:sym typeface="Calibri (MS) Bold"/>
                </a:rPr>
                <a:t>Results and Insights</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960" y="0"/>
            <a:ext cx="18437960" cy="10417448"/>
          </a:xfrm>
          <a:custGeom>
            <a:avLst/>
            <a:gdLst/>
            <a:ahLst/>
            <a:cxnLst/>
            <a:rect r="r" b="b" t="t" l="l"/>
            <a:pathLst>
              <a:path h="10417448" w="18437960">
                <a:moveTo>
                  <a:pt x="0" y="0"/>
                </a:moveTo>
                <a:lnTo>
                  <a:pt x="18437960" y="0"/>
                </a:lnTo>
                <a:lnTo>
                  <a:pt x="18437960" y="10417448"/>
                </a:lnTo>
                <a:lnTo>
                  <a:pt x="0" y="10417448"/>
                </a:lnTo>
                <a:lnTo>
                  <a:pt x="0" y="0"/>
                </a:lnTo>
                <a:close/>
              </a:path>
            </a:pathLst>
          </a:custGeom>
          <a:blipFill>
            <a:blip r:embed="rId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455281" cy="10358027"/>
          </a:xfrm>
          <a:custGeom>
            <a:avLst/>
            <a:gdLst/>
            <a:ahLst/>
            <a:cxnLst/>
            <a:rect r="r" b="b" t="t" l="l"/>
            <a:pathLst>
              <a:path h="10358027" w="18455281">
                <a:moveTo>
                  <a:pt x="0" y="0"/>
                </a:moveTo>
                <a:lnTo>
                  <a:pt x="18455281" y="0"/>
                </a:lnTo>
                <a:lnTo>
                  <a:pt x="18455281" y="10358027"/>
                </a:lnTo>
                <a:lnTo>
                  <a:pt x="0" y="10358027"/>
                </a:lnTo>
                <a:lnTo>
                  <a:pt x="0" y="0"/>
                </a:lnTo>
                <a:close/>
              </a:path>
            </a:pathLst>
          </a:custGeom>
          <a:blipFill>
            <a:blip r:embed="rId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524204"/>
            <a:ext cx="18283431" cy="2709718"/>
            <a:chOff x="0" y="0"/>
            <a:chExt cx="24377908" cy="3612958"/>
          </a:xfrm>
        </p:grpSpPr>
        <p:sp>
          <p:nvSpPr>
            <p:cNvPr name="Freeform 3" id="3"/>
            <p:cNvSpPr/>
            <p:nvPr/>
          </p:nvSpPr>
          <p:spPr>
            <a:xfrm flipH="false" flipV="false" rot="0">
              <a:off x="0" y="0"/>
              <a:ext cx="24377904" cy="3613004"/>
            </a:xfrm>
            <a:custGeom>
              <a:avLst/>
              <a:gdLst/>
              <a:ahLst/>
              <a:cxnLst/>
              <a:rect r="r" b="b" t="t" l="l"/>
              <a:pathLst>
                <a:path h="3613004" w="24377904">
                  <a:moveTo>
                    <a:pt x="0" y="0"/>
                  </a:moveTo>
                  <a:lnTo>
                    <a:pt x="24377904" y="0"/>
                  </a:lnTo>
                  <a:lnTo>
                    <a:pt x="24377904" y="3613004"/>
                  </a:lnTo>
                  <a:lnTo>
                    <a:pt x="0" y="3613004"/>
                  </a:lnTo>
                  <a:close/>
                </a:path>
              </a:pathLst>
            </a:custGeom>
            <a:solidFill>
              <a:srgbClr val="1F497D"/>
            </a:solidFill>
            <a:ln w="12700">
              <a:solidFill>
                <a:srgbClr val="000000"/>
              </a:solidFill>
            </a:ln>
          </p:spPr>
        </p:sp>
      </p:grpSp>
      <p:sp>
        <p:nvSpPr>
          <p:cNvPr name="TextBox 4" id="4"/>
          <p:cNvSpPr txBox="true"/>
          <p:nvPr/>
        </p:nvSpPr>
        <p:spPr>
          <a:xfrm rot="0">
            <a:off x="2894832" y="495300"/>
            <a:ext cx="16961308" cy="1237590"/>
          </a:xfrm>
          <a:prstGeom prst="rect">
            <a:avLst/>
          </a:prstGeom>
        </p:spPr>
        <p:txBody>
          <a:bodyPr anchor="t" rtlCol="false" tIns="0" lIns="0" bIns="0" rIns="0">
            <a:spAutoFit/>
          </a:bodyPr>
          <a:lstStyle/>
          <a:p>
            <a:pPr algn="l">
              <a:lnSpc>
                <a:spcPts val="8958"/>
              </a:lnSpc>
            </a:pPr>
            <a:r>
              <a:rPr lang="en-US" sz="6398" b="true">
                <a:solidFill>
                  <a:srgbClr val="FFFFFF"/>
                </a:solidFill>
                <a:latin typeface="Calibri (MS) Bold"/>
                <a:ea typeface="Calibri (MS) Bold"/>
                <a:cs typeface="Calibri (MS) Bold"/>
                <a:sym typeface="Calibri (MS) Bold"/>
              </a:rPr>
              <a:t>Why This Solution Stand Out?</a:t>
            </a:r>
          </a:p>
        </p:txBody>
      </p:sp>
      <p:sp>
        <p:nvSpPr>
          <p:cNvPr name="TextBox 5" id="5"/>
          <p:cNvSpPr txBox="true"/>
          <p:nvPr/>
        </p:nvSpPr>
        <p:spPr>
          <a:xfrm rot="0">
            <a:off x="420331" y="2756378"/>
            <a:ext cx="17867669" cy="6629845"/>
          </a:xfrm>
          <a:prstGeom prst="rect">
            <a:avLst/>
          </a:prstGeom>
        </p:spPr>
        <p:txBody>
          <a:bodyPr anchor="t" rtlCol="false" tIns="0" lIns="0" bIns="0" rIns="0">
            <a:spAutoFit/>
          </a:bodyPr>
          <a:lstStyle/>
          <a:p>
            <a:pPr algn="l">
              <a:lnSpc>
                <a:spcPts val="5221"/>
              </a:lnSpc>
            </a:pPr>
            <a:r>
              <a:rPr lang="en-US" sz="3729" b="true">
                <a:solidFill>
                  <a:srgbClr val="000000"/>
                </a:solidFill>
                <a:latin typeface="Calibri (MS) Bold"/>
                <a:ea typeface="Calibri (MS) Bold"/>
                <a:cs typeface="Calibri (MS) Bold"/>
                <a:sym typeface="Calibri (MS) Bold"/>
              </a:rPr>
              <a:t>Hybrid Lambda Architecture</a:t>
            </a:r>
            <a:r>
              <a:rPr lang="en-US" sz="3729">
                <a:solidFill>
                  <a:srgbClr val="000000"/>
                </a:solidFill>
                <a:latin typeface="Calibri (MS)"/>
                <a:ea typeface="Calibri (MS)"/>
                <a:cs typeface="Calibri (MS)"/>
                <a:sym typeface="Calibri (MS)"/>
              </a:rPr>
              <a:t>: Combines critical real-time safety monitoring with deep historical analytics.</a:t>
            </a:r>
          </a:p>
          <a:p>
            <a:pPr algn="l">
              <a:lnSpc>
                <a:spcPts val="5223"/>
              </a:lnSpc>
            </a:pPr>
          </a:p>
          <a:p>
            <a:pPr algn="l">
              <a:lnSpc>
                <a:spcPts val="5221"/>
              </a:lnSpc>
            </a:pPr>
            <a:r>
              <a:rPr lang="en-US" sz="3729" b="true">
                <a:solidFill>
                  <a:srgbClr val="000000"/>
                </a:solidFill>
                <a:latin typeface="Calibri (MS) Bold"/>
                <a:ea typeface="Calibri (MS) Bold"/>
                <a:cs typeface="Calibri (MS) Bold"/>
                <a:sym typeface="Calibri (MS) Bold"/>
              </a:rPr>
              <a:t>Modern Open Table Format:</a:t>
            </a:r>
            <a:r>
              <a:rPr lang="en-US" sz="3729">
                <a:solidFill>
                  <a:srgbClr val="000000"/>
                </a:solidFill>
                <a:latin typeface="Calibri (MS)"/>
                <a:ea typeface="Calibri (MS)"/>
                <a:cs typeface="Calibri (MS)"/>
                <a:sym typeface="Calibri (MS)"/>
              </a:rPr>
              <a:t> Leverages </a:t>
            </a:r>
            <a:r>
              <a:rPr lang="en-US" sz="3729" b="true">
                <a:solidFill>
                  <a:srgbClr val="000000"/>
                </a:solidFill>
                <a:latin typeface="Calibri (MS) Bold"/>
                <a:ea typeface="Calibri (MS) Bold"/>
                <a:cs typeface="Calibri (MS) Bold"/>
                <a:sym typeface="Calibri (MS) Bold"/>
              </a:rPr>
              <a:t>Delta Lake</a:t>
            </a:r>
            <a:r>
              <a:rPr lang="en-US" sz="3729">
                <a:solidFill>
                  <a:srgbClr val="000000"/>
                </a:solidFill>
                <a:latin typeface="Calibri (MS)"/>
                <a:ea typeface="Calibri (MS)"/>
                <a:cs typeface="Calibri (MS)"/>
                <a:sym typeface="Calibri (MS)"/>
              </a:rPr>
              <a:t> to ensure data reliability and ACID transactions </a:t>
            </a:r>
          </a:p>
          <a:p>
            <a:pPr algn="l">
              <a:lnSpc>
                <a:spcPts val="5223"/>
              </a:lnSpc>
            </a:pPr>
          </a:p>
          <a:p>
            <a:pPr algn="l">
              <a:lnSpc>
                <a:spcPts val="5221"/>
              </a:lnSpc>
            </a:pPr>
            <a:r>
              <a:rPr lang="en-US" sz="3729" b="true">
                <a:solidFill>
                  <a:srgbClr val="000000"/>
                </a:solidFill>
                <a:latin typeface="Calibri (MS) Bold"/>
                <a:ea typeface="Calibri (MS) Bold"/>
                <a:cs typeface="Calibri (MS) Bold"/>
                <a:sym typeface="Calibri (MS) Bold"/>
              </a:rPr>
              <a:t>End-to-End Automation:</a:t>
            </a:r>
            <a:r>
              <a:rPr lang="en-US" sz="3729">
                <a:solidFill>
                  <a:srgbClr val="000000"/>
                </a:solidFill>
                <a:latin typeface="Calibri (MS)"/>
                <a:ea typeface="Calibri (MS)"/>
                <a:cs typeface="Calibri (MS)"/>
                <a:sym typeface="Calibri (MS)"/>
              </a:rPr>
              <a:t> Fully </a:t>
            </a:r>
            <a:r>
              <a:rPr lang="en-US" sz="3729" b="true">
                <a:solidFill>
                  <a:srgbClr val="000000"/>
                </a:solidFill>
                <a:latin typeface="Calibri (MS) Bold"/>
                <a:ea typeface="Calibri (MS) Bold"/>
                <a:cs typeface="Calibri (MS) Bold"/>
                <a:sym typeface="Calibri (MS) Bold"/>
              </a:rPr>
              <a:t>automated</a:t>
            </a:r>
            <a:r>
              <a:rPr lang="en-US" sz="3729">
                <a:solidFill>
                  <a:srgbClr val="000000"/>
                </a:solidFill>
                <a:latin typeface="Calibri (MS)"/>
                <a:ea typeface="Calibri (MS)"/>
                <a:cs typeface="Calibri (MS)"/>
                <a:sym typeface="Calibri (MS)"/>
              </a:rPr>
              <a:t> pipelines with zero-touch operations.</a:t>
            </a:r>
          </a:p>
          <a:p>
            <a:pPr algn="l">
              <a:lnSpc>
                <a:spcPts val="5223"/>
              </a:lnSpc>
            </a:pPr>
          </a:p>
          <a:p>
            <a:pPr algn="l">
              <a:lnSpc>
                <a:spcPts val="5223"/>
              </a:lnSpc>
            </a:pPr>
            <a:r>
              <a:rPr lang="en-US" sz="3729" b="true">
                <a:solidFill>
                  <a:srgbClr val="000000"/>
                </a:solidFill>
                <a:latin typeface="Calibri (MS) Bold"/>
                <a:ea typeface="Calibri (MS) Bold"/>
                <a:cs typeface="Calibri (MS) Bold"/>
                <a:sym typeface="Calibri (MS) Bold"/>
              </a:rPr>
              <a:t>CONTEXT-AWARE AI:</a:t>
            </a:r>
            <a:r>
              <a:rPr lang="en-US" sz="3729">
                <a:solidFill>
                  <a:srgbClr val="000000"/>
                </a:solidFill>
                <a:latin typeface="Calibri (MS)"/>
                <a:ea typeface="Calibri (MS)"/>
                <a:cs typeface="Calibri (MS)"/>
                <a:sym typeface="Calibri (MS)"/>
              </a:rPr>
              <a:t> GENAI AGENT DEPLOYED ON THE GOLD LAYER FOR TRUSTED, BUSINESS-READY INSIGHTS.</a:t>
            </a: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524204"/>
            <a:ext cx="18283431" cy="2769128"/>
            <a:chOff x="0" y="0"/>
            <a:chExt cx="24377908" cy="3692170"/>
          </a:xfrm>
        </p:grpSpPr>
        <p:sp>
          <p:nvSpPr>
            <p:cNvPr name="Freeform 3" id="3"/>
            <p:cNvSpPr/>
            <p:nvPr/>
          </p:nvSpPr>
          <p:spPr>
            <a:xfrm flipH="false" flipV="false" rot="0">
              <a:off x="0" y="0"/>
              <a:ext cx="24377904" cy="3692217"/>
            </a:xfrm>
            <a:custGeom>
              <a:avLst/>
              <a:gdLst/>
              <a:ahLst/>
              <a:cxnLst/>
              <a:rect r="r" b="b" t="t" l="l"/>
              <a:pathLst>
                <a:path h="3692217" w="24377904">
                  <a:moveTo>
                    <a:pt x="0" y="0"/>
                  </a:moveTo>
                  <a:lnTo>
                    <a:pt x="24377904" y="0"/>
                  </a:lnTo>
                  <a:lnTo>
                    <a:pt x="24377904" y="3692217"/>
                  </a:lnTo>
                  <a:lnTo>
                    <a:pt x="0" y="3692217"/>
                  </a:lnTo>
                  <a:close/>
                </a:path>
              </a:pathLst>
            </a:custGeom>
            <a:solidFill>
              <a:srgbClr val="1F497D"/>
            </a:solidFill>
            <a:ln w="12700">
              <a:solidFill>
                <a:srgbClr val="000000"/>
              </a:solidFill>
            </a:ln>
          </p:spPr>
        </p:sp>
      </p:grpSp>
      <p:sp>
        <p:nvSpPr>
          <p:cNvPr name="TextBox 4" id="4"/>
          <p:cNvSpPr txBox="true"/>
          <p:nvPr/>
        </p:nvSpPr>
        <p:spPr>
          <a:xfrm rot="0">
            <a:off x="2904357" y="495300"/>
            <a:ext cx="16961308" cy="1237590"/>
          </a:xfrm>
          <a:prstGeom prst="rect">
            <a:avLst/>
          </a:prstGeom>
        </p:spPr>
        <p:txBody>
          <a:bodyPr anchor="t" rtlCol="false" tIns="0" lIns="0" bIns="0" rIns="0">
            <a:spAutoFit/>
          </a:bodyPr>
          <a:lstStyle/>
          <a:p>
            <a:pPr algn="l">
              <a:lnSpc>
                <a:spcPts val="8958"/>
              </a:lnSpc>
            </a:pPr>
            <a:r>
              <a:rPr lang="en-US" sz="6398">
                <a:solidFill>
                  <a:srgbClr val="FFFFFF"/>
                </a:solidFill>
                <a:latin typeface="Calibri (MS)"/>
                <a:ea typeface="Calibri (MS)"/>
                <a:cs typeface="Calibri (MS)"/>
                <a:sym typeface="Calibri (MS)"/>
              </a:rPr>
              <a:t>Recommendations &amp; Best Practices</a:t>
            </a:r>
          </a:p>
        </p:txBody>
      </p:sp>
      <p:sp>
        <p:nvSpPr>
          <p:cNvPr name="TextBox 5" id="5"/>
          <p:cNvSpPr txBox="true"/>
          <p:nvPr/>
        </p:nvSpPr>
        <p:spPr>
          <a:xfrm rot="0">
            <a:off x="582571" y="2926856"/>
            <a:ext cx="17137326" cy="7328154"/>
          </a:xfrm>
          <a:prstGeom prst="rect">
            <a:avLst/>
          </a:prstGeom>
        </p:spPr>
        <p:txBody>
          <a:bodyPr anchor="t" rtlCol="false" tIns="0" lIns="0" bIns="0" rIns="0">
            <a:spAutoFit/>
          </a:bodyPr>
          <a:lstStyle/>
          <a:p>
            <a:pPr algn="l">
              <a:lnSpc>
                <a:spcPts val="4593"/>
              </a:lnSpc>
            </a:pPr>
            <a:r>
              <a:rPr lang="en-US" sz="3879" b="true">
                <a:solidFill>
                  <a:srgbClr val="000000"/>
                </a:solidFill>
                <a:latin typeface="Arial Bold"/>
                <a:ea typeface="Arial Bold"/>
                <a:cs typeface="Arial Bold"/>
                <a:sym typeface="Arial Bold"/>
              </a:rPr>
              <a:t>Architecture &amp; Pipeline Recommendations</a:t>
            </a:r>
          </a:p>
          <a:p>
            <a:pPr algn="l">
              <a:lnSpc>
                <a:spcPts val="4593"/>
              </a:lnSpc>
            </a:pPr>
          </a:p>
          <a:p>
            <a:pPr algn="l" marL="772714" indent="-257571" lvl="2">
              <a:lnSpc>
                <a:spcPts val="4765"/>
              </a:lnSpc>
              <a:buFont typeface="Arial"/>
              <a:buChar char="⚬"/>
            </a:pPr>
            <a:r>
              <a:rPr lang="en-US" sz="3380">
                <a:solidFill>
                  <a:srgbClr val="000000"/>
                </a:solidFill>
                <a:latin typeface="Arial"/>
                <a:ea typeface="Arial"/>
                <a:cs typeface="Arial"/>
                <a:sym typeface="Arial"/>
              </a:rPr>
              <a:t>Make Delta Lake the core of the data latform</a:t>
            </a:r>
          </a:p>
          <a:p>
            <a:pPr algn="l">
              <a:lnSpc>
                <a:spcPts val="5509"/>
              </a:lnSpc>
            </a:pPr>
            <a:r>
              <a:rPr lang="en-US" sz="3380">
                <a:solidFill>
                  <a:srgbClr val="000000"/>
                </a:solidFill>
                <a:latin typeface="Arial"/>
                <a:ea typeface="Arial"/>
                <a:cs typeface="Arial"/>
                <a:sym typeface="Arial"/>
              </a:rPr>
              <a:t>       </a:t>
            </a:r>
            <a:r>
              <a:rPr lang="en-US" sz="3380">
                <a:solidFill>
                  <a:srgbClr val="000000"/>
                </a:solidFill>
                <a:latin typeface="Arial"/>
                <a:ea typeface="Arial"/>
                <a:cs typeface="Arial"/>
                <a:sym typeface="Arial"/>
              </a:rPr>
              <a:t>ACID, Time Travel, Schema Evolution, Z-ordering for blazing-fast queries</a:t>
            </a:r>
          </a:p>
          <a:p>
            <a:pPr algn="l">
              <a:lnSpc>
                <a:spcPts val="5509"/>
              </a:lnSpc>
            </a:pPr>
          </a:p>
          <a:p>
            <a:pPr algn="l" marL="772670" indent="-257557" lvl="2">
              <a:lnSpc>
                <a:spcPts val="4765"/>
              </a:lnSpc>
              <a:buFont typeface="Arial"/>
              <a:buChar char="⚬"/>
            </a:pPr>
            <a:r>
              <a:rPr lang="en-US" sz="3380">
                <a:solidFill>
                  <a:srgbClr val="000000"/>
                </a:solidFill>
                <a:latin typeface="Arial"/>
                <a:ea typeface="Arial"/>
                <a:cs typeface="Arial"/>
                <a:sym typeface="Arial"/>
              </a:rPr>
              <a:t>Use Delta Live Tables (DLT)  as unified processing engine → Same SQL runs on streaming + batch, no code duplication</a:t>
            </a:r>
          </a:p>
          <a:p>
            <a:pPr algn="l">
              <a:lnSpc>
                <a:spcPts val="4765"/>
              </a:lnSpc>
            </a:pPr>
          </a:p>
          <a:p>
            <a:pPr algn="l" marL="772670" indent="-257557" lvl="2">
              <a:lnSpc>
                <a:spcPts val="4765"/>
              </a:lnSpc>
              <a:buFont typeface="Arial"/>
              <a:buChar char="⚬"/>
            </a:pPr>
            <a:r>
              <a:rPr lang="en-US" sz="3380">
                <a:solidFill>
                  <a:srgbClr val="000000"/>
                </a:solidFill>
                <a:latin typeface="Arial"/>
                <a:ea typeface="Arial"/>
                <a:cs typeface="Arial"/>
                <a:sym typeface="Arial"/>
              </a:rPr>
              <a:t>Predictive AI Layer: Build on Gold KPIs with ML models like LSTM (congestion forecasting), Prophet (AQI seasonality), or AutoML (emission predictions) integrate via Genie for proactive alerts.</a:t>
            </a:r>
          </a:p>
          <a:p>
            <a:pPr algn="l" marL="887018" indent="-295673" lvl="2">
              <a:lnSpc>
                <a:spcPts val="4214"/>
              </a:lnSpc>
            </a:pP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1F497D"/>
        </a:solidFill>
      </p:bgPr>
    </p:bg>
    <p:spTree>
      <p:nvGrpSpPr>
        <p:cNvPr id="1" name=""/>
        <p:cNvGrpSpPr/>
        <p:nvPr/>
      </p:nvGrpSpPr>
      <p:grpSpPr>
        <a:xfrm>
          <a:off x="0" y="0"/>
          <a:ext cx="0" cy="0"/>
          <a:chOff x="0" y="0"/>
          <a:chExt cx="0" cy="0"/>
        </a:xfrm>
      </p:grpSpPr>
      <p:sp>
        <p:nvSpPr>
          <p:cNvPr name="TextBox 2" id="2"/>
          <p:cNvSpPr txBox="true"/>
          <p:nvPr/>
        </p:nvSpPr>
        <p:spPr>
          <a:xfrm rot="0">
            <a:off x="2720519" y="1816735"/>
            <a:ext cx="3791149" cy="1143000"/>
          </a:xfrm>
          <a:prstGeom prst="rect">
            <a:avLst/>
          </a:prstGeom>
        </p:spPr>
        <p:txBody>
          <a:bodyPr anchor="t" rtlCol="false" tIns="0" lIns="0" bIns="0" rIns="0">
            <a:spAutoFit/>
          </a:bodyPr>
          <a:lstStyle/>
          <a:p>
            <a:pPr algn="l">
              <a:lnSpc>
                <a:spcPts val="7920"/>
              </a:lnSpc>
            </a:pPr>
            <a:r>
              <a:rPr lang="en-US" sz="6600" b="true">
                <a:solidFill>
                  <a:srgbClr val="FFFFFF"/>
                </a:solidFill>
                <a:latin typeface="Calibri (MS) Bold"/>
                <a:ea typeface="Calibri (MS) Bold"/>
                <a:cs typeface="Calibri (MS) Bold"/>
                <a:sym typeface="Calibri (MS) Bold"/>
              </a:rPr>
              <a:t>Conclusion</a:t>
            </a:r>
          </a:p>
        </p:txBody>
      </p:sp>
      <p:grpSp>
        <p:nvGrpSpPr>
          <p:cNvPr name="Group 3" id="3"/>
          <p:cNvGrpSpPr/>
          <p:nvPr/>
        </p:nvGrpSpPr>
        <p:grpSpPr>
          <a:xfrm rot="0">
            <a:off x="2706232" y="3715117"/>
            <a:ext cx="28575" cy="3878195"/>
            <a:chOff x="0" y="0"/>
            <a:chExt cx="38100" cy="5170927"/>
          </a:xfrm>
        </p:grpSpPr>
        <p:sp>
          <p:nvSpPr>
            <p:cNvPr name="Freeform 4" id="4"/>
            <p:cNvSpPr/>
            <p:nvPr/>
          </p:nvSpPr>
          <p:spPr>
            <a:xfrm flipH="false" flipV="false" rot="0">
              <a:off x="0" y="0"/>
              <a:ext cx="38100" cy="5170932"/>
            </a:xfrm>
            <a:custGeom>
              <a:avLst/>
              <a:gdLst/>
              <a:ahLst/>
              <a:cxnLst/>
              <a:rect r="r" b="b" t="t" l="l"/>
              <a:pathLst>
                <a:path h="5170932" w="38100">
                  <a:moveTo>
                    <a:pt x="38100" y="19050"/>
                  </a:moveTo>
                  <a:lnTo>
                    <a:pt x="38100" y="5151882"/>
                  </a:lnTo>
                  <a:cubicBezTo>
                    <a:pt x="38100" y="5162423"/>
                    <a:pt x="29591" y="5170932"/>
                    <a:pt x="19050" y="5170932"/>
                  </a:cubicBezTo>
                  <a:cubicBezTo>
                    <a:pt x="8509" y="5170932"/>
                    <a:pt x="0" y="5162423"/>
                    <a:pt x="0" y="5151882"/>
                  </a:cubicBezTo>
                  <a:lnTo>
                    <a:pt x="0" y="19050"/>
                  </a:lnTo>
                  <a:cubicBezTo>
                    <a:pt x="0" y="8509"/>
                    <a:pt x="8509" y="0"/>
                    <a:pt x="19050" y="0"/>
                  </a:cubicBezTo>
                  <a:cubicBezTo>
                    <a:pt x="29591" y="0"/>
                    <a:pt x="38100" y="8509"/>
                    <a:pt x="38100" y="19050"/>
                  </a:cubicBezTo>
                  <a:close/>
                </a:path>
              </a:pathLst>
            </a:custGeom>
            <a:solidFill>
              <a:srgbClr val="FFFFFF"/>
            </a:solidFill>
            <a:ln w="12700">
              <a:solidFill>
                <a:srgbClr val="000000"/>
              </a:solidFill>
            </a:ln>
          </p:spPr>
        </p:sp>
      </p:grpSp>
      <p:sp>
        <p:nvSpPr>
          <p:cNvPr name="TextBox 5" id="5"/>
          <p:cNvSpPr txBox="true"/>
          <p:nvPr/>
        </p:nvSpPr>
        <p:spPr>
          <a:xfrm rot="0">
            <a:off x="3048085" y="3638917"/>
            <a:ext cx="13142970" cy="4648200"/>
          </a:xfrm>
          <a:prstGeom prst="rect">
            <a:avLst/>
          </a:prstGeom>
        </p:spPr>
        <p:txBody>
          <a:bodyPr anchor="t" rtlCol="false" tIns="0" lIns="0" bIns="0" rIns="0">
            <a:spAutoFit/>
          </a:bodyPr>
          <a:lstStyle/>
          <a:p>
            <a:pPr algn="l" marL="0" indent="0" lvl="0">
              <a:lnSpc>
                <a:spcPts val="4500"/>
              </a:lnSpc>
              <a:spcBef>
                <a:spcPct val="0"/>
              </a:spcBef>
            </a:pPr>
            <a:r>
              <a:rPr lang="en-US" sz="3750" strike="noStrike" u="none">
                <a:solidFill>
                  <a:srgbClr val="FFFFFF"/>
                </a:solidFill>
                <a:latin typeface="Calibri (MS)"/>
                <a:ea typeface="Calibri (MS)"/>
                <a:cs typeface="Calibri (MS)"/>
                <a:sym typeface="Calibri (MS)"/>
              </a:rPr>
              <a:t>Through this Smart City project, we built a robust system to continuously monitor traffic and environmental conditions. With the data engineering pipelines we implemented, we are able to alert citizens about crowded areas, notify authorities of hazardous pollution levels, and help protect public health. The system also supports better decision-making, improves urban management efficiency, and enhances safety across the city.</a:t>
            </a:r>
          </a:p>
          <a:p>
            <a:pPr algn="l" marL="0" indent="0" lvl="0">
              <a:lnSpc>
                <a:spcPts val="4500"/>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1F497D"/>
        </a:solidFill>
      </p:bgPr>
    </p:bg>
    <p:spTree>
      <p:nvGrpSpPr>
        <p:cNvPr id="1" name=""/>
        <p:cNvGrpSpPr/>
        <p:nvPr/>
      </p:nvGrpSpPr>
      <p:grpSpPr>
        <a:xfrm>
          <a:off x="0" y="0"/>
          <a:ext cx="0" cy="0"/>
          <a:chOff x="0" y="0"/>
          <a:chExt cx="0" cy="0"/>
        </a:xfrm>
      </p:grpSpPr>
      <p:grpSp>
        <p:nvGrpSpPr>
          <p:cNvPr name="Group 2" id="2"/>
          <p:cNvGrpSpPr/>
          <p:nvPr/>
        </p:nvGrpSpPr>
        <p:grpSpPr>
          <a:xfrm rot="0">
            <a:off x="4619981" y="3862243"/>
            <a:ext cx="8322370" cy="1757302"/>
            <a:chOff x="0" y="0"/>
            <a:chExt cx="11096493" cy="2343069"/>
          </a:xfrm>
        </p:grpSpPr>
        <p:sp>
          <p:nvSpPr>
            <p:cNvPr name="Freeform 3" id="3"/>
            <p:cNvSpPr/>
            <p:nvPr/>
          </p:nvSpPr>
          <p:spPr>
            <a:xfrm flipH="false" flipV="false" rot="0">
              <a:off x="0" y="0"/>
              <a:ext cx="11096493" cy="2343069"/>
            </a:xfrm>
            <a:custGeom>
              <a:avLst/>
              <a:gdLst/>
              <a:ahLst/>
              <a:cxnLst/>
              <a:rect r="r" b="b" t="t" l="l"/>
              <a:pathLst>
                <a:path h="2343069" w="11096493">
                  <a:moveTo>
                    <a:pt x="0" y="0"/>
                  </a:moveTo>
                  <a:lnTo>
                    <a:pt x="11096493" y="0"/>
                  </a:lnTo>
                  <a:lnTo>
                    <a:pt x="11096493" y="2343069"/>
                  </a:lnTo>
                  <a:lnTo>
                    <a:pt x="0" y="2343069"/>
                  </a:lnTo>
                  <a:close/>
                </a:path>
              </a:pathLst>
            </a:custGeom>
            <a:solidFill>
              <a:srgbClr val="000000">
                <a:alpha val="0"/>
              </a:srgbClr>
            </a:solidFill>
          </p:spPr>
        </p:sp>
        <p:sp>
          <p:nvSpPr>
            <p:cNvPr name="TextBox 4" id="4"/>
            <p:cNvSpPr txBox="true"/>
            <p:nvPr/>
          </p:nvSpPr>
          <p:spPr>
            <a:xfrm>
              <a:off x="0" y="-171450"/>
              <a:ext cx="11096493" cy="2514519"/>
            </a:xfrm>
            <a:prstGeom prst="rect">
              <a:avLst/>
            </a:prstGeom>
          </p:spPr>
          <p:txBody>
            <a:bodyPr anchor="ctr" rtlCol="false" tIns="0" lIns="0" bIns="0" rIns="0"/>
            <a:lstStyle/>
            <a:p>
              <a:pPr algn="ctr">
                <a:lnSpc>
                  <a:spcPts val="9718"/>
                </a:lnSpc>
              </a:pPr>
              <a:r>
                <a:rPr lang="en-US" sz="8098" b="true">
                  <a:solidFill>
                    <a:srgbClr val="FFFFFF"/>
                  </a:solidFill>
                  <a:latin typeface="Calibri (MS) Bold"/>
                  <a:ea typeface="Calibri (MS) Bold"/>
                  <a:cs typeface="Calibri (MS) Bold"/>
                  <a:sym typeface="Calibri (MS) Bold"/>
                </a:rPr>
                <a:t>Q&amp;A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DAG6KgcitTc</dc:identifier>
  <dcterms:modified xsi:type="dcterms:W3CDTF">2011-08-01T06:04:30Z</dcterms:modified>
  <cp:revision>1</cp:revision>
  <dc:title>DEPI Grad.pptx</dc:title>
</cp:coreProperties>
</file>